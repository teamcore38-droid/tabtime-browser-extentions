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fac4794c654df9" /><Relationship Type="http://schemas.openxmlformats.org/officeDocument/2006/relationships/extended-properties" Target="/docProps/app.xml" Id="Rd676cab645e14b2d" /><Relationship Type="http://schemas.openxmlformats.org/officeDocument/2006/relationships/officeDocument" Target="/ppt/presentation.xml" Id="R6fb174dbfa3d4869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3d19519d859a41c0"/>
  </p:sldMasterIdLst>
  <p:notesMasterIdLst>
    <p:notesMasterId xmlns:r="http://schemas.openxmlformats.org/officeDocument/2006/relationships" r:id="Rd8b722b2ff654965"/>
  </p:notesMasterIdLst>
  <p:sldIdLst>
    <p:sldId xmlns:r="http://schemas.openxmlformats.org/officeDocument/2006/relationships" id="256" r:id="Rbffef364ead548a5"/>
    <p:sldId xmlns:r="http://schemas.openxmlformats.org/officeDocument/2006/relationships" id="257" r:id="R3b7bed27dae24714"/>
    <p:sldId xmlns:r="http://schemas.openxmlformats.org/officeDocument/2006/relationships" id="258" r:id="R78cb5f327ef74da3"/>
    <p:sldId xmlns:r="http://schemas.openxmlformats.org/officeDocument/2006/relationships" id="259" r:id="R6961cac9a34e4e3d"/>
    <p:sldId xmlns:r="http://schemas.openxmlformats.org/officeDocument/2006/relationships" id="260" r:id="Rf072773dd2304d1b"/>
    <p:sldId xmlns:r="http://schemas.openxmlformats.org/officeDocument/2006/relationships" id="261" r:id="R3259bd14cd35450a"/>
    <p:sldId xmlns:r="http://schemas.openxmlformats.org/officeDocument/2006/relationships" id="262" r:id="R33221a2b2b2d41d1"/>
    <p:sldId xmlns:r="http://schemas.openxmlformats.org/officeDocument/2006/relationships" id="263" r:id="R593dc32693994898"/>
    <p:sldId xmlns:r="http://schemas.openxmlformats.org/officeDocument/2006/relationships" id="264" r:id="Rb40d89b050ab4d3b"/>
    <p:sldId xmlns:r="http://schemas.openxmlformats.org/officeDocument/2006/relationships" id="265" r:id="Rde87098d4a214d4f"/>
    <p:sldId xmlns:r="http://schemas.openxmlformats.org/officeDocument/2006/relationships" id="266" r:id="R7bed8821492a4f03"/>
    <p:sldId xmlns:r="http://schemas.openxmlformats.org/officeDocument/2006/relationships" id="267" r:id="Reb4b17800c594af2"/>
    <p:sldId xmlns:r="http://schemas.openxmlformats.org/officeDocument/2006/relationships" id="268" r:id="R846912ded8b8409c"/>
    <p:sldId xmlns:r="http://schemas.openxmlformats.org/officeDocument/2006/relationships" id="269" r:id="Rd3c8cc28e6c24ef4"/>
    <p:sldId xmlns:r="http://schemas.openxmlformats.org/officeDocument/2006/relationships" id="270" r:id="R4b0e843523284be6"/>
    <p:sldId xmlns:r="http://schemas.openxmlformats.org/officeDocument/2006/relationships" id="271" r:id="R1f3aea7c7b2c40b0"/>
    <p:sldId xmlns:r="http://schemas.openxmlformats.org/officeDocument/2006/relationships" id="272" r:id="R409d3b1f7fb44b78"/>
    <p:sldId xmlns:r="http://schemas.openxmlformats.org/officeDocument/2006/relationships" id="273" r:id="Ra1d1042670624b3f"/>
    <p:sldId xmlns:r="http://schemas.openxmlformats.org/officeDocument/2006/relationships" id="274" r:id="R25a4916c6f544caf"/>
    <p:sldId xmlns:r="http://schemas.openxmlformats.org/officeDocument/2006/relationships" id="275" r:id="R454ee0713c2d456a"/>
    <p:sldId xmlns:r="http://schemas.openxmlformats.org/officeDocument/2006/relationships" id="276" r:id="Ra3f62b614b4f4e20"/>
  </p:sldIdLst>
  <p:sldSz cx="12192000" cy="6858000"/>
  <p:notesSz cx="6858000" cy="9144000"/>
  <p:embeddedFontLst>
    <p:embeddedFont>
      <p:font typeface="Quattrocento Sans"/>
      <p:regular xmlns:r="http://schemas.openxmlformats.org/officeDocument/2006/relationships" r:id="R12954a88e7bf4d6b"/>
      <p:bold xmlns:r="http://schemas.openxmlformats.org/officeDocument/2006/relationships" r:id="Rdcbc8680fda44261"/>
      <p:italic xmlns:r="http://schemas.openxmlformats.org/officeDocument/2006/relationships" r:id="Ra23daca51fbd45ca"/>
      <p:boldItalic xmlns:r="http://schemas.openxmlformats.org/officeDocument/2006/relationships" r:id="Ra900a2d846de4919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C59FCF2E-CEB8-4974-A3D4-2AC20FA7DA0E}">
  <a:tblStyle styleId="{C59FCF2E-CEB8-4974-A3D4-2AC20FA7DA0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624C1415-A2C4-47E8-B1D3-24CC03D68F18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b947d44e7f43da" /><Relationship Type="http://schemas.openxmlformats.org/officeDocument/2006/relationships/slideMaster" Target="/ppt/slideMasters/slideMaster1.xml" Id="R3d19519d859a41c0" /><Relationship Type="http://schemas.openxmlformats.org/officeDocument/2006/relationships/notesMaster" Target="/ppt/notesMasters/notesMaster1.xml" Id="Rd8b722b2ff654965" /><Relationship Type="http://schemas.openxmlformats.org/officeDocument/2006/relationships/presProps" Target="/ppt/presProps.xml" Id="Rd9ef5e1f63c145c3" /><Relationship Type="http://schemas.openxmlformats.org/officeDocument/2006/relationships/tableStyles" Target="/ppt/tableStyles.xml" Id="Refd81b6dcf3042b3" /><Relationship Type="http://schemas.openxmlformats.org/officeDocument/2006/relationships/font" Target="/ppt/fonts/font.dat" Id="R12954a88e7bf4d6b" /><Relationship Type="http://schemas.openxmlformats.org/officeDocument/2006/relationships/font" Target="/ppt/fonts/font2.dat" Id="Rdcbc8680fda44261" /><Relationship Type="http://schemas.openxmlformats.org/officeDocument/2006/relationships/font" Target="/ppt/fonts/font3.dat" Id="Ra23daca51fbd45ca" /><Relationship Type="http://schemas.openxmlformats.org/officeDocument/2006/relationships/font" Target="/ppt/fonts/font4.dat" Id="Ra900a2d846de4919" /><Relationship Type="http://schemas.openxmlformats.org/officeDocument/2006/relationships/slide" Target="/ppt/slides/slide1.xml" Id="Rbffef364ead548a5" /><Relationship Type="http://schemas.openxmlformats.org/officeDocument/2006/relationships/slide" Target="/ppt/slides/slide2.xml" Id="R3b7bed27dae24714" /><Relationship Type="http://schemas.openxmlformats.org/officeDocument/2006/relationships/slide" Target="/ppt/slides/slide3.xml" Id="R78cb5f327ef74da3" /><Relationship Type="http://schemas.openxmlformats.org/officeDocument/2006/relationships/slide" Target="/ppt/slides/slide4.xml" Id="R6961cac9a34e4e3d" /><Relationship Type="http://schemas.openxmlformats.org/officeDocument/2006/relationships/slide" Target="/ppt/slides/slide5.xml" Id="Rf072773dd2304d1b" /><Relationship Type="http://schemas.openxmlformats.org/officeDocument/2006/relationships/slide" Target="/ppt/slides/slide6.xml" Id="R3259bd14cd35450a" /><Relationship Type="http://schemas.openxmlformats.org/officeDocument/2006/relationships/slide" Target="/ppt/slides/slide7.xml" Id="R33221a2b2b2d41d1" /><Relationship Type="http://schemas.openxmlformats.org/officeDocument/2006/relationships/slide" Target="/ppt/slides/slide8.xml" Id="R593dc32693994898" /><Relationship Type="http://schemas.openxmlformats.org/officeDocument/2006/relationships/slide" Target="/ppt/slides/slide9.xml" Id="Rb40d89b050ab4d3b" /><Relationship Type="http://schemas.openxmlformats.org/officeDocument/2006/relationships/slide" Target="/ppt/slides/slide10.xml" Id="Rde87098d4a214d4f" /><Relationship Type="http://schemas.openxmlformats.org/officeDocument/2006/relationships/slide" Target="/ppt/slides/slide11.xml" Id="R7bed8821492a4f03" /><Relationship Type="http://schemas.openxmlformats.org/officeDocument/2006/relationships/slide" Target="/ppt/slides/slide12.xml" Id="Reb4b17800c594af2" /><Relationship Type="http://schemas.openxmlformats.org/officeDocument/2006/relationships/slide" Target="/ppt/slides/slide13.xml" Id="R846912ded8b8409c" /><Relationship Type="http://schemas.openxmlformats.org/officeDocument/2006/relationships/slide" Target="/ppt/slides/slide14.xml" Id="Rd3c8cc28e6c24ef4" /><Relationship Type="http://schemas.openxmlformats.org/officeDocument/2006/relationships/slide" Target="/ppt/slides/slide15.xml" Id="R4b0e843523284be6" /><Relationship Type="http://schemas.openxmlformats.org/officeDocument/2006/relationships/slide" Target="/ppt/slides/slide16.xml" Id="R1f3aea7c7b2c40b0" /><Relationship Type="http://schemas.openxmlformats.org/officeDocument/2006/relationships/slide" Target="/ppt/slides/slide17.xml" Id="R409d3b1f7fb44b78" /><Relationship Type="http://schemas.openxmlformats.org/officeDocument/2006/relationships/slide" Target="/ppt/slides/slide18.xml" Id="Ra1d1042670624b3f" /><Relationship Type="http://schemas.openxmlformats.org/officeDocument/2006/relationships/slide" Target="/ppt/slides/slide19.xml" Id="R25a4916c6f544caf" /><Relationship Type="http://schemas.openxmlformats.org/officeDocument/2006/relationships/slide" Target="/ppt/slides/slide20.xml" Id="R454ee0713c2d456a" /><Relationship Type="http://schemas.openxmlformats.org/officeDocument/2006/relationships/slide" Target="/ppt/slides/slide21.xml" Id="Ra3f62b614b4f4e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e4890eef6641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3c3fc636c246e7" /><Relationship Type="http://schemas.openxmlformats.org/officeDocument/2006/relationships/notesMaster" Target="/ppt/notesMasters/notesMaster1.xml" Id="Ra6823138c7b443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2e0b4455674c66" /><Relationship Type="http://schemas.openxmlformats.org/officeDocument/2006/relationships/notesMaster" Target="/ppt/notesMasters/notesMaster1.xml" Id="R5bf6e6af17904d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a02cb25a5047ae" /><Relationship Type="http://schemas.openxmlformats.org/officeDocument/2006/relationships/notesMaster" Target="/ppt/notesMasters/notesMaster1.xml" Id="Ra0e779df52cb40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247cec40f044b8" /><Relationship Type="http://schemas.openxmlformats.org/officeDocument/2006/relationships/notesMaster" Target="/ppt/notesMasters/notesMaster1.xml" Id="R84e5ebe5fdb0409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369b6982684c4f" /><Relationship Type="http://schemas.openxmlformats.org/officeDocument/2006/relationships/notesMaster" Target="/ppt/notesMasters/notesMaster1.xml" Id="Rd9df4052278441f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22c90fdf80427e" /><Relationship Type="http://schemas.openxmlformats.org/officeDocument/2006/relationships/notesMaster" Target="/ppt/notesMasters/notesMaster1.xml" Id="R28b5282d133d40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553fdd71fb4107" /><Relationship Type="http://schemas.openxmlformats.org/officeDocument/2006/relationships/notesMaster" Target="/ppt/notesMasters/notesMaster1.xml" Id="Rfd0a068486194ae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eb4f154416a4041" /><Relationship Type="http://schemas.openxmlformats.org/officeDocument/2006/relationships/notesMaster" Target="/ppt/notesMasters/notesMaster1.xml" Id="R2fe4e943c8d3484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27d45a1042a43d6" /><Relationship Type="http://schemas.openxmlformats.org/officeDocument/2006/relationships/notesMaster" Target="/ppt/notesMasters/notesMaster1.xml" Id="R890cb0a56fc142a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e44d6abfb584ed8" /><Relationship Type="http://schemas.openxmlformats.org/officeDocument/2006/relationships/notesMaster" Target="/ppt/notesMasters/notesMaster1.xml" Id="Rb7e7a73c8d31446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ebf54d5db0c47da" /><Relationship Type="http://schemas.openxmlformats.org/officeDocument/2006/relationships/notesMaster" Target="/ppt/notesMasters/notesMaster1.xml" Id="R5e2c47865e144b9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b18ed09e2d64582" /><Relationship Type="http://schemas.openxmlformats.org/officeDocument/2006/relationships/notesMaster" Target="/ppt/notesMasters/notesMaster1.xml" Id="R51479d799f8045b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e6e30b26f3242d2" /><Relationship Type="http://schemas.openxmlformats.org/officeDocument/2006/relationships/notesMaster" Target="/ppt/notesMasters/notesMaster1.xml" Id="R7116de4e339945b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a7fdbf482054e0a" /><Relationship Type="http://schemas.openxmlformats.org/officeDocument/2006/relationships/notesMaster" Target="/ppt/notesMasters/notesMaster1.xml" Id="R95ade07473f2451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3ad6a6af7e74702" /><Relationship Type="http://schemas.openxmlformats.org/officeDocument/2006/relationships/notesMaster" Target="/ppt/notesMasters/notesMaster1.xml" Id="Rd830eb1a4799464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97709f05f114903" /><Relationship Type="http://schemas.openxmlformats.org/officeDocument/2006/relationships/notesMaster" Target="/ppt/notesMasters/notesMaster1.xml" Id="R577e006033eb4f8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63f8bdfa9064213" /><Relationship Type="http://schemas.openxmlformats.org/officeDocument/2006/relationships/notesMaster" Target="/ppt/notesMasters/notesMaster1.xml" Id="R3cb161f74055457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89572ef3f034d08" /><Relationship Type="http://schemas.openxmlformats.org/officeDocument/2006/relationships/notesMaster" Target="/ppt/notesMasters/notesMaster1.xml" Id="R7d82564db1114b9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7429d0be1a24a28" /><Relationship Type="http://schemas.openxmlformats.org/officeDocument/2006/relationships/notesMaster" Target="/ppt/notesMasters/notesMaster1.xml" Id="R62031c0251f84f5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879d9f404ee4412" /><Relationship Type="http://schemas.openxmlformats.org/officeDocument/2006/relationships/notesMaster" Target="/ppt/notesMasters/notesMaster1.xml" Id="R6742b05174ea442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991e8a1d4e94b23" /><Relationship Type="http://schemas.openxmlformats.org/officeDocument/2006/relationships/notesMaster" Target="/ppt/notesMasters/notesMaster1.xml" Id="Rd4e297e883654a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1d0fcb92f3414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ce65cbae1c46e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7c2fe834c94d9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29e7f0506d44b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1517df212b429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4c70fa1cf74b0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d95acb5b4242c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3265e0e1e4467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0365c4e8284b8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0462e3c7b244f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c2cd681757465a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 Shape;12;p22">
            <a:extLst xmlns:a="http://schemas.openxmlformats.org/drawingml/2006/main">
              <a:ext uri="{FF2B5EF4-FFF2-40B4-BE49-F238E27FC236}">
                <a16:creationId xmlns:a16="http://schemas.microsoft.com/office/drawing/2014/main" id="{AEC8AC25-1576-4305-B694-00513D6984B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Google Shape;13;p22">
            <a:extLst xmlns:a="http://schemas.openxmlformats.org/drawingml/2006/main">
              <a:ext uri="{FF2B5EF4-FFF2-40B4-BE49-F238E27FC236}">
                <a16:creationId xmlns:a16="http://schemas.microsoft.com/office/drawing/2014/main" id="{81F82176-3FF7-404B-B97D-DA24CD3BEFD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14" name="Google Shape;14;p22">
            <a:extLst xmlns:a="http://schemas.openxmlformats.org/drawingml/2006/main">
              <a:ext uri="{FF2B5EF4-FFF2-40B4-BE49-F238E27FC236}">
                <a16:creationId xmlns:a16="http://schemas.microsoft.com/office/drawing/2014/main" id="{39F52491-8883-411F-BF71-138EB07D98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Google Shape;15;p22">
            <a:extLst xmlns:a="http://schemas.openxmlformats.org/drawingml/2006/main">
              <a:ext uri="{FF2B5EF4-FFF2-40B4-BE49-F238E27FC236}">
                <a16:creationId xmlns:a16="http://schemas.microsoft.com/office/drawing/2014/main" id="{E8E068A9-8391-4606-A8F1-71A6EFE1A7F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Google Shape;16;p22">
            <a:extLst xmlns:a="http://schemas.openxmlformats.org/drawingml/2006/main">
              <a:ext uri="{FF2B5EF4-FFF2-40B4-BE49-F238E27FC236}">
                <a16:creationId xmlns:a16="http://schemas.microsoft.com/office/drawing/2014/main" id="{1D288EE2-AC36-4F8F-B277-BC286B5AE4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Title and Content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oogle Shape;18;p23">
            <a:extLst xmlns:a="http://schemas.openxmlformats.org/drawingml/2006/main">
              <a:ext uri="{FF2B5EF4-FFF2-40B4-BE49-F238E27FC236}">
                <a16:creationId xmlns:a16="http://schemas.microsoft.com/office/drawing/2014/main" id="{7798CA86-91B6-42A9-A65F-B2252A8BC5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Google Shape;19;p23">
            <a:extLst xmlns:a="http://schemas.openxmlformats.org/drawingml/2006/main">
              <a:ext uri="{FF2B5EF4-FFF2-40B4-BE49-F238E27FC236}">
                <a16:creationId xmlns:a16="http://schemas.microsoft.com/office/drawing/2014/main" id="{B385BBE4-889E-4800-8338-51AE5C1505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Google Shape;20;p23">
            <a:extLst xmlns:a="http://schemas.openxmlformats.org/drawingml/2006/main">
              <a:ext uri="{FF2B5EF4-FFF2-40B4-BE49-F238E27FC236}">
                <a16:creationId xmlns:a16="http://schemas.microsoft.com/office/drawing/2014/main" id="{FF7CC1CA-5349-4726-B584-2741F5B661E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Google Shape;21;p23">
            <a:extLst xmlns:a="http://schemas.openxmlformats.org/drawingml/2006/main">
              <a:ext uri="{FF2B5EF4-FFF2-40B4-BE49-F238E27FC236}">
                <a16:creationId xmlns:a16="http://schemas.microsoft.com/office/drawing/2014/main" id="{57DFF614-8D6C-453B-AB2E-4AFD824961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23">
            <a:extLst xmlns:a="http://schemas.openxmlformats.org/drawingml/2006/main">
              <a:ext uri="{FF2B5EF4-FFF2-40B4-BE49-F238E27FC236}">
                <a16:creationId xmlns:a16="http://schemas.microsoft.com/office/drawing/2014/main" id="{EB445FAA-A3B3-4C52-BFA2-92CD34467B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Google Shape;24;p24">
            <a:extLst xmlns:a="http://schemas.openxmlformats.org/drawingml/2006/main">
              <a:ext uri="{FF2B5EF4-FFF2-40B4-BE49-F238E27FC236}">
                <a16:creationId xmlns:a16="http://schemas.microsoft.com/office/drawing/2014/main" id="{5C785A15-3F2E-4875-9BC7-A05ECDAECE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Google Shape;25;p24">
            <a:extLst xmlns:a="http://schemas.openxmlformats.org/drawingml/2006/main">
              <a:ext uri="{FF2B5EF4-FFF2-40B4-BE49-F238E27FC236}">
                <a16:creationId xmlns:a16="http://schemas.microsoft.com/office/drawing/2014/main" id="{8FB8871C-EC57-45B0-9C3D-59FBB256A9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Google Shape;26;p24">
            <a:extLst xmlns:a="http://schemas.openxmlformats.org/drawingml/2006/main">
              <a:ext uri="{FF2B5EF4-FFF2-40B4-BE49-F238E27FC236}">
                <a16:creationId xmlns:a16="http://schemas.microsoft.com/office/drawing/2014/main" id="{7E41A229-FB1B-47D0-A438-96CE9257CB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24">
            <a:extLst xmlns:a="http://schemas.openxmlformats.org/drawingml/2006/main">
              <a:ext uri="{FF2B5EF4-FFF2-40B4-BE49-F238E27FC236}">
                <a16:creationId xmlns:a16="http://schemas.microsoft.com/office/drawing/2014/main" id="{5B739C9B-8C47-4277-AEA4-FD4E397C8DA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Google Shape;28;p24">
            <a:extLst xmlns:a="http://schemas.openxmlformats.org/drawingml/2006/main">
              <a:ext uri="{FF2B5EF4-FFF2-40B4-BE49-F238E27FC236}">
                <a16:creationId xmlns:a16="http://schemas.microsoft.com/office/drawing/2014/main" id="{F65B653F-F9E4-4C8D-B190-01AEC82F3F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wo Content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Google Shape;30;p25">
            <a:extLst xmlns:a="http://schemas.openxmlformats.org/drawingml/2006/main">
              <a:ext uri="{FF2B5EF4-FFF2-40B4-BE49-F238E27FC236}">
                <a16:creationId xmlns:a16="http://schemas.microsoft.com/office/drawing/2014/main" id="{8F443C15-CF4C-41F4-8674-B042C55B85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Google Shape;31;p25">
            <a:extLst xmlns:a="http://schemas.openxmlformats.org/drawingml/2006/main">
              <a:ext uri="{FF2B5EF4-FFF2-40B4-BE49-F238E27FC236}">
                <a16:creationId xmlns:a16="http://schemas.microsoft.com/office/drawing/2014/main" id="{C529CD84-CF38-4627-B3E8-4ABC3A2056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Google Shape;32;p25">
            <a:extLst xmlns:a="http://schemas.openxmlformats.org/drawingml/2006/main">
              <a:ext uri="{FF2B5EF4-FFF2-40B4-BE49-F238E27FC236}">
                <a16:creationId xmlns:a16="http://schemas.microsoft.com/office/drawing/2014/main" id="{C8274282-AF65-4285-BDF4-452F98500CF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Google Shape;33;p25">
            <a:extLst xmlns:a="http://schemas.openxmlformats.org/drawingml/2006/main">
              <a:ext uri="{FF2B5EF4-FFF2-40B4-BE49-F238E27FC236}">
                <a16:creationId xmlns:a16="http://schemas.microsoft.com/office/drawing/2014/main" id="{562CF3CE-C1DA-470F-ACFF-E420CD162F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Google Shape;34;p25">
            <a:extLst xmlns:a="http://schemas.openxmlformats.org/drawingml/2006/main">
              <a:ext uri="{FF2B5EF4-FFF2-40B4-BE49-F238E27FC236}">
                <a16:creationId xmlns:a16="http://schemas.microsoft.com/office/drawing/2014/main" id="{B2C7753F-0864-4A23-83B3-FCF5964B15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Google Shape;35;p25">
            <a:extLst xmlns:a="http://schemas.openxmlformats.org/drawingml/2006/main">
              <a:ext uri="{FF2B5EF4-FFF2-40B4-BE49-F238E27FC236}">
                <a16:creationId xmlns:a16="http://schemas.microsoft.com/office/drawing/2014/main" id="{9B0F906E-162C-40BD-AFB3-BDE8AC3477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Comparison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Google Shape;37;p26">
            <a:extLst xmlns:a="http://schemas.openxmlformats.org/drawingml/2006/main">
              <a:ext uri="{FF2B5EF4-FFF2-40B4-BE49-F238E27FC236}">
                <a16:creationId xmlns:a16="http://schemas.microsoft.com/office/drawing/2014/main" id="{819E0F92-158D-4096-B74E-9BC60C8F52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Google Shape;38;p26">
            <a:extLst xmlns:a="http://schemas.openxmlformats.org/drawingml/2006/main">
              <a:ext uri="{FF2B5EF4-FFF2-40B4-BE49-F238E27FC236}">
                <a16:creationId xmlns:a16="http://schemas.microsoft.com/office/drawing/2014/main" id="{95CD50C0-FC0F-4BE8-9070-73E1B34FF1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39" name="Google Shape;39;p26">
            <a:extLst xmlns:a="http://schemas.openxmlformats.org/drawingml/2006/main">
              <a:ext uri="{FF2B5EF4-FFF2-40B4-BE49-F238E27FC236}">
                <a16:creationId xmlns:a16="http://schemas.microsoft.com/office/drawing/2014/main" id="{ACC10383-69D5-414F-8DFE-D7CA3E21DDD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505075"/>
            <a:ext cx="5157787" cy="3684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Google Shape;40;p26">
            <a:extLst xmlns:a="http://schemas.openxmlformats.org/drawingml/2006/main">
              <a:ext uri="{FF2B5EF4-FFF2-40B4-BE49-F238E27FC236}">
                <a16:creationId xmlns:a16="http://schemas.microsoft.com/office/drawing/2014/main" id="{6E4AE79E-B5E5-4FE6-9A56-0B152E81B5F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1" name="Google Shape;41;p26">
            <a:extLst xmlns:a="http://schemas.openxmlformats.org/drawingml/2006/main">
              <a:ext uri="{FF2B5EF4-FFF2-40B4-BE49-F238E27FC236}">
                <a16:creationId xmlns:a16="http://schemas.microsoft.com/office/drawing/2014/main" id="{BA4D73ED-3F01-4E0F-B8B6-059349FBC730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172200" y="2505075"/>
            <a:ext cx="5183188" cy="3684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Google Shape;42;p26">
            <a:extLst xmlns:a="http://schemas.openxmlformats.org/drawingml/2006/main">
              <a:ext uri="{FF2B5EF4-FFF2-40B4-BE49-F238E27FC236}">
                <a16:creationId xmlns:a16="http://schemas.microsoft.com/office/drawing/2014/main" id="{DFD3D3DF-25B8-425C-8672-3D1625495F8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Google Shape;43;p26">
            <a:extLst xmlns:a="http://schemas.openxmlformats.org/drawingml/2006/main">
              <a:ext uri="{FF2B5EF4-FFF2-40B4-BE49-F238E27FC236}">
                <a16:creationId xmlns:a16="http://schemas.microsoft.com/office/drawing/2014/main" id="{4AECC967-87F0-4E97-AACB-03BDCB931CB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Google Shape;44;p26">
            <a:extLst xmlns:a="http://schemas.openxmlformats.org/drawingml/2006/main">
              <a:ext uri="{FF2B5EF4-FFF2-40B4-BE49-F238E27FC236}">
                <a16:creationId xmlns:a16="http://schemas.microsoft.com/office/drawing/2014/main" id="{0F927B08-461D-4591-A87E-53149F05D9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Google Shape;46;p27">
            <a:extLst xmlns:a="http://schemas.openxmlformats.org/drawingml/2006/main">
              <a:ext uri="{FF2B5EF4-FFF2-40B4-BE49-F238E27FC236}">
                <a16:creationId xmlns:a16="http://schemas.microsoft.com/office/drawing/2014/main" id="{E387817C-1C12-4E92-BDE9-F83A94AE01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Google Shape;47;p27">
            <a:extLst xmlns:a="http://schemas.openxmlformats.org/drawingml/2006/main">
              <a:ext uri="{FF2B5EF4-FFF2-40B4-BE49-F238E27FC236}">
                <a16:creationId xmlns:a16="http://schemas.microsoft.com/office/drawing/2014/main" id="{591D6267-3716-4368-AEC5-9E6AC6436F2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Google Shape;48;p27">
            <a:extLst xmlns:a="http://schemas.openxmlformats.org/drawingml/2006/main">
              <a:ext uri="{FF2B5EF4-FFF2-40B4-BE49-F238E27FC236}">
                <a16:creationId xmlns:a16="http://schemas.microsoft.com/office/drawing/2014/main" id="{B9C101CC-D3A4-45C6-A709-BD90E8584C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Google Shape;49;p27">
            <a:extLst xmlns:a="http://schemas.openxmlformats.org/drawingml/2006/main">
              <a:ext uri="{FF2B5EF4-FFF2-40B4-BE49-F238E27FC236}">
                <a16:creationId xmlns:a16="http://schemas.microsoft.com/office/drawing/2014/main" id="{6A846DCE-E1E7-4B28-A13A-1AE94E7EAB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Google Shape;51;p28">
            <a:extLst xmlns:a="http://schemas.openxmlformats.org/drawingml/2006/main">
              <a:ext uri="{FF2B5EF4-FFF2-40B4-BE49-F238E27FC236}">
                <a16:creationId xmlns:a16="http://schemas.microsoft.com/office/drawing/2014/main" id="{B655B617-983A-4F73-BDC3-7AAA30939E7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Google Shape;52;p28">
            <a:extLst xmlns:a="http://schemas.openxmlformats.org/drawingml/2006/main">
              <a:ext uri="{FF2B5EF4-FFF2-40B4-BE49-F238E27FC236}">
                <a16:creationId xmlns:a16="http://schemas.microsoft.com/office/drawing/2014/main" id="{AF2A939A-4051-4901-A00E-FED200E304B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Google Shape;53;p28">
            <a:extLst xmlns:a="http://schemas.openxmlformats.org/drawingml/2006/main">
              <a:ext uri="{FF2B5EF4-FFF2-40B4-BE49-F238E27FC236}">
                <a16:creationId xmlns:a16="http://schemas.microsoft.com/office/drawing/2014/main" id="{F06E9A06-4A84-4AAA-B26B-A544C43A15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Content with Caption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Google Shape;55;p29">
            <a:extLst xmlns:a="http://schemas.openxmlformats.org/drawingml/2006/main">
              <a:ext uri="{FF2B5EF4-FFF2-40B4-BE49-F238E27FC236}">
                <a16:creationId xmlns:a16="http://schemas.microsoft.com/office/drawing/2014/main" id="{85C3D10F-E8D0-4366-BFAC-5475CA1B33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Google Shape;56;p29">
            <a:extLst xmlns:a="http://schemas.openxmlformats.org/drawingml/2006/main">
              <a:ext uri="{FF2B5EF4-FFF2-40B4-BE49-F238E27FC236}">
                <a16:creationId xmlns:a16="http://schemas.microsoft.com/office/drawing/2014/main" id="{85DFD803-2D17-46D0-B97F-B1A5D2A941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 xmlns:a="http://schemas.openxmlformats.org/drawingml/2006/main"/>
        </p:txBody>
      </p:sp>
      <p:sp>
        <p:nvSpPr>
          <p:cNvPr id="57" name="Google Shape;57;p29">
            <a:extLst xmlns:a="http://schemas.openxmlformats.org/drawingml/2006/main">
              <a:ext uri="{FF2B5EF4-FFF2-40B4-BE49-F238E27FC236}">
                <a16:creationId xmlns:a16="http://schemas.microsoft.com/office/drawing/2014/main" id="{77B2A9E8-77B7-4EA1-A5A6-A49E139CC41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8" name="Google Shape;58;p29">
            <a:extLst xmlns:a="http://schemas.openxmlformats.org/drawingml/2006/main">
              <a:ext uri="{FF2B5EF4-FFF2-40B4-BE49-F238E27FC236}">
                <a16:creationId xmlns:a16="http://schemas.microsoft.com/office/drawing/2014/main" id="{20B011F7-BD8A-49B3-8F2C-F35023C780F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Google Shape;59;p29">
            <a:extLst xmlns:a="http://schemas.openxmlformats.org/drawingml/2006/main">
              <a:ext uri="{FF2B5EF4-FFF2-40B4-BE49-F238E27FC236}">
                <a16:creationId xmlns:a16="http://schemas.microsoft.com/office/drawing/2014/main" id="{A99C7B84-7888-4752-97D2-38DF084FDC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Google Shape;60;p29">
            <a:extLst xmlns:a="http://schemas.openxmlformats.org/drawingml/2006/main">
              <a:ext uri="{FF2B5EF4-FFF2-40B4-BE49-F238E27FC236}">
                <a16:creationId xmlns:a16="http://schemas.microsoft.com/office/drawing/2014/main" id="{BAE1D6DC-8F23-4D21-AD6F-82B754C929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Picture with Caption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Google Shape;62;p30">
            <a:extLst xmlns:a="http://schemas.openxmlformats.org/drawingml/2006/main">
              <a:ext uri="{FF2B5EF4-FFF2-40B4-BE49-F238E27FC236}">
                <a16:creationId xmlns:a16="http://schemas.microsoft.com/office/drawing/2014/main" id="{EE02E842-B609-4610-BFB1-DE52773734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Google Shape;63;p30">
            <a:extLst xmlns:a="http://schemas.openxmlformats.org/drawingml/2006/main">
              <a:ext uri="{FF2B5EF4-FFF2-40B4-BE49-F238E27FC236}">
                <a16:creationId xmlns:a16="http://schemas.microsoft.com/office/drawing/2014/main" id="{2702BE56-58BF-4F01-9181-A17C052606BC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Google Shape;64;p30">
            <a:extLst xmlns:a="http://schemas.openxmlformats.org/drawingml/2006/main">
              <a:ext uri="{FF2B5EF4-FFF2-40B4-BE49-F238E27FC236}">
                <a16:creationId xmlns:a16="http://schemas.microsoft.com/office/drawing/2014/main" id="{6E1A9AC4-773A-4022-8A37-5B731993AD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65" name="Google Shape;65;p30">
            <a:extLst xmlns:a="http://schemas.openxmlformats.org/drawingml/2006/main">
              <a:ext uri="{FF2B5EF4-FFF2-40B4-BE49-F238E27FC236}">
                <a16:creationId xmlns:a16="http://schemas.microsoft.com/office/drawing/2014/main" id="{A44A9B2B-7E3B-4FBF-B96C-176C3F3401E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Google Shape;66;p30">
            <a:extLst xmlns:a="http://schemas.openxmlformats.org/drawingml/2006/main">
              <a:ext uri="{FF2B5EF4-FFF2-40B4-BE49-F238E27FC236}">
                <a16:creationId xmlns:a16="http://schemas.microsoft.com/office/drawing/2014/main" id="{3B5E8A4C-224E-4A24-B091-056A0F347F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Google Shape;67;p30">
            <a:extLst xmlns:a="http://schemas.openxmlformats.org/drawingml/2006/main">
              <a:ext uri="{FF2B5EF4-FFF2-40B4-BE49-F238E27FC236}">
                <a16:creationId xmlns:a16="http://schemas.microsoft.com/office/drawing/2014/main" id="{730D23FE-5AC4-4137-BEF2-08E1CE7746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Google Shape;69;p31">
            <a:extLst xmlns:a="http://schemas.openxmlformats.org/drawingml/2006/main">
              <a:ext uri="{FF2B5EF4-FFF2-40B4-BE49-F238E27FC236}">
                <a16:creationId xmlns:a16="http://schemas.microsoft.com/office/drawing/2014/main" id="{5084EA95-0D1D-48DE-B70B-D3DDE9E844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Google Shape;70;p31">
            <a:extLst xmlns:a="http://schemas.openxmlformats.org/drawingml/2006/main">
              <a:ext uri="{FF2B5EF4-FFF2-40B4-BE49-F238E27FC236}">
                <a16:creationId xmlns:a16="http://schemas.microsoft.com/office/drawing/2014/main" id="{4403A0CD-3A00-47BB-AFC1-B10B3043E5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3920331" y="-1256506"/>
            <a:ext cx="4351338" cy="1051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Google Shape;71;p31">
            <a:extLst xmlns:a="http://schemas.openxmlformats.org/drawingml/2006/main">
              <a:ext uri="{FF2B5EF4-FFF2-40B4-BE49-F238E27FC236}">
                <a16:creationId xmlns:a16="http://schemas.microsoft.com/office/drawing/2014/main" id="{B316D5E5-7DD2-47A7-AAB0-CE1BE611EED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Google Shape;72;p31">
            <a:extLst xmlns:a="http://schemas.openxmlformats.org/drawingml/2006/main">
              <a:ext uri="{FF2B5EF4-FFF2-40B4-BE49-F238E27FC236}">
                <a16:creationId xmlns:a16="http://schemas.microsoft.com/office/drawing/2014/main" id="{2703978F-41BD-4085-9335-1E98B8C6147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Google Shape;73;p31">
            <a:extLst xmlns:a="http://schemas.openxmlformats.org/drawingml/2006/main">
              <a:ext uri="{FF2B5EF4-FFF2-40B4-BE49-F238E27FC236}">
                <a16:creationId xmlns:a16="http://schemas.microsoft.com/office/drawing/2014/main" id="{4E404111-4E24-401F-A990-7D3E2C483A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Vertical Title and Text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Google Shape;75;p32">
            <a:extLst xmlns:a="http://schemas.openxmlformats.org/drawingml/2006/main">
              <a:ext uri="{FF2B5EF4-FFF2-40B4-BE49-F238E27FC236}">
                <a16:creationId xmlns:a16="http://schemas.microsoft.com/office/drawing/2014/main" id="{25F251DD-14F8-4CB8-87DF-C688BDEF22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7133431" y="1956594"/>
            <a:ext cx="5811838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Google Shape;76;p32">
            <a:extLst xmlns:a="http://schemas.openxmlformats.org/drawingml/2006/main">
              <a:ext uri="{FF2B5EF4-FFF2-40B4-BE49-F238E27FC236}">
                <a16:creationId xmlns:a16="http://schemas.microsoft.com/office/drawing/2014/main" id="{9FC40E31-6C6F-4121-96FA-E4EAC25D95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799431" y="-596106"/>
            <a:ext cx="5811838" cy="773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Google Shape;77;p32">
            <a:extLst xmlns:a="http://schemas.openxmlformats.org/drawingml/2006/main">
              <a:ext uri="{FF2B5EF4-FFF2-40B4-BE49-F238E27FC236}">
                <a16:creationId xmlns:a16="http://schemas.microsoft.com/office/drawing/2014/main" id="{ADC5B686-891A-40C9-9A87-27FF23C734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Google Shape;78;p32">
            <a:extLst xmlns:a="http://schemas.openxmlformats.org/drawingml/2006/main">
              <a:ext uri="{FF2B5EF4-FFF2-40B4-BE49-F238E27FC236}">
                <a16:creationId xmlns:a16="http://schemas.microsoft.com/office/drawing/2014/main" id="{6EDC77D3-BABB-4EFE-A5B2-60388C70AC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Google Shape;79;p32">
            <a:extLst xmlns:a="http://schemas.openxmlformats.org/drawingml/2006/main">
              <a:ext uri="{FF2B5EF4-FFF2-40B4-BE49-F238E27FC236}">
                <a16:creationId xmlns:a16="http://schemas.microsoft.com/office/drawing/2014/main" id="{0BA0EDF3-9759-460C-A1B5-B7E3AB4729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77b3ad65a54b72" /><Relationship Type="http://schemas.openxmlformats.org/officeDocument/2006/relationships/slideLayout" Target="/ppt/slideLayouts/slideLayout1.xml" Id="R60d0eea934cf4d6a" /><Relationship Type="http://schemas.openxmlformats.org/officeDocument/2006/relationships/slideLayout" Target="/ppt/slideLayouts/slideLayout2.xml" Id="R6735a1c5b3b34baf" /><Relationship Type="http://schemas.openxmlformats.org/officeDocument/2006/relationships/slideLayout" Target="/ppt/slideLayouts/slideLayout3.xml" Id="R1ce2181e42684a02" /><Relationship Type="http://schemas.openxmlformats.org/officeDocument/2006/relationships/slideLayout" Target="/ppt/slideLayouts/slideLayout4.xml" Id="R92b01b082018457f" /><Relationship Type="http://schemas.openxmlformats.org/officeDocument/2006/relationships/slideLayout" Target="/ppt/slideLayouts/slideLayout5.xml" Id="R11c71cd0c6f844a2" /><Relationship Type="http://schemas.openxmlformats.org/officeDocument/2006/relationships/slideLayout" Target="/ppt/slideLayouts/slideLayout6.xml" Id="Raf0195dc822e4bba" /><Relationship Type="http://schemas.openxmlformats.org/officeDocument/2006/relationships/slideLayout" Target="/ppt/slideLayouts/slideLayout7.xml" Id="R3ad02fe354bc40d2" /><Relationship Type="http://schemas.openxmlformats.org/officeDocument/2006/relationships/slideLayout" Target="/ppt/slideLayouts/slideLayout8.xml" Id="R358fe4637b6947a1" /><Relationship Type="http://schemas.openxmlformats.org/officeDocument/2006/relationships/slideLayout" Target="/ppt/slideLayouts/slideLayout9.xml" Id="R54d84c6c6d004d95" /><Relationship Type="http://schemas.openxmlformats.org/officeDocument/2006/relationships/slideLayout" Target="/ppt/slideLayouts/slideLayout10.xml" Id="Re32cd73db6534a1d" /><Relationship Type="http://schemas.openxmlformats.org/officeDocument/2006/relationships/slideLayout" Target="/ppt/slideLayouts/slideLayout11.xml" Id="Rbde3c009fcec433f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21">
            <a:extLst xmlns:a="http://schemas.openxmlformats.org/drawingml/2006/main">
              <a:ext uri="{FF2B5EF4-FFF2-40B4-BE49-F238E27FC236}">
                <a16:creationId xmlns:a16="http://schemas.microsoft.com/office/drawing/2014/main" id="{9E55FDBA-0A5C-4876-90E2-A5B6809B5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7" name="Google Shape;7;p21">
            <a:extLst xmlns:a="http://schemas.openxmlformats.org/drawingml/2006/main">
              <a:ext uri="{FF2B5EF4-FFF2-40B4-BE49-F238E27FC236}">
                <a16:creationId xmlns:a16="http://schemas.microsoft.com/office/drawing/2014/main" id="{8881D724-BAD7-469B-97D4-492D5E2D59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8" name="Google Shape;8;p21">
            <a:extLst xmlns:a="http://schemas.openxmlformats.org/drawingml/2006/main">
              <a:ext uri="{FF2B5EF4-FFF2-40B4-BE49-F238E27FC236}">
                <a16:creationId xmlns:a16="http://schemas.microsoft.com/office/drawing/2014/main" id="{E09D6F96-6322-40B0-9EF8-E5DD2BCE70C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9" name="Google Shape;9;p21">
            <a:extLst xmlns:a="http://schemas.openxmlformats.org/drawingml/2006/main">
              <a:ext uri="{FF2B5EF4-FFF2-40B4-BE49-F238E27FC236}">
                <a16:creationId xmlns:a16="http://schemas.microsoft.com/office/drawing/2014/main" id="{AE70E402-9D93-467D-924A-FCB5EFA9ED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0" name="Google Shape;10;p21">
            <a:extLst xmlns:a="http://schemas.openxmlformats.org/drawingml/2006/main">
              <a:ext uri="{FF2B5EF4-FFF2-40B4-BE49-F238E27FC236}">
                <a16:creationId xmlns:a16="http://schemas.microsoft.com/office/drawing/2014/main" id="{A9AC3835-2ECD-494F-AE59-2849527CB1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d0eea934cf4d6a"/>
    <p:sldLayoutId xmlns:r="http://schemas.openxmlformats.org/officeDocument/2006/relationships" id="2147483650" r:id="R6735a1c5b3b34baf"/>
    <p:sldLayoutId xmlns:r="http://schemas.openxmlformats.org/officeDocument/2006/relationships" id="2147483651" r:id="R1ce2181e42684a02"/>
    <p:sldLayoutId xmlns:r="http://schemas.openxmlformats.org/officeDocument/2006/relationships" id="2147483652" r:id="R92b01b082018457f"/>
    <p:sldLayoutId xmlns:r="http://schemas.openxmlformats.org/officeDocument/2006/relationships" id="2147483653" r:id="R11c71cd0c6f844a2"/>
    <p:sldLayoutId xmlns:r="http://schemas.openxmlformats.org/officeDocument/2006/relationships" id="2147483654" r:id="Raf0195dc822e4bba"/>
    <p:sldLayoutId xmlns:r="http://schemas.openxmlformats.org/officeDocument/2006/relationships" id="2147483655" r:id="R3ad02fe354bc40d2"/>
    <p:sldLayoutId xmlns:r="http://schemas.openxmlformats.org/officeDocument/2006/relationships" id="2147483656" r:id="R358fe4637b6947a1"/>
    <p:sldLayoutId xmlns:r="http://schemas.openxmlformats.org/officeDocument/2006/relationships" id="2147483657" r:id="R54d84c6c6d004d95"/>
    <p:sldLayoutId xmlns:r="http://schemas.openxmlformats.org/officeDocument/2006/relationships" id="2147483658" r:id="Re32cd73db6534a1d"/>
    <p:sldLayoutId xmlns:r="http://schemas.openxmlformats.org/officeDocument/2006/relationships" id="2147483659" r:id="Rbde3c009fcec433f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c5ca4f66694cee" /><Relationship Type="http://schemas.openxmlformats.org/officeDocument/2006/relationships/image" Target="/ppt/media/image.jpeg" Id="R4e649bf60dce4e2a" /><Relationship Type="http://schemas.openxmlformats.org/officeDocument/2006/relationships/image" Target="/ppt/media/image.png" Id="R4a02a7b946654588" /><Relationship Type="http://schemas.openxmlformats.org/officeDocument/2006/relationships/notesSlide" Target="/ppt/notesSlides/notesSlide1.xml" Id="Re3e6aae7911243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ddb87558184c44" /><Relationship Type="http://schemas.openxmlformats.org/officeDocument/2006/relationships/image" Target="/ppt/media/image.jpeg" Id="R3fa4e451fd544581" /><Relationship Type="http://schemas.openxmlformats.org/officeDocument/2006/relationships/notesSlide" Target="/ppt/notesSlides/notesSlide2.xml" Id="Re12a6fc23ccf4f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5a1dcab0dc4fbe" /><Relationship Type="http://schemas.openxmlformats.org/officeDocument/2006/relationships/image" Target="/ppt/media/image.jpeg" Id="Rdd697cbf9d1543bc" /><Relationship Type="http://schemas.openxmlformats.org/officeDocument/2006/relationships/notesSlide" Target="/ppt/notesSlides/notesSlide3.xml" Id="Rff1f42bab5854b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67509ed8bf445e" /><Relationship Type="http://schemas.openxmlformats.org/officeDocument/2006/relationships/image" Target="/ppt/media/image2.jpeg" Id="Rc56a6a0f58f34bb4" /><Relationship Type="http://schemas.openxmlformats.org/officeDocument/2006/relationships/notesSlide" Target="/ppt/notesSlides/notesSlide4.xml" Id="Rc967d2a44e8044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6f4a4a6ec946e7" /><Relationship Type="http://schemas.openxmlformats.org/officeDocument/2006/relationships/image" Target="/ppt/media/image2.jpeg" Id="Rb236cbe26197432c" /><Relationship Type="http://schemas.openxmlformats.org/officeDocument/2006/relationships/image" Target="/ppt/media/image2.png" Id="R8484a69c4d8f459c" /><Relationship Type="http://schemas.openxmlformats.org/officeDocument/2006/relationships/notesSlide" Target="/ppt/notesSlides/notesSlide5.xml" Id="Rc74bdbece3b64d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a87b5250164c02" /><Relationship Type="http://schemas.openxmlformats.org/officeDocument/2006/relationships/image" Target="/ppt/media/image2.jpeg" Id="Re63521d6555e4e71" /><Relationship Type="http://schemas.openxmlformats.org/officeDocument/2006/relationships/notesSlide" Target="/ppt/notesSlides/notesSlide6.xml" Id="R51a10cecb21644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57602a1b744bfb" /><Relationship Type="http://schemas.openxmlformats.org/officeDocument/2006/relationships/image" Target="/ppt/media/image2.jpeg" Id="R26871720362b4b20" /><Relationship Type="http://schemas.openxmlformats.org/officeDocument/2006/relationships/image" Target="/ppt/media/image3.png" Id="R624e5a9efe9344a0" /><Relationship Type="http://schemas.openxmlformats.org/officeDocument/2006/relationships/notesSlide" Target="/ppt/notesSlides/notesSlide7.xml" Id="Rc5194defc0054d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d77712942f4ce5" /><Relationship Type="http://schemas.openxmlformats.org/officeDocument/2006/relationships/image" Target="/ppt/media/image2.jpeg" Id="R3c5d60c545634d5d" /><Relationship Type="http://schemas.openxmlformats.org/officeDocument/2006/relationships/notesSlide" Target="/ppt/notesSlides/notesSlide8.xml" Id="R94e841030bc14c7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1ed190ab734581" /><Relationship Type="http://schemas.openxmlformats.org/officeDocument/2006/relationships/image" Target="/ppt/media/image2.jpeg" Id="R7c066201aae34a1a" /><Relationship Type="http://schemas.openxmlformats.org/officeDocument/2006/relationships/image" Target="/ppt/media/image4.png" Id="Rc95d780b4f2b47bd" /><Relationship Type="http://schemas.openxmlformats.org/officeDocument/2006/relationships/notesSlide" Target="/ppt/notesSlides/notesSlide9.xml" Id="Ra98caa7bcf6b4b0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71bffca0494897" /><Relationship Type="http://schemas.openxmlformats.org/officeDocument/2006/relationships/image" Target="/ppt/media/image2.jpeg" Id="Rac78742830ac4f61" /><Relationship Type="http://schemas.openxmlformats.org/officeDocument/2006/relationships/image" Target="/ppt/media/image5.png" Id="R1599d01495b54dfb" /><Relationship Type="http://schemas.openxmlformats.org/officeDocument/2006/relationships/notesSlide" Target="/ppt/notesSlides/notesSlide10.xml" Id="Rcc351cc2bfcc4ee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98b72a028b4811" /><Relationship Type="http://schemas.openxmlformats.org/officeDocument/2006/relationships/image" Target="/ppt/media/image2.jpeg" Id="Rff5aca0678b24ca3" /><Relationship Type="http://schemas.openxmlformats.org/officeDocument/2006/relationships/image" Target="/ppt/media/image6.png" Id="Rdd06b8e2fe9b42a7" /><Relationship Type="http://schemas.openxmlformats.org/officeDocument/2006/relationships/image" Target="/ppt/media/image7.png" Id="Ra7262150f474468a" /><Relationship Type="http://schemas.openxmlformats.org/officeDocument/2006/relationships/notesSlide" Target="/ppt/notesSlides/notesSlide11.xml" Id="Rbd61fc034ee54ba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361af8b6774b90" /><Relationship Type="http://schemas.openxmlformats.org/officeDocument/2006/relationships/image" Target="/ppt/media/image2.jpeg" Id="R956c2a8e55484a8c" /><Relationship Type="http://schemas.openxmlformats.org/officeDocument/2006/relationships/image" Target="/ppt/media/image8.png" Id="R180e79cc4ec242a7" /><Relationship Type="http://schemas.openxmlformats.org/officeDocument/2006/relationships/notesSlide" Target="/ppt/notesSlides/notesSlide12.xml" Id="R9604bc4dbf40419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470659fb024dee" /><Relationship Type="http://schemas.openxmlformats.org/officeDocument/2006/relationships/image" Target="/ppt/media/image2.jpeg" Id="Rec42790509904e9f" /><Relationship Type="http://schemas.openxmlformats.org/officeDocument/2006/relationships/notesSlide" Target="/ppt/notesSlides/notesSlide13.xml" Id="R1d8e58fb2bc4412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c8c56d61234424" /><Relationship Type="http://schemas.openxmlformats.org/officeDocument/2006/relationships/image" Target="/ppt/media/image2.jpeg" Id="Rb033778bf0934369" /><Relationship Type="http://schemas.openxmlformats.org/officeDocument/2006/relationships/image" Target="/ppt/media/image9.png" Id="R9b6803668a3b4626" /><Relationship Type="http://schemas.openxmlformats.org/officeDocument/2006/relationships/notesSlide" Target="/ppt/notesSlides/notesSlide14.xml" Id="R564db77a8c424c7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9db43aeec84fb0" /><Relationship Type="http://schemas.openxmlformats.org/officeDocument/2006/relationships/image" Target="/ppt/media/image2.jpeg" Id="R7f4231bc64de4ce6" /><Relationship Type="http://schemas.openxmlformats.org/officeDocument/2006/relationships/image" Target="/ppt/media/image10.png" Id="R9df430d4799242d0" /><Relationship Type="http://schemas.openxmlformats.org/officeDocument/2006/relationships/image" Target="/ppt/media/image11.png" Id="Rdc896feb27054fcc" /><Relationship Type="http://schemas.openxmlformats.org/officeDocument/2006/relationships/notesSlide" Target="/ppt/notesSlides/notesSlide15.xml" Id="R0328f49d3993496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d6fd170cd4457a" /><Relationship Type="http://schemas.openxmlformats.org/officeDocument/2006/relationships/image" Target="/ppt/media/image2.jpeg" Id="R91f6d10fb2324ffc" /><Relationship Type="http://schemas.openxmlformats.org/officeDocument/2006/relationships/notesSlide" Target="/ppt/notesSlides/notesSlide16.xml" Id="Rb1cfe2b6aa9b498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929e5ef6cd4c8c" /><Relationship Type="http://schemas.openxmlformats.org/officeDocument/2006/relationships/image" Target="/ppt/media/image2.jpeg" Id="R575f52c931f24292" /><Relationship Type="http://schemas.openxmlformats.org/officeDocument/2006/relationships/notesSlide" Target="/ppt/notesSlides/notesSlide17.xml" Id="R3eacc436f77342e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713e5d2de64f09" /><Relationship Type="http://schemas.openxmlformats.org/officeDocument/2006/relationships/image" Target="/ppt/media/image2.jpeg" Id="R91bf7d58788045be" /><Relationship Type="http://schemas.openxmlformats.org/officeDocument/2006/relationships/notesSlide" Target="/ppt/notesSlides/notesSlide18.xml" Id="Rabc616b1d4fd404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19c8f3f59f4543" /><Relationship Type="http://schemas.openxmlformats.org/officeDocument/2006/relationships/image" Target="/ppt/media/image2.jpeg" Id="R42ada20aab9b4d43" /><Relationship Type="http://schemas.openxmlformats.org/officeDocument/2006/relationships/notesSlide" Target="/ppt/notesSlides/notesSlide19.xml" Id="Rc9c6ace0a15a4a4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aaacb850c14751" /><Relationship Type="http://schemas.openxmlformats.org/officeDocument/2006/relationships/image" Target="/ppt/media/image2.jpeg" Id="Rdeeaf8ade4c84e70" /><Relationship Type="http://schemas.openxmlformats.org/officeDocument/2006/relationships/notesSlide" Target="/ppt/notesSlides/notesSlide20.xml" Id="R71b85d4a9cf24ac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fe9b1b1e664e13" /><Relationship Type="http://schemas.openxmlformats.org/officeDocument/2006/relationships/image" Target="/ppt/media/image2.jpeg" Id="Rb9a55019976d4b62" /><Relationship Type="http://schemas.openxmlformats.org/officeDocument/2006/relationships/image" Target="/ppt/media/image.png" Id="R99011adaf29143af" /><Relationship Type="http://schemas.openxmlformats.org/officeDocument/2006/relationships/notesSlide" Target="/ppt/notesSlides/notesSlide21.xml" Id="R3ea6bd6ce9e14898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4e649bf60dce4e2a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4" name="Google Shape;84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a02a7b94665458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31520" y="594360"/>
            <a:ext cx="960120" cy="960120"/>
          </a:xfrm>
          <a:prstGeom xmlns:a="http://schemas.openxmlformats.org/drawingml/2006/main" prst="roundRect">
            <a:avLst>
              <a:gd name="adj" fmla="val 13889"/>
            </a:avLst>
          </a:prstGeom>
          <a:ln xmlns:a="http://schemas.openxmlformats.org/drawingml/2006/main">
            <a:noFill/>
          </a:ln>
        </p:spPr>
      </p:pic>
      <p:sp>
        <p:nvSpPr>
          <p:cNvPr id="85" name="Google Shape;85;p1">
            <a:extLst xmlns:a="http://schemas.openxmlformats.org/drawingml/2006/main">
              <a:ext uri="{FF2B5EF4-FFF2-40B4-BE49-F238E27FC236}">
                <a16:creationId xmlns:a16="http://schemas.microsoft.com/office/drawing/2014/main" id="{4BC910BD-9395-4393-8D3A-E5F391A0D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19" y="777240"/>
            <a:ext cx="4572000" cy="34747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D4ED8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BSc (Hons) Computer Science | Final Technical Viva Voce</a:t>
            </a:r>
            <a:endParaRPr/>
          </a:p>
        </p:txBody>
      </p:sp>
      <p:sp>
        <p:nvSpPr>
          <p:cNvPr id="86" name="Google Shape;86;p1">
            <a:extLst xmlns:a="http://schemas.openxmlformats.org/drawingml/2006/main">
              <a:ext uri="{FF2B5EF4-FFF2-40B4-BE49-F238E27FC236}">
                <a16:creationId xmlns:a16="http://schemas.microsoft.com/office/drawing/2014/main" id="{4DF19115-4627-4BB4-B470-5E7EC0D5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74519"/>
            <a:ext cx="10607040" cy="1737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4000" b="1" i="0" u="none" cap="non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TAB TIME</a:t>
            </a:r>
            <a:endParaRPr/>
          </a:p>
          <a:p xmlns:a="http://schemas.openxmlformats.org/drawingml/2006/main">
            <a:pPr marL="0" marR="0" lv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sz="1900" b="0" i="0" u="none" cap="non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</a:rPr>
              <a:t>A Privacy-Preserving Browser Extension for Real-Time Time Awareness, Visual Productivity Analytics, and Focus Management</a:t>
            </a:r>
            <a:endParaRPr/>
          </a:p>
          <a:p xmlns:a="http://schemas.openxmlformats.org/drawingml/2006/main">
            <a:pPr marL="0" marR="0" lvl="0" indent="0" algn="l">
              <a:spcBef>
                <a:spcPts val="800"/>
              </a:spcBef>
              <a:spcAft>
                <a:spcPts val="0"/>
              </a:spcAft>
              <a:buNone/>
            </a:pPr>
            <a:r>
              <a:rPr sz="1300" b="0" i="0" u="none" cap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School of Science, Technology &amp; Health | York St John University (London Campus)</a:t>
            </a:r>
            <a:endParaRPr/>
          </a:p>
        </p:txBody>
      </p:sp>
      <p:sp>
        <p:nvSpPr>
          <p:cNvPr id="87" name="Google Shape;87;p1">
            <a:extLst xmlns:a="http://schemas.openxmlformats.org/drawingml/2006/main">
              <a:ext uri="{FF2B5EF4-FFF2-40B4-BE49-F238E27FC236}">
                <a16:creationId xmlns:a16="http://schemas.microsoft.com/office/drawing/2014/main" id="{61AC57DD-33C0-41C0-BDE9-ABBEC30B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840480"/>
            <a:ext cx="5120640" cy="21031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0478">
            <a:solidFill>
              <a:srgbClr val="CBD5E1"/>
            </a:solidFill>
            <a:prstDash val="solid"/>
            <a:headEnd type="none" w="sm" len="sm"/>
            <a:tailEnd type="non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spcFirstLastPara="1" wrap="square" lIns="228600" tIns="2286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cap="non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</a:rPr>
              <a:t>PRESENTER &amp; CANDIDATE DETAILS</a:t>
            </a:r>
            <a:endParaRPr/>
          </a:p>
          <a:p xmlns:a="http://schemas.openxmlformats.org/drawingml/2006/main">
            <a:pPr marL="0" marR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1300" b="1" i="0" u="none" cap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• Student Name: [Your Name / Candidate]</a:t>
            </a:r>
            <a:endParaRPr/>
          </a:p>
          <a:p xmlns:a="http://schemas.openxmlformats.org/drawingml/2006/main">
            <a:pPr marL="0" marR="0" lvl="0" indent="0" algn="l">
              <a:spcBef>
                <a:spcPts val="30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• Student ID: [Student ID / Number]</a:t>
            </a:r>
            <a:endParaRPr/>
          </a:p>
          <a:p xmlns:a="http://schemas.openxmlformats.org/drawingml/2006/main">
            <a:pPr marL="0" marR="0" lvl="0" indent="0" algn="l">
              <a:spcBef>
                <a:spcPts val="30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• Degree Programme: BSc (Hons) Computer Science</a:t>
            </a:r>
            <a:endParaRPr/>
          </a:p>
          <a:p xmlns:a="http://schemas.openxmlformats.org/drawingml/2006/main">
            <a:pPr marL="0" marR="0" lvl="0" indent="0" algn="l">
              <a:spcBef>
                <a:spcPts val="30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• Email: [Student Email / YSJ Account]</a:t>
            </a:r>
            <a:endParaRPr/>
          </a:p>
        </p:txBody>
      </p:sp>
      <p:sp>
        <p:nvSpPr>
          <p:cNvPr id="88" name="Google Shape;88;p1">
            <a:extLst xmlns:a="http://schemas.openxmlformats.org/drawingml/2006/main">
              <a:ext uri="{FF2B5EF4-FFF2-40B4-BE49-F238E27FC236}">
                <a16:creationId xmlns:a16="http://schemas.microsoft.com/office/drawing/2014/main" id="{C7C33651-9024-4681-B043-A254A632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840480"/>
            <a:ext cx="5120640" cy="21031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0478">
            <a:solidFill>
              <a:srgbClr val="CBD5E1"/>
            </a:solidFill>
            <a:prstDash val="solid"/>
            <a:headEnd type="none" w="sm" len="sm"/>
            <a:tailEnd type="non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spcFirstLastPara="1" wrap="square" lIns="228600" tIns="2286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cap="non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</a:rPr>
              <a:t>ACADEMIC ASSESSMENT METADATA</a:t>
            </a:r>
            <a:endParaRPr/>
          </a:p>
          <a:p xmlns:a="http://schemas.openxmlformats.org/drawingml/2006/main">
            <a:pPr marL="0" marR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1300" b="1" i="0" u="none" cap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• Module: LDC6005M Individual Research Project</a:t>
            </a:r>
            <a:endParaRPr/>
          </a:p>
          <a:p xmlns:a="http://schemas.openxmlformats.org/drawingml/2006/main">
            <a:pPr marL="0" marR="0" lvl="0" indent="0" algn="l">
              <a:spcBef>
                <a:spcPts val="30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• Assessment: Component 3 – Technical Viva Voce Defense</a:t>
            </a:r>
            <a:endParaRPr/>
          </a:p>
          <a:p xmlns:a="http://schemas.openxmlformats.org/drawingml/2006/main">
            <a:pPr marL="0" marR="0" lvl="0" indent="0" algn="l">
              <a:spcBef>
                <a:spcPts val="30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• Project Supervisor: [Project Supervisor Name]</a:t>
            </a:r>
            <a:endParaRPr/>
          </a:p>
          <a:p xmlns:a="http://schemas.openxmlformats.org/drawingml/2006/main">
            <a:pPr marL="0" marR="0" lvl="0" indent="0" algn="l">
              <a:spcBef>
                <a:spcPts val="30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• Academic Session: 2025 / 2026 | Submission: June 2026</a:t>
            </a:r>
            <a:endParaRPr/>
          </a:p>
        </p:txBody>
      </p:sp>
      <p:sp>
        <p:nvSpPr>
          <p:cNvPr id="90" name="hero-accent">
            <a:extLst xmlns:a="http://schemas.openxmlformats.org/drawingml/2006/main">
              <a:ext uri="{FF2B5EF4-FFF2-40B4-BE49-F238E27FC236}">
                <a16:creationId xmlns:a16="http://schemas.microsoft.com/office/drawing/2014/main" id="{1CB999EB-0435-4A6F-957B-04E13245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10610850" cy="381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0EA5E9"/>
              </a:gs>
              <a:gs pos="100000">
                <a:srgbClr val="7C3AED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91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EB8BA6C7-90BF-4A93-B1CC-12613733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7F5"/>
            </a:solidFill>
            <a:prstDash val="solid"/>
          </a:ln>
        </p:spPr>
      </p:sp>
      <p:sp>
        <p:nvSpPr>
          <p:cNvPr id="92" name="footer-label-1">
            <a:extLst xmlns:a="http://schemas.openxmlformats.org/drawingml/2006/main">
              <a:ext uri="{FF2B5EF4-FFF2-40B4-BE49-F238E27FC236}">
                <a16:creationId xmlns:a16="http://schemas.microsoft.com/office/drawing/2014/main" id="{485AAD28-77E3-4AB0-BB39-6E8A4CF6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defRPr>
            </a:pPr>
            <a:r>
              <a:rPr sz="750" b="1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TAB TIME  •  TECHNICAL VIVA VOCE</a:t>
            </a:r>
          </a:p>
        </p:txBody>
      </p:sp>
      <p:sp>
        <p:nvSpPr>
          <p:cNvPr id="93" name="footer-page-1">
            <a:extLst xmlns:a="http://schemas.openxmlformats.org/drawingml/2006/main">
              <a:ext uri="{FF2B5EF4-FFF2-40B4-BE49-F238E27FC236}">
                <a16:creationId xmlns:a16="http://schemas.microsoft.com/office/drawing/2014/main" id="{29654A44-F533-4A29-BD4B-8A8744DF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391275"/>
            <a:ext cx="7620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>
            <a:normAutofit fontScale="7320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defRPr>
            </a:pPr>
            <a:r>
              <a:rPr sz="7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01 / 21</a:t>
            </a:r>
          </a:p>
        </p:txBody>
      </p:sp>
    </p:spTree>
    <p:extLst>
      <p:ext uri="{BB962C8B-B14F-4D97-AF65-F5344CB8AC3E}">
        <p14:creationId xmlns:p14="http://schemas.microsoft.com/office/powerpoint/2010/main" val="1827697476"/>
      </p:ext>
    </p:extLst>
  </p:cSld>
  <p:transition spd="med" advClick="1">
    <p:fade/>
  </p:transition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3fa4e451fd544581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9" name="Google Shape;93;p2"/>
          <p:cNvCxnSpPr/>
          <p:nvPr/>
        </p:nvCxnSpPr>
        <p:spPr>
          <a:xfrm xmlns:a="http://schemas.openxmlformats.org/drawingml/2006/main">
            <a:off x="617838" y="3249827"/>
            <a:ext cx="0" cy="2310714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dk1"/>
            </a:solidFill>
            <a:prstDash val="solid"/>
            <a:miter/>
            <a:headEnd type="none" w="sm" len="sm"/>
            <a:tailEnd type="none" w="sm" len="sm"/>
          </a:ln>
        </p:spPr>
      </p:cxnSp>
      <p:graphicFrame>
        <p:nvGraphicFramePr>
          <p:cNvPr id="100" name="Google Shape;94;p2"/>
          <p:cNvGraphicFramePr/>
          <p:nvPr/>
        </p:nvGraphicFramePr>
        <p:xfrm>
          <a:off xmlns:a="http://schemas.openxmlformats.org/drawingml/2006/main" x="747252" y="1965999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{C59FCF2E-CEB8-4974-A3D4-2AC20FA7DA0E}</a:tableStyleId>
              </a:tblPr>
              <a:tblGrid>
                <a:gridCol w="4244125"/>
                <a:gridCol w="4890025"/>
              </a:tblGrid>
              <a:tr h="753200">
                <a:tc gridSpan="2"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u="none" cap="none">
                          <a:solidFill>
                            <a:srgbClr val="0F172A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The Coversheet</a:t>
                      </a:r>
                      <a:endParaRPr/>
                    </a:p>
                  </a:txBody>
                  <a:tcPr marL="68575" marR="68575" marT="0" marB="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B71B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91440" marR="91440" marT="45720" marB="45720"/>
                </a:tc>
              </a:tr>
              <a:tr h="65597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u="none" cap="none">
                          <a:solidFill>
                            <a:srgbClr val="0F172A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Student Name  (unless anonymised)</a:t>
                      </a:r>
                      <a:endParaRPr/>
                    </a:p>
                  </a:txBody>
                  <a:tcPr marL="68575" marR="68575" marT="0" marB="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u="none" cap="non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</a:rPr>
                        <a:t>[Student Name / Candidate]</a:t>
                      </a:r>
                      <a:endParaRPr/>
                    </a:p>
                  </a:txBody>
                  <a:tcPr marL="68575" marR="68575" marT="0" marB="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5597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u="none" cap="none">
                          <a:solidFill>
                            <a:srgbClr val="0F172A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Student Number  (as shown on student ID card):</a:t>
                      </a:r>
                      <a:endParaRPr/>
                    </a:p>
                  </a:txBody>
                  <a:tcPr marL="68575" marR="68575" marT="0" marB="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u="none" cap="non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</a:rPr>
                        <a:t>[Student ID Number]</a:t>
                      </a:r>
                      <a:endParaRPr/>
                    </a:p>
                  </a:txBody>
                  <a:tcPr marL="68575" marR="68575" marT="0" marB="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u="none" cap="none">
                          <a:solidFill>
                            <a:srgbClr val="0F172A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Word Count / Pages / Duration / Other Limits:</a:t>
                      </a:r>
                      <a:endParaRPr/>
                    </a:p>
                  </a:txBody>
                  <a:tcPr marL="68575" marR="68575" marT="0" marB="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u="none" cap="non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</a:rPr>
                        <a:t>20 Minutes Presentation + 10 Minutes Q&amp;A / Panel Defense</a:t>
                      </a:r>
                      <a:endParaRPr/>
                    </a:p>
                  </a:txBody>
                  <a:tcPr marL="68575" marR="68575" marT="0" marB="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092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u="none" cap="none">
                          <a:solidFill>
                            <a:srgbClr val="0F172A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Assessment component number (1,2 or 3)</a:t>
                      </a:r>
                      <a:endParaRPr/>
                    </a:p>
                  </a:txBody>
                  <a:tcPr marL="68575" marR="68575" marT="0" marB="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u="none" cap="none">
                          <a:solidFill>
                            <a:srgbClr val="1D4ED8"/>
                          </a:solidFill>
                          <a:latin typeface="Calibri"/>
                          <a:ea typeface="Calibri"/>
                          <a:cs typeface="Calibri"/>
                        </a:rPr>
                        <a:t>Component 3 (Oral Presentation &amp; Viva Voce)</a:t>
                      </a:r>
                      <a:endParaRPr/>
                    </a:p>
                  </a:txBody>
                  <a:tcPr marL="68575" marR="68575" marT="0" marB="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092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u="none" cap="none">
                          <a:solidFill>
                            <a:srgbClr val="0F172A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Assessment type</a:t>
                      </a:r>
                      <a:endParaRPr/>
                    </a:p>
                  </a:txBody>
                  <a:tcPr marL="68575" marR="68575" marT="0" marB="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u="none" cap="non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</a:rPr>
                        <a:t>Technical Viva Voce Presentation &amp; System Demonstration</a:t>
                      </a:r>
                      <a:endParaRPr/>
                    </a:p>
                  </a:txBody>
                  <a:tcPr marL="68575" marR="68575" marT="0" marB="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562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u="none" cap="none">
                          <a:solidFill>
                            <a:srgbClr val="0F172A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Attempt Number:</a:t>
                      </a:r>
                      <a:endParaRPr/>
                    </a:p>
                  </a:txBody>
                  <a:tcPr marL="68575" marR="68575" marT="0" marB="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u="none" cap="non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</a:rPr>
                        <a:t>Attempt 1 (First Sit)</a:t>
                      </a:r>
                      <a:endParaRPr/>
                    </a:p>
                  </a:txBody>
                  <a:tcPr marL="68575" marR="68575" marT="0" marB="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562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u="none" cap="none">
                          <a:solidFill>
                            <a:srgbClr val="0F172A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Date of Submission:</a:t>
                      </a:r>
                      <a:endParaRPr/>
                    </a:p>
                  </a:txBody>
                  <a:tcPr marL="68575" marR="68575" marT="0" marB="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u="none" cap="non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</a:rPr>
                        <a:t>Academic Year 2025 / 2026 (June 2026)</a:t>
                      </a:r>
                      <a:endParaRPr/>
                    </a:p>
                  </a:txBody>
                  <a:tcPr marL="68575" marR="68575" marT="0" marB="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5" name="title-accent-2">
            <a:extLst xmlns:a="http://schemas.openxmlformats.org/drawingml/2006/main">
              <a:ext uri="{FF2B5EF4-FFF2-40B4-BE49-F238E27FC236}">
                <a16:creationId xmlns:a16="http://schemas.microsoft.com/office/drawing/2014/main" id="{4F5060AF-78B1-4D0A-862F-60BB580D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52575"/>
            <a:ext cx="1714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2CD2B769-F74B-46CD-B818-60D46190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7F5"/>
            </a:solidFill>
            <a:prstDash val="solid"/>
          </a:ln>
        </p:spPr>
      </p:sp>
      <p:sp>
        <p:nvSpPr>
          <p:cNvPr id="97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1F183EAF-1B0A-44E8-A5F2-9778AE38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defRPr>
            </a:pPr>
            <a:r>
              <a:rPr sz="750" b="1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TAB TIME  •  TECHNICAL VIVA VOCE</a:t>
            </a:r>
          </a:p>
        </p:txBody>
      </p:sp>
      <p:sp>
        <p:nvSpPr>
          <p:cNvPr id="98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8ABFC491-46D0-471C-AD2A-7DA4C455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391275"/>
            <a:ext cx="7620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>
            <a:normAutofit fontScale="7320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defRPr>
            </a:pPr>
            <a:r>
              <a:rPr sz="7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02 / 21</a:t>
            </a:r>
          </a:p>
        </p:txBody>
      </p:sp>
    </p:spTree>
    <p:extLst>
      <p:ext uri="{BB962C8B-B14F-4D97-AF65-F5344CB8AC3E}">
        <p14:creationId xmlns:p14="http://schemas.microsoft.com/office/powerpoint/2010/main" val="1456654969"/>
      </p:ext>
    </p:extLst>
  </p:cSld>
  <p:transition spd="med" advClick="1">
    <p:fade/>
  </p:transition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dd697cbf9d1543bc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6" name="Google Shape;99;p3"/>
          <p:cNvCxnSpPr/>
          <p:nvPr/>
        </p:nvCxnSpPr>
        <p:spPr>
          <a:xfrm xmlns:a="http://schemas.openxmlformats.org/drawingml/2006/main">
            <a:off x="617838" y="3249827"/>
            <a:ext cx="0" cy="2310714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dk1"/>
            </a:solidFill>
            <a:prstDash val="solid"/>
            <a:miter/>
            <a:headEnd type="none" w="sm" len="sm"/>
            <a:tailEnd type="none" w="sm" len="sm"/>
          </a:ln>
        </p:spPr>
      </p:cxnSp>
      <p:graphicFrame>
        <p:nvGraphicFramePr>
          <p:cNvPr id="107" name="Google Shape;100;p3"/>
          <p:cNvGraphicFramePr/>
          <p:nvPr/>
        </p:nvGraphicFramePr>
        <p:xfrm>
          <a:off xmlns:a="http://schemas.openxmlformats.org/drawingml/2006/main" x="653162" y="1749762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{C59FCF2E-CEB8-4974-A3D4-2AC20FA7DA0E}</a:tableStyleId>
              </a:tblPr>
              <a:tblGrid>
                <a:gridCol w="7379325"/>
                <a:gridCol w="1829250"/>
              </a:tblGrid>
              <a:tr h="47467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u="none" cap="none">
                          <a:latin typeface="Calibri"/>
                          <a:ea typeface="Calibri"/>
                          <a:cs typeface="Calibri"/>
                        </a:rPr>
                        <a:t>Academic Misconduct Statement:</a:t>
                      </a:r>
                      <a:endParaRPr/>
                    </a:p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u="none" cap="none">
                          <a:latin typeface="Calibri"/>
                          <a:ea typeface="Calibri"/>
                          <a:cs typeface="Calibri"/>
                        </a:rPr>
                        <a:t>I confirm that this work is entirely my own independent research and implementation.</a:t>
                      </a:r>
                      <a:endParaRPr/>
                    </a:p>
                  </a:txBody>
                  <a:tcPr marL="68575" marR="68575" marT="0" marB="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u="none" cap="none">
                          <a:solidFill>
                            <a:srgbClr val="059669"/>
                          </a:solidFill>
                          <a:latin typeface="Calibri"/>
                          <a:ea typeface="Calibri"/>
                          <a:cs typeface="Calibri"/>
                        </a:rPr>
                        <a:t>✔ Confirmed &amp; Understood</a:t>
                      </a:r>
                      <a:endParaRPr/>
                    </a:p>
                  </a:txBody>
                  <a:tcPr marL="68575" marR="68575" marT="0" marB="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7467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u="none" cap="none">
                          <a:latin typeface="Calibri"/>
                          <a:ea typeface="Calibri"/>
                          <a:cs typeface="Calibri"/>
                        </a:rPr>
                        <a:t>Generative Artificial Intelligence Statement:</a:t>
                      </a:r>
                      <a:endParaRPr/>
                    </a:p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u="none" cap="none">
                          <a:latin typeface="Calibri"/>
                          <a:ea typeface="Calibri"/>
                          <a:cs typeface="Calibri"/>
                        </a:rPr>
                        <a:t>AI tools were used strictly in compliance with YSJ guidelines for code refinement and testing assistance.</a:t>
                      </a:r>
                      <a:endParaRPr/>
                    </a:p>
                  </a:txBody>
                  <a:tcPr marL="68575" marR="68575" marT="0" marB="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u="none" cap="none">
                          <a:solidFill>
                            <a:srgbClr val="059669"/>
                          </a:solidFill>
                          <a:latin typeface="Calibri"/>
                          <a:ea typeface="Calibri"/>
                          <a:cs typeface="Calibri"/>
                        </a:rPr>
                        <a:t>✔ Confirmed &amp; Compliant</a:t>
                      </a:r>
                      <a:endParaRPr/>
                    </a:p>
                  </a:txBody>
                  <a:tcPr marL="68575" marR="68575" marT="0" marB="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3372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u="none" cap="none">
                          <a:latin typeface="Calibri"/>
                          <a:ea typeface="Calibri"/>
                          <a:cs typeface="Calibri"/>
                        </a:rPr>
                        <a:t>Module Learning Outcomes (LO1–LO5):</a:t>
                      </a:r>
                      <a:endParaRPr/>
                    </a:p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u="none" cap="none">
                          <a:latin typeface="Calibri"/>
                          <a:ea typeface="Calibri"/>
                          <a:cs typeface="Calibri"/>
                        </a:rPr>
                        <a:t>I confirm that all five prescribed learning outcomes for LDC6005M have been comprehensively met.</a:t>
                      </a:r>
                      <a:endParaRPr/>
                    </a:p>
                  </a:txBody>
                  <a:tcPr marL="68575" marR="68575" marT="0" marB="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u="none" cap="none">
                          <a:solidFill>
                            <a:srgbClr val="059669"/>
                          </a:solidFill>
                          <a:latin typeface="Calibri"/>
                          <a:ea typeface="Calibri"/>
                          <a:cs typeface="Calibri"/>
                        </a:rPr>
                        <a:t>✔ All Prescribed LOs Met</a:t>
                      </a:r>
                      <a:endParaRPr/>
                    </a:p>
                  </a:txBody>
                  <a:tcPr marL="68575" marR="68575" marT="0" marB="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8" name="Google Shape;101;p3"/>
          <p:cNvGraphicFramePr/>
          <p:nvPr/>
        </p:nvGraphicFramePr>
        <p:xfrm>
          <a:off xmlns:a="http://schemas.openxmlformats.org/drawingml/2006/main" x="653162" y="3773416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{C59FCF2E-CEB8-4974-A3D4-2AC20FA7DA0E}</a:tableStyleId>
              </a:tblPr>
              <a:tblGrid>
                <a:gridCol w="9208575"/>
              </a:tblGrid>
              <a:tr h="70845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u="none" cap="non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Self-Assessment &amp; Critical Reflection (LDC6005M Viva Voce Defense)</a:t>
                      </a:r>
                      <a:endParaRPr/>
                    </a:p>
                  </a:txBody>
                  <a:tcPr marL="63950" marR="63950" marT="0" marB="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D4ED8"/>
                    </a:solidFill>
                  </a:tcPr>
                </a:tc>
              </a:tr>
              <a:tr h="119170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u="none" cap="none">
                          <a:latin typeface="Calibri"/>
                          <a:ea typeface="Calibri"/>
                          <a:cs typeface="Calibri"/>
                        </a:rPr>
                        <a:t>• Progress &amp; Technical Learning: Overcame complex Manifest V3 ephemeral service worker lifecycles by designing an event-driven debounce mechanism and asynchronous IndexedDB storage layer.</a:t>
                      </a:r>
                      <a:endParaRPr/>
                    </a:p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u="none" cap="none">
                          <a:latin typeface="Calibri"/>
                          <a:ea typeface="Calibri"/>
                          <a:cs typeface="Calibri"/>
                        </a:rPr>
                        <a:t>• Strongest Submission Asset: The rigorous empirical evaluation (n = 65 participants) achieving a System Usability Scale (SUS) score of 89.04/100 (Grade A), backed by ground-truth stopwatch validation.</a:t>
                      </a:r>
                      <a:endParaRPr/>
                    </a:p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u="none" cap="none">
                          <a:latin typeface="Calibri"/>
                          <a:ea typeface="Calibri"/>
                          <a:cs typeface="Calibri"/>
                        </a:rPr>
                        <a:t>• Constructive Reflection: Future iterations will incorporate WebAssembly-driven on-device NLP to provide semantic categorization without relying on cloud processing.</a:t>
                      </a:r>
                      <a:endParaRPr/>
                    </a:p>
                  </a:txBody>
                  <a:tcPr marL="63950" marR="63950" marT="0" marB="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6797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i="1" u="none" cap="none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</a:rPr>
                        <a:t>Formal Declaration: I certify that the information provided in this viva presentation accurately reflects my independent technical implementation and empirical research.</a:t>
                      </a:r>
                      <a:endParaRPr/>
                    </a:p>
                  </a:txBody>
                  <a:tcPr marL="63950" marR="63950" marT="0" marB="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2" name="title-accent-3">
            <a:extLst xmlns:a="http://schemas.openxmlformats.org/drawingml/2006/main">
              <a:ext uri="{FF2B5EF4-FFF2-40B4-BE49-F238E27FC236}">
                <a16:creationId xmlns:a16="http://schemas.microsoft.com/office/drawing/2014/main" id="{693E9A36-2304-4A13-AE91-A65F2BBD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52575"/>
            <a:ext cx="1714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53E0E4B2-802D-400E-A474-718A8504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7F5"/>
            </a:solidFill>
            <a:prstDash val="solid"/>
          </a:ln>
        </p:spPr>
      </p:sp>
      <p:sp>
        <p:nvSpPr>
          <p:cNvPr id="104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B36070FC-250D-4020-B7B3-20DA2B7B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defRPr>
            </a:pPr>
            <a:r>
              <a:rPr sz="750" b="1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TAB TIME  •  TECHNICAL VIVA VOCE</a:t>
            </a:r>
          </a:p>
        </p:txBody>
      </p:sp>
      <p:sp>
        <p:nvSpPr>
          <p:cNvPr id="105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4BD30566-77FA-473A-9B55-4E8349F9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391275"/>
            <a:ext cx="7620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>
            <a:normAutofit fontScale="7320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defRPr>
            </a:pPr>
            <a:r>
              <a:rPr sz="7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03 / 21</a:t>
            </a:r>
          </a:p>
        </p:txBody>
      </p:sp>
    </p:spTree>
    <p:extLst>
      <p:ext uri="{BB962C8B-B14F-4D97-AF65-F5344CB8AC3E}">
        <p14:creationId xmlns:p14="http://schemas.microsoft.com/office/powerpoint/2010/main" val="1456969433"/>
      </p:ext>
    </p:extLst>
  </p:cSld>
  <p:transition spd="med" advClick="1">
    <p:fade/>
  </p:transition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c56a6a0f58f34bb4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Google Shape;106;p4">
            <a:extLst xmlns:a="http://schemas.openxmlformats.org/drawingml/2006/main">
              <a:ext uri="{FF2B5EF4-FFF2-40B4-BE49-F238E27FC236}">
                <a16:creationId xmlns:a16="http://schemas.microsoft.com/office/drawing/2014/main" id="{DFF7F32B-CBFC-49ED-BE72-93F8651863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0427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00"/>
              <a:buFont typeface="Quattrocento Sans"/>
              <a:buNone/>
            </a:pPr>
            <a:r>
              <a:rPr sz="250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Table of Contents: Presentation Roadmap</a:t>
            </a:r>
            <a:endParaRPr/>
          </a:p>
        </p:txBody>
      </p:sp>
      <p:cxnSp>
        <p:nvCxnSpPr>
          <p:cNvPr id="119" name="Google Shape;107;p4"/>
          <p:cNvCxnSpPr/>
          <p:nvPr/>
        </p:nvCxnSpPr>
        <p:spPr>
          <a:xfrm xmlns:a="http://schemas.openxmlformats.org/drawingml/2006/main" rot="10800000">
            <a:off x="525162" y="1563130"/>
            <a:ext cx="8408773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dk1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08" name="Google Shape;108;p4">
            <a:extLst xmlns:a="http://schemas.openxmlformats.org/drawingml/2006/main">
              <a:ext uri="{FF2B5EF4-FFF2-40B4-BE49-F238E27FC236}">
                <a16:creationId xmlns:a16="http://schemas.microsoft.com/office/drawing/2014/main" id="{A49AE32D-F62E-4203-BD55-8995226A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"/>
            <a:ext cx="2926080" cy="25603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D4ED8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AGENDA &amp; STRUCTURE</a:t>
            </a:r>
            <a:endParaRPr/>
          </a:p>
        </p:txBody>
      </p:sp>
      <p:sp>
        <p:nvSpPr>
          <p:cNvPr id="109" name="Google Shape;109;p4">
            <a:extLst xmlns:a="http://schemas.openxmlformats.org/drawingml/2006/main">
              <a:ext uri="{FF2B5EF4-FFF2-40B4-BE49-F238E27FC236}">
                <a16:creationId xmlns:a16="http://schemas.microsoft.com/office/drawing/2014/main" id="{1D29105B-AEEC-4B69-B5FD-70EBE91B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51" y="1645925"/>
            <a:ext cx="5390400" cy="132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0478">
            <a:solidFill>
              <a:srgbClr val="CBD5E1"/>
            </a:solidFill>
            <a:prstDash val="solid"/>
            <a:headEnd type="none" w="sm" len="sm"/>
            <a:tailEnd type="non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spcFirstLastPara="1" wrap="square" lIns="196000" tIns="147000" rIns="98000" bIns="489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86" b="1" i="0" u="none" cap="non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</a:rPr>
              <a:t>PHASE 01 : CONTEXT &amp; PROBLEM STATEMENT</a:t>
            </a:r>
            <a:endParaRPr sz="1601"/>
          </a:p>
          <a:p xmlns:a="http://schemas.openxmlformats.org/drawingml/2006/main">
            <a:pPr marL="0" marR="0" lvl="0" indent="0" algn="l">
              <a:spcBef>
                <a:spcPts val="429"/>
              </a:spcBef>
              <a:spcAft>
                <a:spcPts val="0"/>
              </a:spcAft>
              <a:buNone/>
            </a:pPr>
            <a:r>
              <a:rPr sz="1179" b="0" i="0" u="none" cap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Digital wellbeing crisis, attention fragmentation, surveillance capitalism &amp; cloud tracking vulnerabilities.</a:t>
            </a:r>
            <a:endParaRPr sz="1501"/>
          </a:p>
        </p:txBody>
      </p:sp>
      <p:sp>
        <p:nvSpPr>
          <p:cNvPr id="110" name="Google Shape;110;p4">
            <a:extLst xmlns:a="http://schemas.openxmlformats.org/drawingml/2006/main">
              <a:ext uri="{FF2B5EF4-FFF2-40B4-BE49-F238E27FC236}">
                <a16:creationId xmlns:a16="http://schemas.microsoft.com/office/drawing/2014/main" id="{E9CB2681-07C0-4B7C-89A2-838C48E6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1013" y="1645925"/>
            <a:ext cx="5390400" cy="132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0478">
            <a:solidFill>
              <a:srgbClr val="CBD5E1"/>
            </a:solidFill>
            <a:prstDash val="solid"/>
            <a:headEnd type="none" w="sm" len="sm"/>
            <a:tailEnd type="non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spcFirstLastPara="1" wrap="square" lIns="196000" tIns="147000" rIns="98000" bIns="489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86" b="1" i="0" u="none" cap="non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</a:rPr>
              <a:t>PHASE 02 : AIMS, OBJECTIVES &amp; HYPOTHESES</a:t>
            </a:r>
            <a:endParaRPr sz="1501"/>
          </a:p>
          <a:p xmlns:a="http://schemas.openxmlformats.org/drawingml/2006/main">
            <a:pPr marL="0" marR="0" lvl="0" indent="0" algn="l">
              <a:spcBef>
                <a:spcPts val="429"/>
              </a:spcBef>
              <a:spcAft>
                <a:spcPts val="0"/>
              </a:spcAft>
              <a:buNone/>
            </a:pPr>
            <a:r>
              <a:rPr sz="1179" b="0" i="0" u="none" cap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Main aim, 5 measurable objectives, central research question, and formal testable hypotheses (H1, H2).</a:t>
            </a:r>
            <a:endParaRPr sz="1501"/>
          </a:p>
        </p:txBody>
      </p:sp>
      <p:sp>
        <p:nvSpPr>
          <p:cNvPr id="111" name="Google Shape;111;p4">
            <a:extLst xmlns:a="http://schemas.openxmlformats.org/drawingml/2006/main">
              <a:ext uri="{FF2B5EF4-FFF2-40B4-BE49-F238E27FC236}">
                <a16:creationId xmlns:a16="http://schemas.microsoft.com/office/drawing/2014/main" id="{49F8E6F4-BE66-4DAF-BA6C-CB292447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51" y="3214022"/>
            <a:ext cx="5390400" cy="132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0478">
            <a:solidFill>
              <a:srgbClr val="CBD5E1"/>
            </a:solidFill>
            <a:prstDash val="solid"/>
            <a:headEnd type="none" w="sm" len="sm"/>
            <a:tailEnd type="non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spcFirstLastPara="1" wrap="square" lIns="196000" tIns="147000" rIns="98000" bIns="489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86" b="1" i="0" u="none" cap="non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</a:rPr>
              <a:t>PHASE 03 : LITERATURE REVIEW &amp; BENCHMARK</a:t>
            </a:r>
            <a:endParaRPr sz="1501"/>
          </a:p>
          <a:p xmlns:a="http://schemas.openxmlformats.org/drawingml/2006/main">
            <a:pPr marL="0" marR="0" lvl="0" indent="0" algn="l">
              <a:spcBef>
                <a:spcPts val="429"/>
              </a:spcBef>
              <a:spcAft>
                <a:spcPts val="0"/>
              </a:spcAft>
              <a:buNone/>
            </a:pPr>
            <a:r>
              <a:rPr sz="1179" b="0" i="0" u="none" cap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Theories of self-regulation, cognitive interruption costs, Manifest V2 vs V3, comparative matrix.</a:t>
            </a:r>
            <a:endParaRPr sz="1501"/>
          </a:p>
        </p:txBody>
      </p:sp>
      <p:sp>
        <p:nvSpPr>
          <p:cNvPr id="112" name="Google Shape;112;p4">
            <a:extLst xmlns:a="http://schemas.openxmlformats.org/drawingml/2006/main">
              <a:ext uri="{FF2B5EF4-FFF2-40B4-BE49-F238E27FC236}">
                <a16:creationId xmlns:a16="http://schemas.microsoft.com/office/drawing/2014/main" id="{54875078-90B6-4E9E-9090-0721AB5C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1013" y="3214022"/>
            <a:ext cx="5390400" cy="132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0478">
            <a:solidFill>
              <a:srgbClr val="CBD5E1"/>
            </a:solidFill>
            <a:prstDash val="solid"/>
            <a:headEnd type="none" w="sm" len="sm"/>
            <a:tailEnd type="non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spcFirstLastPara="1" wrap="square" lIns="196000" tIns="147000" rIns="98000" bIns="489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86" b="1" i="0" u="none" cap="non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</a:rPr>
              <a:t>PHASE 04 : DSR METHODOLOGY &amp; ARCHITECTURE</a:t>
            </a:r>
            <a:endParaRPr sz="1501"/>
          </a:p>
          <a:p xmlns:a="http://schemas.openxmlformats.org/drawingml/2006/main">
            <a:pPr marL="0" marR="0" lvl="0" indent="0" algn="l">
              <a:spcBef>
                <a:spcPts val="429"/>
              </a:spcBef>
              <a:spcAft>
                <a:spcPts val="0"/>
              </a:spcAft>
              <a:buNone/>
            </a:pPr>
            <a:r>
              <a:rPr sz="1179" b="0" i="0" u="none" cap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Design Science Research model, Three-Layer architecture, telemetry data flow, participant cohort (n=65).</a:t>
            </a:r>
            <a:endParaRPr sz="1501"/>
          </a:p>
        </p:txBody>
      </p:sp>
      <p:sp>
        <p:nvSpPr>
          <p:cNvPr id="113" name="Google Shape;113;p4">
            <a:extLst xmlns:a="http://schemas.openxmlformats.org/drawingml/2006/main">
              <a:ext uri="{FF2B5EF4-FFF2-40B4-BE49-F238E27FC236}">
                <a16:creationId xmlns:a16="http://schemas.microsoft.com/office/drawing/2014/main" id="{F11A13BD-5B39-4452-BA97-04223EE9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51" y="4782119"/>
            <a:ext cx="5390400" cy="132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0478">
            <a:solidFill>
              <a:srgbClr val="CBD5E1"/>
            </a:solidFill>
            <a:prstDash val="solid"/>
            <a:headEnd type="none" w="sm" len="sm"/>
            <a:tailEnd type="non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spcFirstLastPara="1" wrap="square" lIns="196000" tIns="147000" rIns="98000" bIns="489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86" b="1" i="0" u="none" cap="non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</a:rPr>
              <a:t>PHASE 05 : EMPIRICAL RESULTS &amp; DISCUSSION</a:t>
            </a:r>
            <a:endParaRPr sz="1501"/>
          </a:p>
          <a:p xmlns:a="http://schemas.openxmlformats.org/drawingml/2006/main">
            <a:pPr marL="0" marR="0" lvl="0" indent="0" algn="l">
              <a:spcBef>
                <a:spcPts val="429"/>
              </a:spcBef>
              <a:spcAft>
                <a:spcPts val="0"/>
              </a:spcAft>
              <a:buNone/>
            </a:pPr>
            <a:r>
              <a:rPr sz="1179" b="0" i="0" u="none" cap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SUS Score (89.04 / 100), feature utility, stopwatch accuracy, technical challenges, ethics &amp; future roadmap.</a:t>
            </a:r>
            <a:endParaRPr sz="1501"/>
          </a:p>
        </p:txBody>
      </p:sp>
      <p:sp>
        <p:nvSpPr>
          <p:cNvPr id="114" name="title-accent-4">
            <a:extLst xmlns:a="http://schemas.openxmlformats.org/drawingml/2006/main">
              <a:ext uri="{FF2B5EF4-FFF2-40B4-BE49-F238E27FC236}">
                <a16:creationId xmlns:a16="http://schemas.microsoft.com/office/drawing/2014/main" id="{C5E26A29-0587-40BA-9BD5-EAFC38CF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52575"/>
            <a:ext cx="1714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9C766E03-0A6C-4BEF-9C65-3FC3B23F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7F5"/>
            </a:solidFill>
            <a:prstDash val="solid"/>
          </a:ln>
        </p:spPr>
      </p:sp>
      <p:sp>
        <p:nvSpPr>
          <p:cNvPr id="116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421B5285-2EBA-494F-A6B3-CCF62CCD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defRPr>
            </a:pPr>
            <a:r>
              <a:rPr sz="750" b="1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TAB TIME  •  TECHNICAL VIVA VOCE</a:t>
            </a:r>
          </a:p>
        </p:txBody>
      </p:sp>
      <p:sp>
        <p:nvSpPr>
          <p:cNvPr id="117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CA7A6A73-7DAE-41AE-9C09-ABFA965C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391275"/>
            <a:ext cx="7620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>
            <a:normAutofit fontScale="7320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defRPr>
            </a:pPr>
            <a:r>
              <a:rPr sz="7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04 / 21</a:t>
            </a:r>
          </a:p>
        </p:txBody>
      </p:sp>
    </p:spTree>
    <p:extLst>
      <p:ext uri="{BB962C8B-B14F-4D97-AF65-F5344CB8AC3E}">
        <p14:creationId xmlns:p14="http://schemas.microsoft.com/office/powerpoint/2010/main" val="1618045888"/>
      </p:ext>
    </p:extLst>
  </p:cSld>
  <p:transition spd="med" advClick="1">
    <p:fade/>
  </p:transition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b236cbe26197432c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8" name="Google Shape;118;p5">
            <a:extLst xmlns:a="http://schemas.openxmlformats.org/drawingml/2006/main">
              <a:ext uri="{FF2B5EF4-FFF2-40B4-BE49-F238E27FC236}">
                <a16:creationId xmlns:a16="http://schemas.microsoft.com/office/drawing/2014/main" id="{09689AED-2E74-4D6A-B84B-4ABE2ACC14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0427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00"/>
              <a:buFont typeface="Quattrocento Sans"/>
              <a:buNone/>
            </a:pPr>
            <a:r>
              <a:rPr sz="250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1. Introduction &amp; Research Context</a:t>
            </a:r>
            <a:endParaRPr/>
          </a:p>
        </p:txBody>
      </p:sp>
      <p:cxnSp>
        <p:nvCxnSpPr>
          <p:cNvPr id="130" name="Google Shape;119;p5"/>
          <p:cNvCxnSpPr/>
          <p:nvPr/>
        </p:nvCxnSpPr>
        <p:spPr>
          <a:xfrm xmlns:a="http://schemas.openxmlformats.org/drawingml/2006/main" rot="10800000">
            <a:off x="525162" y="1563130"/>
            <a:ext cx="8408773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dk1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20" name="Google Shape;120;p5">
            <a:extLst xmlns:a="http://schemas.openxmlformats.org/drawingml/2006/main">
              <a:ext uri="{FF2B5EF4-FFF2-40B4-BE49-F238E27FC236}">
                <a16:creationId xmlns:a16="http://schemas.microsoft.com/office/drawing/2014/main" id="{944D8D8E-75F6-47B5-A9E8-63E80FD0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"/>
            <a:ext cx="2926080" cy="25603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D4ED8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CHAPTER 1: INTRODUCTION</a:t>
            </a:r>
            <a:endParaRPr/>
          </a:p>
        </p:txBody>
      </p:sp>
      <p:sp>
        <p:nvSpPr>
          <p:cNvPr id="121" name="Google Shape;121;p5">
            <a:extLst xmlns:a="http://schemas.openxmlformats.org/drawingml/2006/main">
              <a:ext uri="{FF2B5EF4-FFF2-40B4-BE49-F238E27FC236}">
                <a16:creationId xmlns:a16="http://schemas.microsoft.com/office/drawing/2014/main" id="{0540EBB3-AE46-4748-8983-F121A8450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0"/>
            <a:ext cx="5486400" cy="43891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0478">
            <a:solidFill>
              <a:srgbClr val="CBD5E1"/>
            </a:solidFill>
            <a:prstDash val="solid"/>
            <a:headEnd type="none" w="sm" len="sm"/>
            <a:tailEnd type="non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spcFirstLastPara="1" wrap="square" lIns="228600" tIns="2286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 cap="non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</a:rPr>
              <a:t>THE DIGITAL WELLBEING LANDSCAPE</a:t>
            </a:r>
            <a:endParaRPr sz="1500" b="1" i="0" u="none" cap="none">
              <a:solidFill>
                <a:srgbClr val="1D4ED8"/>
              </a:solidFill>
              <a:latin typeface="Quattrocento Sans"/>
              <a:ea typeface="Quattrocento Sans"/>
              <a:cs typeface="Quattrocento Sans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 b="1">
              <a:solidFill>
                <a:srgbClr val="1D4ED8"/>
              </a:solidFill>
              <a:latin typeface="Quattrocento Sans"/>
              <a:ea typeface="Quattrocento Sans"/>
              <a:cs typeface="Quattrocento Sans"/>
            </a:endParaRPr>
          </a:p>
          <a:p xmlns:a="http://schemas.openxmlformats.org/drawingml/2006/main">
            <a:pPr marL="0" marR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1300" b="0" i="0" u="none" cap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• Frictionless Web Environments: Over 80% of modern academic research, study, and professional knowledge work is conducted directly inside web browsers.</a:t>
            </a:r>
            <a:endParaRPr sz="1500"/>
          </a:p>
          <a:p xmlns:a="http://schemas.openxmlformats.org/drawingml/2006/main">
            <a:pPr marL="0" marR="0" lvl="0" indent="0" algn="l">
              <a:spcBef>
                <a:spcPts val="800"/>
              </a:spcBef>
              <a:spcAft>
                <a:spcPts val="0"/>
              </a:spcAft>
              <a:buNone/>
            </a:pPr>
            <a:r>
              <a:rPr sz="1300" b="0" i="0" u="none" cap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• Attention Fragmentation Crisis: Single-click access to social feeds and algorithmic entertainment fragments cognitive focus; recovering from an interruption requires up to 23 minutes (Mark et al., 2008).</a:t>
            </a:r>
            <a:endParaRPr sz="1500"/>
          </a:p>
          <a:p xmlns:a="http://schemas.openxmlformats.org/drawingml/2006/main">
            <a:pPr marL="0" marR="0" lvl="0" indent="0" algn="l">
              <a:spcBef>
                <a:spcPts val="800"/>
              </a:spcBef>
              <a:spcAft>
                <a:spcPts val="0"/>
              </a:spcAft>
              <a:buNone/>
            </a:pPr>
            <a:r>
              <a:rPr sz="1300" b="0" i="0" u="none" cap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• The TabTime Solution: A lightweight, client-side browser extension engineered under Manifest V3 that provides real-time time awareness, visual analytics, and non-coercive focus management.</a:t>
            </a:r>
            <a:endParaRPr sz="1500"/>
          </a:p>
          <a:p xmlns:a="http://schemas.openxmlformats.org/drawingml/2006/main">
            <a:pPr marL="0" marR="0" lvl="0" indent="0" algn="l">
              <a:spcBef>
                <a:spcPts val="800"/>
              </a:spcBef>
              <a:spcAft>
                <a:spcPts val="0"/>
              </a:spcAft>
              <a:buNone/>
            </a:pPr>
            <a:r>
              <a:rPr sz="1300" b="0" i="0" u="none" cap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• Privacy-by-Design Core: Completely operates on the user's local machine with zero external cloud telemetry, guaranteeing total user data sovereignty and GDPR compliance.</a:t>
            </a:r>
            <a:endParaRPr sz="1500"/>
          </a:p>
        </p:txBody>
      </p:sp>
      <p:pic>
        <p:nvPicPr>
          <p:cNvPr id="133" name="Google Shape;122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484a69c4d8f459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217920" y="1645920"/>
            <a:ext cx="5120640" cy="2855652"/>
          </a:xfrm>
          <a:prstGeom xmlns:a="http://schemas.openxmlformats.org/drawingml/2006/main" prst="roundRect">
            <a:avLst>
              <a:gd name="adj" fmla="val 4670"/>
            </a:avLst>
          </a:prstGeom>
          <a:ln xmlns:a="http://schemas.openxmlformats.org/drawingml/2006/main">
            <a:noFill/>
          </a:ln>
        </p:spPr>
      </p:pic>
      <p:sp>
        <p:nvSpPr>
          <p:cNvPr id="123" name="Google Shape;123;p5">
            <a:extLst xmlns:a="http://schemas.openxmlformats.org/drawingml/2006/main">
              <a:ext uri="{FF2B5EF4-FFF2-40B4-BE49-F238E27FC236}">
                <a16:creationId xmlns:a16="http://schemas.microsoft.com/office/drawing/2014/main" id="{CC4203B2-D59E-4A79-B083-F024C1C1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5120640"/>
            <a:ext cx="512064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cap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Figure 1.1: Conceptual Overview of TabTime Mindful Digital Engagement Pipeline</a:t>
            </a:r>
            <a:endParaRPr/>
          </a:p>
        </p:txBody>
      </p:sp>
      <p:sp>
        <p:nvSpPr>
          <p:cNvPr id="125" name="title-accent-5">
            <a:extLst xmlns:a="http://schemas.openxmlformats.org/drawingml/2006/main">
              <a:ext uri="{FF2B5EF4-FFF2-40B4-BE49-F238E27FC236}">
                <a16:creationId xmlns:a16="http://schemas.microsoft.com/office/drawing/2014/main" id="{503E2A2B-7768-4F24-B749-A7E4CA8D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52575"/>
            <a:ext cx="1714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FB7FD0F3-B527-4E6E-A224-50CFD2D0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7F5"/>
            </a:solidFill>
            <a:prstDash val="solid"/>
          </a:ln>
        </p:spPr>
      </p:sp>
      <p:sp>
        <p:nvSpPr>
          <p:cNvPr id="127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99F5E347-2B3B-49B2-9BD4-3024B7ED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defRPr>
            </a:pPr>
            <a:r>
              <a:rPr sz="750" b="1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TAB TIME  •  TECHNICAL VIVA VOCE</a:t>
            </a:r>
          </a:p>
        </p:txBody>
      </p:sp>
      <p:sp>
        <p:nvSpPr>
          <p:cNvPr id="128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0EF60D9A-145B-4080-8EBC-B719A5B6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391275"/>
            <a:ext cx="7620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>
            <a:normAutofit fontScale="7320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defRPr>
            </a:pPr>
            <a:r>
              <a:rPr sz="7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05 / 21</a:t>
            </a:r>
          </a:p>
        </p:txBody>
      </p:sp>
    </p:spTree>
    <p:extLst>
      <p:ext uri="{BB962C8B-B14F-4D97-AF65-F5344CB8AC3E}">
        <p14:creationId xmlns:p14="http://schemas.microsoft.com/office/powerpoint/2010/main" val="623442470"/>
      </p:ext>
    </p:extLst>
  </p:cSld>
  <p:transition spd="med" advClick="1">
    <p:fade/>
  </p:transition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e63521d6555e4e71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8" name="Google Shape;128;p6">
            <a:extLst xmlns:a="http://schemas.openxmlformats.org/drawingml/2006/main">
              <a:ext uri="{FF2B5EF4-FFF2-40B4-BE49-F238E27FC236}">
                <a16:creationId xmlns:a16="http://schemas.microsoft.com/office/drawing/2014/main" id="{EEA5CB8F-49C2-49E9-98F6-EE7CE9A78C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0427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00"/>
              <a:buFont typeface="Quattrocento Sans"/>
              <a:buNone/>
            </a:pPr>
            <a:r>
              <a:rPr sz="250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2. Problem Statement &amp; Research Motives</a:t>
            </a:r>
            <a:endParaRPr/>
          </a:p>
        </p:txBody>
      </p:sp>
      <p:cxnSp>
        <p:nvCxnSpPr>
          <p:cNvPr id="140" name="Google Shape;129;p6"/>
          <p:cNvCxnSpPr/>
          <p:nvPr/>
        </p:nvCxnSpPr>
        <p:spPr>
          <a:xfrm xmlns:a="http://schemas.openxmlformats.org/drawingml/2006/main" rot="10800000">
            <a:off x="525162" y="1563130"/>
            <a:ext cx="8408773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dk1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30" name="Google Shape;130;p6">
            <a:extLst xmlns:a="http://schemas.openxmlformats.org/drawingml/2006/main">
              <a:ext uri="{FF2B5EF4-FFF2-40B4-BE49-F238E27FC236}">
                <a16:creationId xmlns:a16="http://schemas.microsoft.com/office/drawing/2014/main" id="{A5996431-B917-456B-9AFE-3C62CA2F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"/>
            <a:ext cx="2926080" cy="25603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D4ED8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CHAPTER 1: PROBLEM STATEMENT</a:t>
            </a:r>
            <a:endParaRPr/>
          </a:p>
        </p:txBody>
      </p:sp>
      <p:sp>
        <p:nvSpPr>
          <p:cNvPr id="131" name="Google Shape;131;p6">
            <a:extLst xmlns:a="http://schemas.openxmlformats.org/drawingml/2006/main">
              <a:ext uri="{FF2B5EF4-FFF2-40B4-BE49-F238E27FC236}">
                <a16:creationId xmlns:a16="http://schemas.microsoft.com/office/drawing/2014/main" id="{60953E5F-B661-48F3-8F0A-17D361518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0"/>
            <a:ext cx="5029200" cy="201168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0478">
            <a:solidFill>
              <a:srgbClr val="CBD5E1"/>
            </a:solidFill>
            <a:prstDash val="solid"/>
            <a:headEnd type="none" w="sm" len="sm"/>
            <a:tailEnd type="non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spcFirstLastPara="1" wrap="square" lIns="182875" tIns="164575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cap="non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</a:rPr>
              <a:t>SURVEILLANCE CAPITALISM IN TRACKERS</a:t>
            </a:r>
            <a:endParaRPr sz="1500"/>
          </a:p>
          <a:p xmlns:a="http://schemas.openxmlformats.org/drawingml/2006/main">
            <a:pPr marL="0" marR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Commercial tools (e.g. RescueTime, Toggl) mandate continuous cloud synchronization, harvesting full URL streams and timestamps to external servers. This creates severe privacy vulnerabilities and corporate surveillance risks (Zuboff, 2019; GDPR Art. 5).</a:t>
            </a:r>
            <a:endParaRPr sz="1500"/>
          </a:p>
        </p:txBody>
      </p:sp>
      <p:sp>
        <p:nvSpPr>
          <p:cNvPr id="132" name="Google Shape;132;p6">
            <a:extLst xmlns:a="http://schemas.openxmlformats.org/drawingml/2006/main">
              <a:ext uri="{FF2B5EF4-FFF2-40B4-BE49-F238E27FC236}">
                <a16:creationId xmlns:a16="http://schemas.microsoft.com/office/drawing/2014/main" id="{6A955B03-EABF-4051-B1FF-F63FA263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45920"/>
            <a:ext cx="5029200" cy="201168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0478">
            <a:solidFill>
              <a:srgbClr val="CBD5E1"/>
            </a:solidFill>
            <a:prstDash val="solid"/>
            <a:headEnd type="none" w="sm" len="sm"/>
            <a:tailEnd type="non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spcFirstLastPara="1" wrap="square" lIns="182875" tIns="164575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cap="non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</a:rPr>
              <a:t>THE FUNCTIONAL BINARY DICHOTOMY</a:t>
            </a:r>
            <a:endParaRPr sz="1500"/>
          </a:p>
          <a:p xmlns:a="http://schemas.openxmlformats.org/drawingml/2006/main">
            <a:pPr marL="0" marR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Existing solutions exhibit a stark functional divide: they either offer passive retrospective logging without active intervention, or enforce rigid, punitive website blocking that induces user frustration without encouraging reflective mindfulness.</a:t>
            </a:r>
            <a:endParaRPr sz="1500"/>
          </a:p>
        </p:txBody>
      </p:sp>
      <p:sp>
        <p:nvSpPr>
          <p:cNvPr id="133" name="Google Shape;133;p6">
            <a:extLst xmlns:a="http://schemas.openxmlformats.org/drawingml/2006/main">
              <a:ext uri="{FF2B5EF4-FFF2-40B4-BE49-F238E27FC236}">
                <a16:creationId xmlns:a16="http://schemas.microsoft.com/office/drawing/2014/main" id="{2B566916-B954-4567-AEE9-83D7F5DDC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5029200" cy="21031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0478">
            <a:solidFill>
              <a:srgbClr val="CBD5E1"/>
            </a:solidFill>
            <a:prstDash val="solid"/>
            <a:headEnd type="none" w="sm" len="sm"/>
            <a:tailEnd type="non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spcFirstLastPara="1" wrap="square" lIns="182875" tIns="164575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cap="non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LACK OF REAL-TIME BEHAVIORAL NUDGES</a:t>
            </a:r>
            <a:endParaRPr sz="1500"/>
          </a:p>
          <a:p xmlns:a="http://schemas.openxmlformats.org/drawingml/2006/main">
            <a:pPr marL="0" marR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Users rarely comprehend cumulative micro-distractions during active browsing. Without instantaneous, transparent productivity scoring and gentle redirection, time slips away unnoticed across cognitive context switches (Mark et al., 2008).</a:t>
            </a:r>
            <a:endParaRPr sz="1500"/>
          </a:p>
        </p:txBody>
      </p:sp>
      <p:sp>
        <p:nvSpPr>
          <p:cNvPr id="134" name="Google Shape;134;p6">
            <a:extLst xmlns:a="http://schemas.openxmlformats.org/drawingml/2006/main">
              <a:ext uri="{FF2B5EF4-FFF2-40B4-BE49-F238E27FC236}">
                <a16:creationId xmlns:a16="http://schemas.microsoft.com/office/drawing/2014/main" id="{9E5B76F4-FF51-4573-A257-DB6B67FE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988974"/>
            <a:ext cx="5029200" cy="1931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0478">
            <a:solidFill>
              <a:srgbClr val="CBD5E1"/>
            </a:solidFill>
            <a:prstDash val="solid"/>
            <a:headEnd type="none" w="sm" len="sm"/>
            <a:tailEnd type="non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spcFirstLastPara="1" wrap="square" lIns="182875" tIns="164575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cap="non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</a:rPr>
              <a:t>THE TABTIME RESEARCH OPPORTUNITY</a:t>
            </a:r>
            <a:endParaRPr sz="1500"/>
          </a:p>
          <a:p xmlns:a="http://schemas.openxmlformats.org/drawingml/2006/main">
            <a:pPr marL="0" marR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A privacy-preserving, on-device architecture merging automated millisecond tracking, instant mathematical scoring, and non-coercive focus interventions directly within modern browser sandboxes without remote infrastructure.</a:t>
            </a:r>
            <a:endParaRPr sz="1500"/>
          </a:p>
        </p:txBody>
      </p:sp>
      <p:sp>
        <p:nvSpPr>
          <p:cNvPr id="135" name="title-accent-6">
            <a:extLst xmlns:a="http://schemas.openxmlformats.org/drawingml/2006/main">
              <a:ext uri="{FF2B5EF4-FFF2-40B4-BE49-F238E27FC236}">
                <a16:creationId xmlns:a16="http://schemas.microsoft.com/office/drawing/2014/main" id="{5F44569C-64D0-4A2C-8205-18D2E540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52575"/>
            <a:ext cx="1714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DD334C8F-43E6-4CD1-BC72-66C84C94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7F5"/>
            </a:solidFill>
            <a:prstDash val="solid"/>
          </a:ln>
        </p:spPr>
      </p:sp>
      <p:sp>
        <p:nvSpPr>
          <p:cNvPr id="137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979AC791-6850-4F38-8E9B-CECD9CAB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defRPr>
            </a:pPr>
            <a:r>
              <a:rPr sz="750" b="1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TAB TIME  •  TECHNICAL VIVA VOCE</a:t>
            </a:r>
          </a:p>
        </p:txBody>
      </p:sp>
      <p:sp>
        <p:nvSpPr>
          <p:cNvPr id="138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86A39675-13E8-44C3-9011-69E757E6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391275"/>
            <a:ext cx="7620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>
            <a:normAutofit fontScale="7320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defRPr>
            </a:pPr>
            <a:r>
              <a:rPr sz="7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06 / 21</a:t>
            </a:r>
          </a:p>
        </p:txBody>
      </p:sp>
    </p:spTree>
    <p:extLst>
      <p:ext uri="{BB962C8B-B14F-4D97-AF65-F5344CB8AC3E}">
        <p14:creationId xmlns:p14="http://schemas.microsoft.com/office/powerpoint/2010/main" val="172849054"/>
      </p:ext>
    </p:extLst>
  </p:cSld>
  <p:transition spd="med" advClick="1">
    <p:fade/>
  </p:transition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26871720362b4b20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9" name="Google Shape;139;p7">
            <a:extLst xmlns:a="http://schemas.openxmlformats.org/drawingml/2006/main">
              <a:ext uri="{FF2B5EF4-FFF2-40B4-BE49-F238E27FC236}">
                <a16:creationId xmlns:a16="http://schemas.microsoft.com/office/drawing/2014/main" id="{DA647962-58CE-47DA-9F29-1CE8F5F2D9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0427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00"/>
              <a:buFont typeface="Quattrocento Sans"/>
              <a:buNone/>
            </a:pPr>
            <a:r>
              <a:rPr sz="250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3. Research Aims, Objectives &amp; Hypotheses</a:t>
            </a:r>
            <a:endParaRPr/>
          </a:p>
        </p:txBody>
      </p:sp>
      <p:cxnSp>
        <p:nvCxnSpPr>
          <p:cNvPr id="151" name="Google Shape;140;p7"/>
          <p:cNvCxnSpPr/>
          <p:nvPr/>
        </p:nvCxnSpPr>
        <p:spPr>
          <a:xfrm xmlns:a="http://schemas.openxmlformats.org/drawingml/2006/main" rot="10800000">
            <a:off x="525162" y="1563130"/>
            <a:ext cx="8408773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dk1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1" name="Google Shape;141;p7">
            <a:extLst xmlns:a="http://schemas.openxmlformats.org/drawingml/2006/main">
              <a:ext uri="{FF2B5EF4-FFF2-40B4-BE49-F238E27FC236}">
                <a16:creationId xmlns:a16="http://schemas.microsoft.com/office/drawing/2014/main" id="{E9535E33-3989-4883-B675-6F215FA4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"/>
            <a:ext cx="2926080" cy="25603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D4ED8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CHAPTER 1: AIMS &amp; OBJECTIVES</a:t>
            </a:r>
            <a:endParaRPr/>
          </a:p>
        </p:txBody>
      </p:sp>
      <p:sp>
        <p:nvSpPr>
          <p:cNvPr id="142" name="Google Shape;142;p7">
            <a:extLst xmlns:a="http://schemas.openxmlformats.org/drawingml/2006/main">
              <a:ext uri="{FF2B5EF4-FFF2-40B4-BE49-F238E27FC236}">
                <a16:creationId xmlns:a16="http://schemas.microsoft.com/office/drawing/2014/main" id="{D8A9ACC5-8CBE-429B-86AD-940ECF12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0"/>
            <a:ext cx="5303520" cy="448056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0478">
            <a:solidFill>
              <a:srgbClr val="CBD5E1"/>
            </a:solidFill>
            <a:prstDash val="solid"/>
            <a:headEnd type="none" w="sm" len="sm"/>
            <a:tailEnd type="non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spcFirstLastPara="1" wrap="square" lIns="228600" tIns="182875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u="none" cap="non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</a:rPr>
              <a:t>OVERARCHING PROJECT AIM</a:t>
            </a:r>
            <a:endParaRPr sz="1600"/>
          </a:p>
          <a:p xmlns:a="http://schemas.openxmlformats.org/drawingml/2006/main">
            <a:pPr marL="0" marR="0" lv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sz="1300" b="1" i="0" u="none" cap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To design, develop, and empirically evaluate a privacy-preserving browser extension that promotes digital wellbeing and time awareness through real-time tracking, productivity analytics, and focus management.</a:t>
            </a:r>
            <a:endParaRPr sz="1600"/>
          </a:p>
          <a:p xmlns:a="http://schemas.openxmlformats.org/drawingml/2006/main">
            <a:pPr marL="0" marR="0" lv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u="none" cap="non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</a:rPr>
              <a:t>CENTRAL RESEARCH QUESTION</a:t>
            </a:r>
            <a:endParaRPr sz="1600"/>
          </a:p>
          <a:p xmlns:a="http://schemas.openxmlformats.org/drawingml/2006/main">
            <a:pPr marL="0" marR="0" lv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sz="1300" b="0" i="0" u="none" cap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Can a browser extension combining automated time tracking, visual analytics, and focus management improve users' awareness of digital habits and reduce online distractions without compromising privacy?</a:t>
            </a:r>
            <a:endParaRPr sz="1600"/>
          </a:p>
          <a:p xmlns:a="http://schemas.openxmlformats.org/drawingml/2006/main">
            <a:pPr marL="0" marR="0" lv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u="none" cap="non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</a:rPr>
              <a:t>FORMAL RESEARCH HYPOTHESES</a:t>
            </a:r>
            <a:endParaRPr sz="1600"/>
          </a:p>
          <a:p xmlns:a="http://schemas.openxmlformats.org/drawingml/2006/main">
            <a:pPr marL="0" marR="0" lv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sz="1300" b="0" i="0" u="none" cap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• H1: Active monitoring via automated tracking and visual feedback significantly improves temporal awareness and personal self-regulation.</a:t>
            </a:r>
            <a:endParaRPr sz="1600"/>
          </a:p>
          <a:p xmlns:a="http://schemas.openxmlformats.org/drawingml/2006/main">
            <a:pPr marL="0" marR="0" lv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sz="1300" b="0" i="0" u="none" cap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• H2: Dynamic focus sessions with non-coercive redirection significantly reduce distraction-related interruptions during focused tasks.</a:t>
            </a:r>
            <a:endParaRPr sz="1600"/>
          </a:p>
        </p:txBody>
      </p:sp>
      <p:pic>
        <p:nvPicPr>
          <p:cNvPr id="154" name="Google Shape;143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24e5a9efe9344a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126480" y="2065932"/>
            <a:ext cx="5212082" cy="2909069"/>
          </a:xfrm>
          <a:prstGeom xmlns:a="http://schemas.openxmlformats.org/drawingml/2006/main" prst="roundRect">
            <a:avLst>
              <a:gd name="adj" fmla="val 4584"/>
            </a:avLst>
          </a:prstGeom>
          <a:ln xmlns:a="http://schemas.openxmlformats.org/drawingml/2006/main">
            <a:noFill/>
          </a:ln>
        </p:spPr>
      </p:pic>
      <p:sp>
        <p:nvSpPr>
          <p:cNvPr id="144" name="Google Shape;144;p7">
            <a:extLst xmlns:a="http://schemas.openxmlformats.org/drawingml/2006/main">
              <a:ext uri="{FF2B5EF4-FFF2-40B4-BE49-F238E27FC236}">
                <a16:creationId xmlns:a16="http://schemas.microsoft.com/office/drawing/2014/main" id="{84B0507C-43C1-4698-9113-ACA326B0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5120640"/>
            <a:ext cx="521208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cap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Figure 1.2: Project Main Aim and Core Research Objectives Framework</a:t>
            </a:r>
            <a:endParaRPr/>
          </a:p>
        </p:txBody>
      </p:sp>
      <p:sp>
        <p:nvSpPr>
          <p:cNvPr id="146" name="title-accent-7">
            <a:extLst xmlns:a="http://schemas.openxmlformats.org/drawingml/2006/main">
              <a:ext uri="{FF2B5EF4-FFF2-40B4-BE49-F238E27FC236}">
                <a16:creationId xmlns:a16="http://schemas.microsoft.com/office/drawing/2014/main" id="{1CE0C4FE-38AD-48C7-AD16-3BE5FA94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52575"/>
            <a:ext cx="1714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51D1A900-55EE-488B-8F74-C8A67B4B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7F5"/>
            </a:solidFill>
            <a:prstDash val="solid"/>
          </a:ln>
        </p:spPr>
      </p:sp>
      <p:sp>
        <p:nvSpPr>
          <p:cNvPr id="148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1CED657D-9B05-4356-80B7-59C11135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defRPr>
            </a:pPr>
            <a:r>
              <a:rPr sz="750" b="1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TAB TIME  •  TECHNICAL VIVA VOCE</a:t>
            </a:r>
          </a:p>
        </p:txBody>
      </p:sp>
      <p:sp>
        <p:nvSpPr>
          <p:cNvPr id="149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4DACA73F-642C-4FBF-85E4-4D6BBEFB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391275"/>
            <a:ext cx="7620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>
            <a:normAutofit fontScale="7320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defRPr>
            </a:pPr>
            <a:r>
              <a:rPr sz="7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07 / 21</a:t>
            </a:r>
          </a:p>
        </p:txBody>
      </p:sp>
    </p:spTree>
    <p:extLst>
      <p:ext uri="{BB962C8B-B14F-4D97-AF65-F5344CB8AC3E}">
        <p14:creationId xmlns:p14="http://schemas.microsoft.com/office/powerpoint/2010/main" val="735079945"/>
      </p:ext>
    </p:extLst>
  </p:cSld>
  <p:transition spd="med" advClick="1">
    <p:fade/>
  </p:transition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3c5d60c545634d5d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9" name="Google Shape;149;p8">
            <a:extLst xmlns:a="http://schemas.openxmlformats.org/drawingml/2006/main">
              <a:ext uri="{FF2B5EF4-FFF2-40B4-BE49-F238E27FC236}">
                <a16:creationId xmlns:a16="http://schemas.microsoft.com/office/drawing/2014/main" id="{DE0B0997-1DBC-4C2F-AFFC-99A2D3A85A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0427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00"/>
              <a:buFont typeface="Quattrocento Sans"/>
              <a:buNone/>
            </a:pPr>
            <a:r>
              <a:rPr sz="250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4. Literature Review &amp; Comparative Analysis</a:t>
            </a:r>
            <a:endParaRPr/>
          </a:p>
        </p:txBody>
      </p:sp>
      <p:cxnSp>
        <p:nvCxnSpPr>
          <p:cNvPr id="159" name="Google Shape;150;p8"/>
          <p:cNvCxnSpPr/>
          <p:nvPr/>
        </p:nvCxnSpPr>
        <p:spPr>
          <a:xfrm xmlns:a="http://schemas.openxmlformats.org/drawingml/2006/main" rot="10800000">
            <a:off x="525162" y="1563130"/>
            <a:ext cx="8408773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dk1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51" name="Google Shape;151;p8">
            <a:extLst xmlns:a="http://schemas.openxmlformats.org/drawingml/2006/main">
              <a:ext uri="{FF2B5EF4-FFF2-40B4-BE49-F238E27FC236}">
                <a16:creationId xmlns:a16="http://schemas.microsoft.com/office/drawing/2014/main" id="{B290DAE8-9AC0-4C53-8B95-1E9ECCCD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"/>
            <a:ext cx="2926080" cy="25603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D4ED8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CHAPTER 2: LITERATURE REVIEW</a:t>
            </a:r>
            <a:endParaRPr/>
          </a:p>
        </p:txBody>
      </p:sp>
      <p:sp>
        <p:nvSpPr>
          <p:cNvPr id="152" name="Google Shape;152;p8">
            <a:extLst xmlns:a="http://schemas.openxmlformats.org/drawingml/2006/main">
              <a:ext uri="{FF2B5EF4-FFF2-40B4-BE49-F238E27FC236}">
                <a16:creationId xmlns:a16="http://schemas.microsoft.com/office/drawing/2014/main" id="{A21E1D64-154D-4D1C-9B5F-BE7701B5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0"/>
            <a:ext cx="10515600" cy="11887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0478">
            <a:solidFill>
              <a:srgbClr val="CBD5E1"/>
            </a:solidFill>
            <a:prstDash val="solid"/>
            <a:headEnd type="none" w="sm" len="sm"/>
            <a:tailEnd type="non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spcFirstLastPara="1" wrap="square" lIns="228600" tIns="109725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</a:rPr>
              <a:t>THEORETICAL FOUNDATIONS &amp; HCI FRAMEWORKS</a:t>
            </a:r>
            <a:endParaRPr/>
          </a:p>
          <a:p xmlns:a="http://schemas.openxmlformats.org/drawingml/2006/main">
            <a:pPr marL="0" marR="0" lv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• Grounded in Self-Regulation Theory (Bandura, 1991), Attention Restoration Theory (Kaplan, 1995), and Cognitive Load Theory (Sweller, 1988).</a:t>
            </a:r>
            <a:br/>
            <a:r>
              <a:rPr sz="1100" b="0" i="0" u="none" cap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• Manifest V3 Paradigm Shift: Chrome MV3 enforces service workers, declarativeNetRequest, and eliminates arbitrary remote code execution, demanding a radical overhaul of extension design.</a:t>
            </a:r>
            <a:endParaRPr/>
          </a:p>
        </p:txBody>
      </p:sp>
      <p:graphicFrame>
        <p:nvGraphicFramePr>
          <p:cNvPr id="162" name="Google Shape;153;p8"/>
          <p:cNvGraphicFramePr/>
          <p:nvPr/>
        </p:nvGraphicFramePr>
        <p:xfrm>
          <a:off xmlns:a="http://schemas.openxmlformats.org/drawingml/2006/main" x="548640" y="301752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{624C1415-A2C4-47E8-B1D3-24CC03D68F18}</a:tableStyleId>
              </a:tblPr>
              <a:tblGrid>
                <a:gridCol w="2286000"/>
                <a:gridCol w="1828800"/>
                <a:gridCol w="1645925"/>
                <a:gridCol w="1554475"/>
                <a:gridCol w="1645925"/>
                <a:gridCol w="1554475"/>
              </a:tblGrid>
              <a:tr h="518150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u="none" cap="non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Evaluation Metric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u="none" cap="non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TabTime (Ours)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u="none" cap="non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RescueTime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u="none" cap="non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Toggl Track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u="none" cap="non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StayFocusd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u="none" cap="non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Forest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0F172A"/>
                    </a:solidFill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 u="none" cap="non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</a:rPr>
                        <a:t>100% Local Privacy (No Cloud)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 u="none" cap="none">
                          <a:solidFill>
                            <a:srgbClr val="1D4ED8"/>
                          </a:solidFill>
                          <a:latin typeface="Calibri"/>
                          <a:ea typeface="Calibri"/>
                          <a:cs typeface="Calibri"/>
                        </a:rPr>
                        <a:t>✔ Yes (IndexedDB)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u="none" cap="non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</a:rPr>
                        <a:t>✖ No (Remote Cloud)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u="none" cap="non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</a:rPr>
                        <a:t>✖ No (Remote Cloud)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u="none" cap="none">
                          <a:solidFill>
                            <a:srgbClr val="059669"/>
                          </a:solidFill>
                          <a:latin typeface="Calibri"/>
                          <a:ea typeface="Calibri"/>
                          <a:cs typeface="Calibri"/>
                        </a:rPr>
                        <a:t>✔ Yes (Local Storage)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u="none" cap="non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</a:rPr>
                        <a:t>✖ No (Cloud Sync)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8FAFC"/>
                    </a:solidFill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 u="none" cap="non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</a:rPr>
                        <a:t>Real-Time Productivity Score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 u="none" cap="none">
                          <a:solidFill>
                            <a:srgbClr val="1D4ED8"/>
                          </a:solidFill>
                          <a:latin typeface="Calibri"/>
                          <a:ea typeface="Calibri"/>
                          <a:cs typeface="Calibri"/>
                        </a:rPr>
                        <a:t>✔ Instant Formula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u="none" cap="none">
                          <a:solidFill>
                            <a:srgbClr val="059669"/>
                          </a:solidFill>
                          <a:latin typeface="Calibri"/>
                          <a:ea typeface="Calibri"/>
                          <a:cs typeface="Calibri"/>
                        </a:rPr>
                        <a:t>✔ Proprietary Cloud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u="none" cap="non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</a:rPr>
                        <a:t>✖ None (Manual)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u="none" cap="non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</a:rPr>
                        <a:t>✖ None (Limit Only)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u="none" cap="non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</a:rPr>
                        <a:t>✖ Gamified Tree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 u="none" cap="non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</a:rPr>
                        <a:t>Modern Manifest V3 Support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 u="none" cap="none">
                          <a:solidFill>
                            <a:srgbClr val="1D4ED8"/>
                          </a:solidFill>
                          <a:latin typeface="Calibri"/>
                          <a:ea typeface="Calibri"/>
                          <a:cs typeface="Calibri"/>
                        </a:rPr>
                        <a:t>✔ Native MV3 Engine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u="none" cap="non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</a:rPr>
                        <a:t>✖ Legacy MV2 Script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u="none" cap="non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</a:rPr>
                        <a:t>✖ Web / Desktop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u="none" cap="non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</a:rPr>
                        <a:t>✖ Legacy MV2 Extension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u="none" cap="non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</a:rPr>
                        <a:t>✖ Mobile App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8FAFC"/>
                    </a:solidFill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 u="none" cap="non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</a:rPr>
                        <a:t>Dynamic Rule Redirection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 u="none" cap="none">
                          <a:solidFill>
                            <a:srgbClr val="1D4ED8"/>
                          </a:solidFill>
                          <a:latin typeface="Calibri"/>
                          <a:ea typeface="Calibri"/>
                          <a:cs typeface="Calibri"/>
                        </a:rPr>
                        <a:t>✔ declarativeNetRequest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u="none" cap="non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</a:rPr>
                        <a:t>✖ Hard Blocking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u="none" cap="non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</a:rPr>
                        <a:t>✖ None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u="none" cap="none">
                          <a:solidFill>
                            <a:srgbClr val="059669"/>
                          </a:solidFill>
                          <a:latin typeface="Calibri"/>
                          <a:ea typeface="Calibri"/>
                          <a:cs typeface="Calibri"/>
                        </a:rPr>
                        <a:t>✔ DOM Blocking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u="none" cap="non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</a:rPr>
                        <a:t>✖ App Locking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 u="none" cap="non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</a:rPr>
                        <a:t>Cost &amp; Open Source License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 u="none" cap="none">
                          <a:solidFill>
                            <a:srgbClr val="1D4ED8"/>
                          </a:solidFill>
                          <a:latin typeface="Calibri"/>
                          <a:ea typeface="Calibri"/>
                          <a:cs typeface="Calibri"/>
                        </a:rPr>
                        <a:t>✔ 100% Free &amp; Open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u="none" cap="non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</a:rPr>
                        <a:t>✖ Paid Sub ($12/mo)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u="none" cap="non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</a:rPr>
                        <a:t>✖ Paid Sub ($9/mo)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u="none" cap="none">
                          <a:solidFill>
                            <a:srgbClr val="059669"/>
                          </a:solidFill>
                          <a:latin typeface="Calibri"/>
                          <a:ea typeface="Calibri"/>
                          <a:cs typeface="Calibri"/>
                        </a:rPr>
                        <a:t>✔ Free / Proprietary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u="none" cap="non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</a:rPr>
                        <a:t>✖ Freemium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54" name="title-accent-8">
            <a:extLst xmlns:a="http://schemas.openxmlformats.org/drawingml/2006/main">
              <a:ext uri="{FF2B5EF4-FFF2-40B4-BE49-F238E27FC236}">
                <a16:creationId xmlns:a16="http://schemas.microsoft.com/office/drawing/2014/main" id="{DF31A872-F98F-4FD4-8BB0-96805948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52575"/>
            <a:ext cx="1714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46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F0FD9617-979C-46C9-BD7C-2D36A18C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7F5"/>
            </a:solidFill>
            <a:prstDash val="solid"/>
          </a:ln>
        </p:spPr>
      </p:sp>
      <p:sp>
        <p:nvSpPr>
          <p:cNvPr id="156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A35C8B63-5881-4D62-B6A6-A7C68ABC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defRPr>
            </a:pPr>
            <a:r>
              <a:rPr sz="750" b="1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TAB TIME  •  TECHNICAL VIVA VOCE</a:t>
            </a:r>
          </a:p>
        </p:txBody>
      </p:sp>
      <p:sp>
        <p:nvSpPr>
          <p:cNvPr id="157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C52F3295-6E44-4F09-9C43-67F1AD49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391275"/>
            <a:ext cx="7620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4F46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>
            <a:normAutofit fontScale="7320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defRPr>
            </a:pPr>
            <a:r>
              <a:rPr sz="7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08 / 21</a:t>
            </a:r>
          </a:p>
        </p:txBody>
      </p:sp>
    </p:spTree>
    <p:extLst>
      <p:ext uri="{BB962C8B-B14F-4D97-AF65-F5344CB8AC3E}">
        <p14:creationId xmlns:p14="http://schemas.microsoft.com/office/powerpoint/2010/main" val="1626308738"/>
      </p:ext>
    </p:extLst>
  </p:cSld>
  <p:transition spd="med" advClick="1">
    <p:fade/>
  </p:transition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7c066201aae34a1a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8" name="Google Shape;158;p9">
            <a:extLst xmlns:a="http://schemas.openxmlformats.org/drawingml/2006/main">
              <a:ext uri="{FF2B5EF4-FFF2-40B4-BE49-F238E27FC236}">
                <a16:creationId xmlns:a16="http://schemas.microsoft.com/office/drawing/2014/main" id="{53463549-2BF5-4BFE-8EC0-9CE0692C65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0427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00"/>
              <a:buFont typeface="Quattrocento Sans"/>
              <a:buNone/>
            </a:pPr>
            <a:r>
              <a:rPr sz="250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5. Design Science Methodology &amp; Architecture</a:t>
            </a:r>
            <a:endParaRPr/>
          </a:p>
        </p:txBody>
      </p:sp>
      <p:cxnSp>
        <p:nvCxnSpPr>
          <p:cNvPr id="170" name="Google Shape;159;p9"/>
          <p:cNvCxnSpPr/>
          <p:nvPr/>
        </p:nvCxnSpPr>
        <p:spPr>
          <a:xfrm xmlns:a="http://schemas.openxmlformats.org/drawingml/2006/main" rot="10800000">
            <a:off x="525162" y="1563130"/>
            <a:ext cx="8408773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dk1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60" name="Google Shape;160;p9">
            <a:extLst xmlns:a="http://schemas.openxmlformats.org/drawingml/2006/main">
              <a:ext uri="{FF2B5EF4-FFF2-40B4-BE49-F238E27FC236}">
                <a16:creationId xmlns:a16="http://schemas.microsoft.com/office/drawing/2014/main" id="{D17CE97C-9D14-4BE1-AC14-01EF11B5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"/>
            <a:ext cx="2926080" cy="25603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D4ED8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CHAPTER 4 &amp; 5: METHODOLOGY</a:t>
            </a:r>
            <a:endParaRPr/>
          </a:p>
        </p:txBody>
      </p:sp>
      <p:sp>
        <p:nvSpPr>
          <p:cNvPr id="161" name="Google Shape;161;p9">
            <a:extLst xmlns:a="http://schemas.openxmlformats.org/drawingml/2006/main">
              <a:ext uri="{FF2B5EF4-FFF2-40B4-BE49-F238E27FC236}">
                <a16:creationId xmlns:a16="http://schemas.microsoft.com/office/drawing/2014/main" id="{DD3EB636-B6CA-4C9A-9727-8C448131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0"/>
            <a:ext cx="5303520" cy="448056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0478">
            <a:solidFill>
              <a:srgbClr val="CBD5E1"/>
            </a:solidFill>
            <a:prstDash val="solid"/>
            <a:headEnd type="none" w="sm" len="sm"/>
            <a:tailEnd type="non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spcFirstLastPara="1" wrap="square" lIns="228600" tIns="182875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u="none" cap="non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</a:rPr>
              <a:t>DESIGN SCIENCE RESEARCH (DSR) PARADIGM</a:t>
            </a:r>
            <a:endParaRPr sz="1600"/>
          </a:p>
          <a:p xmlns:a="http://schemas.openxmlformats.org/drawingml/2006/main">
            <a:pPr marL="0" marR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1300" b="0" i="0" u="none" cap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• DSR Framework (Hevner et al., 2004): Structured iterative engineering consisting of problem identification, artifact design, laboratory testing, and empirical evaluation.</a:t>
            </a:r>
            <a:endParaRPr sz="1600"/>
          </a:p>
          <a:p xmlns:a="http://schemas.openxmlformats.org/drawingml/2006/main">
            <a:pPr marL="0" marR="0" lvl="0" indent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u="none" cap="non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</a:rPr>
              <a:t>THREE-LAYER SYSTEM ARCHITECTURE</a:t>
            </a:r>
            <a:endParaRPr sz="1600"/>
          </a:p>
          <a:p xmlns:a="http://schemas.openxmlformats.org/drawingml/2006/main">
            <a:pPr marL="0" marR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1300" b="0" i="0" u="none" cap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1. Presentation Layer: Clean UI popup (`popup.html`), full-screen analytics dashboard (`dashboard.html`), and rule configuration view (`settings.html`).</a:t>
            </a:r>
            <a:endParaRPr sz="1600"/>
          </a:p>
          <a:p xmlns:a="http://schemas.openxmlformats.org/drawingml/2006/main">
            <a:pPr marL="0" marR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1300" b="0" i="0" u="none" cap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2. Logic Engine Layer: Manifest V3 background service worker (`background.js`), window focus tracking, tab lifecycle listener, and idle debounce detector.</a:t>
            </a:r>
            <a:endParaRPr sz="1600"/>
          </a:p>
          <a:p xmlns:a="http://schemas.openxmlformats.org/drawingml/2006/main">
            <a:pPr marL="0" marR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1300" b="0" i="0" u="none" cap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3. Local Data Persistence Layer: Client-side storage abstraction (`storage.js`) backed by browser IndexedDB and `chrome.storage.local`.</a:t>
            </a:r>
            <a:endParaRPr sz="1600"/>
          </a:p>
        </p:txBody>
      </p:sp>
      <p:pic>
        <p:nvPicPr>
          <p:cNvPr id="173" name="Google Shape;162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95d780b4f2b47b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97780" y="2105045"/>
            <a:ext cx="5212082" cy="2909069"/>
          </a:xfrm>
          <a:prstGeom xmlns:a="http://schemas.openxmlformats.org/drawingml/2006/main" prst="roundRect">
            <a:avLst>
              <a:gd name="adj" fmla="val 4584"/>
            </a:avLst>
          </a:prstGeom>
          <a:ln xmlns:a="http://schemas.openxmlformats.org/drawingml/2006/main">
            <a:noFill/>
          </a:ln>
        </p:spPr>
      </p:pic>
      <p:sp>
        <p:nvSpPr>
          <p:cNvPr id="163" name="Google Shape;163;p9">
            <a:extLst xmlns:a="http://schemas.openxmlformats.org/drawingml/2006/main">
              <a:ext uri="{FF2B5EF4-FFF2-40B4-BE49-F238E27FC236}">
                <a16:creationId xmlns:a16="http://schemas.microsoft.com/office/drawing/2014/main" id="{0AF46488-76A9-41DB-B608-F3DE54AD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5120640"/>
            <a:ext cx="521208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cap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Figure 5.1: Three-Layer System Architecture (Presentation, Logic, Local Storage)</a:t>
            </a:r>
            <a:endParaRPr/>
          </a:p>
        </p:txBody>
      </p:sp>
      <p:sp>
        <p:nvSpPr>
          <p:cNvPr id="165" name="title-accent-9">
            <a:extLst xmlns:a="http://schemas.openxmlformats.org/drawingml/2006/main">
              <a:ext uri="{FF2B5EF4-FFF2-40B4-BE49-F238E27FC236}">
                <a16:creationId xmlns:a16="http://schemas.microsoft.com/office/drawing/2014/main" id="{E2A326CE-735B-459A-97DD-E6C8FF10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52575"/>
            <a:ext cx="1714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footer-rule-9">
            <a:extLst xmlns:a="http://schemas.openxmlformats.org/drawingml/2006/main">
              <a:ext uri="{FF2B5EF4-FFF2-40B4-BE49-F238E27FC236}">
                <a16:creationId xmlns:a16="http://schemas.microsoft.com/office/drawing/2014/main" id="{1E6E345B-726F-4294-8DAD-9B7DE23A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7F5"/>
            </a:solidFill>
            <a:prstDash val="solid"/>
          </a:ln>
        </p:spPr>
      </p:sp>
      <p:sp>
        <p:nvSpPr>
          <p:cNvPr id="167" name="footer-label-9">
            <a:extLst xmlns:a="http://schemas.openxmlformats.org/drawingml/2006/main">
              <a:ext uri="{FF2B5EF4-FFF2-40B4-BE49-F238E27FC236}">
                <a16:creationId xmlns:a16="http://schemas.microsoft.com/office/drawing/2014/main" id="{27EC7B05-E1D1-4ACE-8A04-8EE83A04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defRPr>
            </a:pPr>
            <a:r>
              <a:rPr sz="750" b="1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TAB TIME  •  TECHNICAL VIVA VOCE</a:t>
            </a:r>
          </a:p>
        </p:txBody>
      </p:sp>
      <p:sp>
        <p:nvSpPr>
          <p:cNvPr id="168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F447DAE7-375F-4F9B-B7F1-2ECE63B0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391275"/>
            <a:ext cx="7620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>
            <a:normAutofit fontScale="7320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defRPr>
            </a:pPr>
            <a:r>
              <a:rPr sz="7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09 / 21</a:t>
            </a:r>
          </a:p>
        </p:txBody>
      </p:sp>
    </p:spTree>
    <p:extLst>
      <p:ext uri="{BB962C8B-B14F-4D97-AF65-F5344CB8AC3E}">
        <p14:creationId xmlns:p14="http://schemas.microsoft.com/office/powerpoint/2010/main" val="666994137"/>
      </p:ext>
    </p:extLst>
  </p:cSld>
  <p:transition spd="med" advClick="1">
    <p:fade/>
  </p:transition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ac78742830ac4f61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8" name="Google Shape;168;p10">
            <a:extLst xmlns:a="http://schemas.openxmlformats.org/drawingml/2006/main">
              <a:ext uri="{FF2B5EF4-FFF2-40B4-BE49-F238E27FC236}">
                <a16:creationId xmlns:a16="http://schemas.microsoft.com/office/drawing/2014/main" id="{1BE5609F-8A89-4575-9B44-B925F15ED4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0427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00"/>
              <a:buFont typeface="Quattrocento Sans"/>
              <a:buNone/>
            </a:pPr>
            <a:r>
              <a:rPr sz="250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6. Data Collection Process &amp; Telemetry Pipeline</a:t>
            </a:r>
            <a:endParaRPr/>
          </a:p>
        </p:txBody>
      </p:sp>
      <p:cxnSp>
        <p:nvCxnSpPr>
          <p:cNvPr id="180" name="Google Shape;169;p10"/>
          <p:cNvCxnSpPr/>
          <p:nvPr/>
        </p:nvCxnSpPr>
        <p:spPr>
          <a:xfrm xmlns:a="http://schemas.openxmlformats.org/drawingml/2006/main" rot="10800000">
            <a:off x="525162" y="1563130"/>
            <a:ext cx="8408773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dk1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70" name="Google Shape;170;p10">
            <a:extLst xmlns:a="http://schemas.openxmlformats.org/drawingml/2006/main">
              <a:ext uri="{FF2B5EF4-FFF2-40B4-BE49-F238E27FC236}">
                <a16:creationId xmlns:a16="http://schemas.microsoft.com/office/drawing/2014/main" id="{BFDF77C4-7A0C-41E2-BCB7-C29D00B6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"/>
            <a:ext cx="2926080" cy="25603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D4ED8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CHAPTER 4: DATA COLLECTION</a:t>
            </a:r>
            <a:endParaRPr/>
          </a:p>
        </p:txBody>
      </p:sp>
      <p:sp>
        <p:nvSpPr>
          <p:cNvPr id="171" name="Google Shape;171;p10">
            <a:extLst xmlns:a="http://schemas.openxmlformats.org/drawingml/2006/main">
              <a:ext uri="{FF2B5EF4-FFF2-40B4-BE49-F238E27FC236}">
                <a16:creationId xmlns:a16="http://schemas.microsoft.com/office/drawing/2014/main" id="{8AB564F2-AA39-4760-8654-FCF70125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0"/>
            <a:ext cx="5303520" cy="448056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0478">
            <a:solidFill>
              <a:srgbClr val="CBD5E1"/>
            </a:solidFill>
            <a:prstDash val="solid"/>
            <a:headEnd type="none" w="sm" len="sm"/>
            <a:tailEnd type="non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spcFirstLastPara="1" wrap="square" lIns="228600" tIns="182875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 cap="non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</a:rPr>
              <a:t>DUAL-STREAM EVALUATION STRATEGY</a:t>
            </a:r>
            <a:endParaRPr sz="1700"/>
          </a:p>
          <a:p xmlns:a="http://schemas.openxmlformats.org/drawingml/2006/main">
            <a:pPr marL="0" marR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u="none" cap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• Stream 1: Automated Client-Side Telemetry: Captures active tab timestamps, window focus events, and domain transitions with a 60-second idle debounce threshold.</a:t>
            </a:r>
            <a:endParaRPr sz="1700"/>
          </a:p>
          <a:p xmlns:a="http://schemas.openxmlformats.org/drawingml/2006/main">
            <a:pPr marL="0" marR="0" lvl="0" indent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u="none" cap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• Stream 2: Google Forms Empirical Study: Comprehensive 25-question survey capturing user demographics, 10-item System Usability Scale (SUS), feature ratings, and behavioral impact.</a:t>
            </a:r>
            <a:endParaRPr sz="1700"/>
          </a:p>
          <a:p xmlns:a="http://schemas.openxmlformats.org/drawingml/2006/main">
            <a:pPr marL="0" marR="0" lvl="0" indent="0" algn="l">
              <a:spcBef>
                <a:spcPts val="800"/>
              </a:spcBef>
              <a:spcAft>
                <a:spcPts val="0"/>
              </a:spcAft>
              <a:buNone/>
            </a:pPr>
            <a:r>
              <a:rPr sz="1500" b="1" i="0" u="none" cap="non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</a:rPr>
              <a:t>PARTICIPANT COHORT DEMOGRAPHICS (n = 65)</a:t>
            </a:r>
            <a:endParaRPr sz="1700"/>
          </a:p>
          <a:p xmlns:a="http://schemas.openxmlformats.org/drawingml/2006/main">
            <a:pPr marL="0" marR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u="none" cap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• Undergraduate Students: 47.7% (31 participants)</a:t>
            </a:r>
            <a:br/>
            <a:r>
              <a:rPr b="0" i="0" u="none" cap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• Knowledge Workers &amp; Professionals: 27.7% (18 participants)</a:t>
            </a:r>
            <a:br/>
            <a:r>
              <a:rPr b="0" i="0" u="none" cap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• Postgraduate Researchers: 10.8% (7 participants)</a:t>
            </a:r>
            <a:br/>
            <a:r>
              <a:rPr b="0" i="0" u="none" cap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• Academic Faculty: 13.8% (9 participants)</a:t>
            </a:r>
            <a:br/>
            <a:r>
              <a:rPr b="0" i="0" u="none" cap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• Browser Distribution: Google Chrome (78.5%), Brave (10.8%), Edge (6.2%), Firefox (4.6%).</a:t>
            </a:r>
            <a:endParaRPr sz="1700"/>
          </a:p>
        </p:txBody>
      </p:sp>
      <p:pic>
        <p:nvPicPr>
          <p:cNvPr id="183" name="Google Shape;172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599d01495b54df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126480" y="1645920"/>
            <a:ext cx="5212080" cy="2509587"/>
          </a:xfrm>
          <a:prstGeom xmlns:a="http://schemas.openxmlformats.org/drawingml/2006/main" prst="roundRect">
            <a:avLst>
              <a:gd name="adj" fmla="val 5314"/>
            </a:avLst>
          </a:prstGeom>
          <a:ln xmlns:a="http://schemas.openxmlformats.org/drawingml/2006/main">
            <a:noFill/>
          </a:ln>
        </p:spPr>
      </p:pic>
      <p:sp>
        <p:nvSpPr>
          <p:cNvPr id="173" name="Google Shape;173;p10">
            <a:extLst xmlns:a="http://schemas.openxmlformats.org/drawingml/2006/main">
              <a:ext uri="{FF2B5EF4-FFF2-40B4-BE49-F238E27FC236}">
                <a16:creationId xmlns:a16="http://schemas.microsoft.com/office/drawing/2014/main" id="{E04DE438-BFE1-4EA4-8E1F-F0C04F81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5120640"/>
            <a:ext cx="521208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cap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Figure 6.1: Google Forms Evaluation Participant Demographic Profile (n = 65)</a:t>
            </a:r>
            <a:endParaRPr/>
          </a:p>
        </p:txBody>
      </p:sp>
      <p:sp>
        <p:nvSpPr>
          <p:cNvPr id="175" name="title-accent-10">
            <a:extLst xmlns:a="http://schemas.openxmlformats.org/drawingml/2006/main">
              <a:ext uri="{FF2B5EF4-FFF2-40B4-BE49-F238E27FC236}">
                <a16:creationId xmlns:a16="http://schemas.microsoft.com/office/drawing/2014/main" id="{3B474C37-3973-4345-97FD-1BA41E39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52575"/>
            <a:ext cx="1714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footer-rule-10">
            <a:extLst xmlns:a="http://schemas.openxmlformats.org/drawingml/2006/main">
              <a:ext uri="{FF2B5EF4-FFF2-40B4-BE49-F238E27FC236}">
                <a16:creationId xmlns:a16="http://schemas.microsoft.com/office/drawing/2014/main" id="{25707EB6-AC66-43DC-91EA-044B1FA9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7F5"/>
            </a:solidFill>
            <a:prstDash val="solid"/>
          </a:ln>
        </p:spPr>
      </p:sp>
      <p:sp>
        <p:nvSpPr>
          <p:cNvPr id="177" name="footer-label-10">
            <a:extLst xmlns:a="http://schemas.openxmlformats.org/drawingml/2006/main">
              <a:ext uri="{FF2B5EF4-FFF2-40B4-BE49-F238E27FC236}">
                <a16:creationId xmlns:a16="http://schemas.microsoft.com/office/drawing/2014/main" id="{81FE4D65-187D-49C1-97E6-6B116D45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defRPr>
            </a:pPr>
            <a:r>
              <a:rPr sz="750" b="1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TAB TIME  •  TECHNICAL VIVA VOCE</a:t>
            </a:r>
          </a:p>
        </p:txBody>
      </p:sp>
      <p:sp>
        <p:nvSpPr>
          <p:cNvPr id="178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8B2C655B-C6B3-4B02-B60C-2A5F48E3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391275"/>
            <a:ext cx="7620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>
            <a:normAutofit fontScale="7320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defRPr>
            </a:pPr>
            <a:r>
              <a:rPr sz="7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10 / 21</a:t>
            </a:r>
          </a:p>
        </p:txBody>
      </p:sp>
    </p:spTree>
    <p:extLst>
      <p:ext uri="{BB962C8B-B14F-4D97-AF65-F5344CB8AC3E}">
        <p14:creationId xmlns:p14="http://schemas.microsoft.com/office/powerpoint/2010/main" val="1159782403"/>
      </p:ext>
    </p:extLst>
  </p:cSld>
  <p:transition spd="med" advClick="1">
    <p:fade/>
  </p:transition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ff5aca0678b24ca3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8" name="Google Shape;178;p11">
            <a:extLst xmlns:a="http://schemas.openxmlformats.org/drawingml/2006/main">
              <a:ext uri="{FF2B5EF4-FFF2-40B4-BE49-F238E27FC236}">
                <a16:creationId xmlns:a16="http://schemas.microsoft.com/office/drawing/2014/main" id="{B02D703C-68E9-4174-B115-FFE3E2DB71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0427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00"/>
              <a:buFont typeface="Quattrocento Sans"/>
              <a:buNone/>
            </a:pPr>
            <a:r>
              <a:rPr sz="250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7. Results Presentation: Usability &amp; Feature Ratings</a:t>
            </a:r>
            <a:endParaRPr/>
          </a:p>
        </p:txBody>
      </p:sp>
      <p:cxnSp>
        <p:nvCxnSpPr>
          <p:cNvPr id="193" name="Google Shape;179;p11"/>
          <p:cNvCxnSpPr/>
          <p:nvPr/>
        </p:nvCxnSpPr>
        <p:spPr>
          <a:xfrm xmlns:a="http://schemas.openxmlformats.org/drawingml/2006/main" rot="10800000">
            <a:off x="525162" y="1563130"/>
            <a:ext cx="8408773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dk1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80" name="Google Shape;180;p11">
            <a:extLst xmlns:a="http://schemas.openxmlformats.org/drawingml/2006/main">
              <a:ext uri="{FF2B5EF4-FFF2-40B4-BE49-F238E27FC236}">
                <a16:creationId xmlns:a16="http://schemas.microsoft.com/office/drawing/2014/main" id="{25E8A5C0-8C96-4667-8F9B-54337E6F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"/>
            <a:ext cx="2926080" cy="25603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D4ED8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CHAPTER 6: RESULTS</a:t>
            </a:r>
            <a:endParaRPr/>
          </a:p>
        </p:txBody>
      </p:sp>
      <p:sp>
        <p:nvSpPr>
          <p:cNvPr id="181" name="Google Shape;181;p11">
            <a:extLst xmlns:a="http://schemas.openxmlformats.org/drawingml/2006/main">
              <a:ext uri="{FF2B5EF4-FFF2-40B4-BE49-F238E27FC236}">
                <a16:creationId xmlns:a16="http://schemas.microsoft.com/office/drawing/2014/main" id="{147B2376-534F-431E-A117-800B288D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10515600" cy="7315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D4ED8"/>
          </a:solidFill>
          <a:ln xmlns:a="http://schemas.openxmlformats.org/drawingml/2006/main" w="10478">
            <a:solidFill>
              <a:srgbClr val="CBD5E1"/>
            </a:solidFill>
            <a:prstDash val="solid"/>
            <a:headEnd type="none" w="sm" len="sm"/>
            <a:tailEnd type="non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SYSTEM USABILITY SCALE (SUS) COMPOSITE SCORE: 89.04 / 100  |  GRADE A (TOP 10% PERCENTILE)</a:t>
            </a:r>
            <a:endParaRPr/>
          </a:p>
        </p:txBody>
      </p:sp>
      <p:pic>
        <p:nvPicPr>
          <p:cNvPr id="196" name="Google Shape;182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d06b8e2fe9b42a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32900" y="2547075"/>
            <a:ext cx="5412877" cy="2936774"/>
          </a:xfrm>
          <a:prstGeom xmlns:a="http://schemas.openxmlformats.org/drawingml/2006/main" prst="roundRect">
            <a:avLst>
              <a:gd name="adj" fmla="val 4541"/>
            </a:avLst>
          </a:prstGeom>
          <a:ln xmlns:a="http://schemas.openxmlformats.org/drawingml/2006/main">
            <a:noFill/>
          </a:ln>
        </p:spPr>
      </p:pic>
      <p:sp>
        <p:nvSpPr>
          <p:cNvPr id="183" name="Google Shape;183;p11">
            <a:extLst xmlns:a="http://schemas.openxmlformats.org/drawingml/2006/main">
              <a:ext uri="{FF2B5EF4-FFF2-40B4-BE49-F238E27FC236}">
                <a16:creationId xmlns:a16="http://schemas.microsoft.com/office/drawing/2014/main" id="{5B26E48B-0C59-4DEC-8033-FE4AA333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77840"/>
            <a:ext cx="51206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 cap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Figure 6.2: System Usability Scale (SUS) 10-Item Breakdown (Mean = 89.04)</a:t>
            </a:r>
            <a:endParaRPr/>
          </a:p>
        </p:txBody>
      </p:sp>
      <p:pic>
        <p:nvPicPr>
          <p:cNvPr id="198" name="Google Shape;184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7262150f474468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943600" y="2549051"/>
            <a:ext cx="5412877" cy="2900224"/>
          </a:xfrm>
          <a:prstGeom xmlns:a="http://schemas.openxmlformats.org/drawingml/2006/main" prst="roundRect">
            <a:avLst>
              <a:gd name="adj" fmla="val 4598"/>
            </a:avLst>
          </a:prstGeom>
          <a:ln xmlns:a="http://schemas.openxmlformats.org/drawingml/2006/main">
            <a:noFill/>
          </a:ln>
        </p:spPr>
      </p:pic>
      <p:sp>
        <p:nvSpPr>
          <p:cNvPr id="185" name="Google Shape;185;p11">
            <a:extLst xmlns:a="http://schemas.openxmlformats.org/drawingml/2006/main">
              <a:ext uri="{FF2B5EF4-FFF2-40B4-BE49-F238E27FC236}">
                <a16:creationId xmlns:a16="http://schemas.microsoft.com/office/drawing/2014/main" id="{C6332F18-36B7-4D39-9029-78B7A9D7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577840"/>
            <a:ext cx="51206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 cap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Figure 6.3: Feature Utility &amp; Satisfaction Ratings (Tracking: 95.4%, Focus: 92.3%)</a:t>
            </a:r>
            <a:endParaRPr/>
          </a:p>
        </p:txBody>
      </p:sp>
      <p:sp>
        <p:nvSpPr>
          <p:cNvPr id="188" name="title-accent-11">
            <a:extLst xmlns:a="http://schemas.openxmlformats.org/drawingml/2006/main">
              <a:ext uri="{FF2B5EF4-FFF2-40B4-BE49-F238E27FC236}">
                <a16:creationId xmlns:a16="http://schemas.microsoft.com/office/drawing/2014/main" id="{D577077D-3BCD-4D3B-994A-C18B8EE7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52575"/>
            <a:ext cx="1714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footer-rule-11">
            <a:extLst xmlns:a="http://schemas.openxmlformats.org/drawingml/2006/main">
              <a:ext uri="{FF2B5EF4-FFF2-40B4-BE49-F238E27FC236}">
                <a16:creationId xmlns:a16="http://schemas.microsoft.com/office/drawing/2014/main" id="{38BDD87F-E2FB-43CD-B948-2FFEE4B3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7F5"/>
            </a:solidFill>
            <a:prstDash val="solid"/>
          </a:ln>
        </p:spPr>
      </p:sp>
      <p:sp>
        <p:nvSpPr>
          <p:cNvPr id="190" name="footer-label-11">
            <a:extLst xmlns:a="http://schemas.openxmlformats.org/drawingml/2006/main">
              <a:ext uri="{FF2B5EF4-FFF2-40B4-BE49-F238E27FC236}">
                <a16:creationId xmlns:a16="http://schemas.microsoft.com/office/drawing/2014/main" id="{3F6E16CD-1C5D-40AA-A25C-D6AD1097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defRPr>
            </a:pPr>
            <a:r>
              <a:rPr sz="750" b="1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TAB TIME  •  TECHNICAL VIVA VOCE</a:t>
            </a:r>
          </a:p>
        </p:txBody>
      </p:sp>
      <p:sp>
        <p:nvSpPr>
          <p:cNvPr id="191" name="footer-page-11">
            <a:extLst xmlns:a="http://schemas.openxmlformats.org/drawingml/2006/main">
              <a:ext uri="{FF2B5EF4-FFF2-40B4-BE49-F238E27FC236}">
                <a16:creationId xmlns:a16="http://schemas.microsoft.com/office/drawing/2014/main" id="{B90C6FE8-7A17-491B-8B3B-57E77B48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391275"/>
            <a:ext cx="7620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>
            <a:normAutofit fontScale="7320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defRPr>
            </a:pPr>
            <a:r>
              <a:rPr sz="7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11 / 21</a:t>
            </a:r>
          </a:p>
        </p:txBody>
      </p:sp>
    </p:spTree>
    <p:extLst>
      <p:ext uri="{BB962C8B-B14F-4D97-AF65-F5344CB8AC3E}">
        <p14:creationId xmlns:p14="http://schemas.microsoft.com/office/powerpoint/2010/main" val="921333671"/>
      </p:ext>
    </p:extLst>
  </p:cSld>
  <p:transition spd="med" advClick="1">
    <p:fade/>
  </p:transition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956c2a8e55484a8c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0" name="Google Shape;190;p12">
            <a:extLst xmlns:a="http://schemas.openxmlformats.org/drawingml/2006/main">
              <a:ext uri="{FF2B5EF4-FFF2-40B4-BE49-F238E27FC236}">
                <a16:creationId xmlns:a16="http://schemas.microsoft.com/office/drawing/2014/main" id="{531A5E70-6F33-4468-B1CA-4EB81B012E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0427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00"/>
              <a:buFont typeface="Quattrocento Sans"/>
              <a:buNone/>
            </a:pPr>
            <a:r>
              <a:rPr sz="250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8. Results Analysis &amp; Hypotheses Interpretation</a:t>
            </a:r>
            <a:endParaRPr/>
          </a:p>
        </p:txBody>
      </p:sp>
      <p:cxnSp>
        <p:nvCxnSpPr>
          <p:cNvPr id="202" name="Google Shape;191;p12"/>
          <p:cNvCxnSpPr/>
          <p:nvPr/>
        </p:nvCxnSpPr>
        <p:spPr>
          <a:xfrm xmlns:a="http://schemas.openxmlformats.org/drawingml/2006/main" rot="10800000">
            <a:off x="525162" y="1563130"/>
            <a:ext cx="8408773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dk1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92" name="Google Shape;192;p12">
            <a:extLst xmlns:a="http://schemas.openxmlformats.org/drawingml/2006/main">
              <a:ext uri="{FF2B5EF4-FFF2-40B4-BE49-F238E27FC236}">
                <a16:creationId xmlns:a16="http://schemas.microsoft.com/office/drawing/2014/main" id="{DD0C31A0-903E-429C-8FF0-4C2F603B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"/>
            <a:ext cx="2926080" cy="25603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D4ED8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CHAPTER 6: ANALYSIS</a:t>
            </a:r>
            <a:endParaRPr/>
          </a:p>
        </p:txBody>
      </p:sp>
      <p:sp>
        <p:nvSpPr>
          <p:cNvPr id="193" name="Google Shape;193;p12">
            <a:extLst xmlns:a="http://schemas.openxmlformats.org/drawingml/2006/main">
              <a:ext uri="{FF2B5EF4-FFF2-40B4-BE49-F238E27FC236}">
                <a16:creationId xmlns:a16="http://schemas.microsoft.com/office/drawing/2014/main" id="{52EE97EB-0EC5-4F13-B573-3517B85B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0"/>
            <a:ext cx="5303520" cy="448056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0478">
            <a:solidFill>
              <a:srgbClr val="CBD5E1"/>
            </a:solidFill>
            <a:prstDash val="solid"/>
            <a:headEnd type="none" w="sm" len="sm"/>
            <a:tailEnd type="non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spcFirstLastPara="1" wrap="square" lIns="228600" tIns="182875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 cap="non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</a:rPr>
              <a:t>HYPOTHESES VALIDATION SUMMARY</a:t>
            </a:r>
            <a:endParaRPr sz="1700"/>
          </a:p>
          <a:p xmlns:a="http://schemas.openxmlformats.org/drawingml/2006/main">
            <a:pPr marL="0" marR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u="none" cap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• Hypothesis H1 Confirmed: 95.4% of participants reported heightened awareness of digital habits; 89.2% demonstrated improved self-regulation.</a:t>
            </a:r>
            <a:endParaRPr sz="1700"/>
          </a:p>
          <a:p xmlns:a="http://schemas.openxmlformats.org/drawingml/2006/main">
            <a:pPr marL="0" marR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u="none" cap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• Hypothesis H2 Confirmed: 93.8% reported substantial reduction in distraction interruptions during work and study sessions.</a:t>
            </a:r>
            <a:endParaRPr sz="1700"/>
          </a:p>
          <a:p xmlns:a="http://schemas.openxmlformats.org/drawingml/2006/main">
            <a:pPr marL="0" marR="0" lvl="0" indent="0" algn="l">
              <a:spcBef>
                <a:spcPts val="800"/>
              </a:spcBef>
              <a:spcAft>
                <a:spcPts val="0"/>
              </a:spcAft>
              <a:buNone/>
            </a:pPr>
            <a:r>
              <a:rPr sz="1500" b="1" i="0" u="none" cap="non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</a:rPr>
              <a:t>GROUND-TRUTH STOPWATCH ACCURACY</a:t>
            </a:r>
            <a:endParaRPr sz="1700"/>
          </a:p>
          <a:p xmlns:a="http://schemas.openxmlformats.org/drawingml/2006/main">
            <a:pPr marL="0" marR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u="none" cap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• Timing Precision: Mean deviation of ±1.8 seconds compared to external physical stopwatch benchmarks across 1-hour sessions (99.85% tracking accuracy).</a:t>
            </a:r>
            <a:endParaRPr sz="1700"/>
          </a:p>
          <a:p xmlns:a="http://schemas.openxmlformats.org/drawingml/2006/main">
            <a:pPr marL="0" marR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u="none" cap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• Lightweight System Overhead: Memory consumption stabilized between 14 MB and 22 MB RAM, with &lt;0.5% CPU utilization during background polling.</a:t>
            </a:r>
            <a:endParaRPr sz="1700"/>
          </a:p>
        </p:txBody>
      </p:sp>
      <p:pic>
        <p:nvPicPr>
          <p:cNvPr id="205" name="Google Shape;194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80e79cc4ec242a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126480" y="1645920"/>
            <a:ext cx="5212080" cy="2681323"/>
          </a:xfrm>
          <a:prstGeom xmlns:a="http://schemas.openxmlformats.org/drawingml/2006/main" prst="roundRect">
            <a:avLst>
              <a:gd name="adj" fmla="val 4973"/>
            </a:avLst>
          </a:prstGeom>
          <a:ln xmlns:a="http://schemas.openxmlformats.org/drawingml/2006/main">
            <a:noFill/>
          </a:ln>
        </p:spPr>
      </p:pic>
      <p:sp>
        <p:nvSpPr>
          <p:cNvPr id="195" name="Google Shape;195;p12">
            <a:extLst xmlns:a="http://schemas.openxmlformats.org/drawingml/2006/main">
              <a:ext uri="{FF2B5EF4-FFF2-40B4-BE49-F238E27FC236}">
                <a16:creationId xmlns:a16="http://schemas.microsoft.com/office/drawing/2014/main" id="{D04C31C3-D57C-44BA-8D77-27D4634A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5120640"/>
            <a:ext cx="521208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cap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Figure 6.4: Self-Reported Behavioral Impact on Time Awareness and Distraction Reduction</a:t>
            </a:r>
            <a:endParaRPr/>
          </a:p>
        </p:txBody>
      </p:sp>
      <p:sp>
        <p:nvSpPr>
          <p:cNvPr id="197" name="title-accent-12">
            <a:extLst xmlns:a="http://schemas.openxmlformats.org/drawingml/2006/main">
              <a:ext uri="{FF2B5EF4-FFF2-40B4-BE49-F238E27FC236}">
                <a16:creationId xmlns:a16="http://schemas.microsoft.com/office/drawing/2014/main" id="{9312FD46-1366-456F-A8B0-FEA617CD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52575"/>
            <a:ext cx="1714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footer-rule-12">
            <a:extLst xmlns:a="http://schemas.openxmlformats.org/drawingml/2006/main">
              <a:ext uri="{FF2B5EF4-FFF2-40B4-BE49-F238E27FC236}">
                <a16:creationId xmlns:a16="http://schemas.microsoft.com/office/drawing/2014/main" id="{29B4388F-315C-4839-BE18-70F6E173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7F5"/>
            </a:solidFill>
            <a:prstDash val="solid"/>
          </a:ln>
        </p:spPr>
      </p:sp>
      <p:sp>
        <p:nvSpPr>
          <p:cNvPr id="199" name="footer-label-12">
            <a:extLst xmlns:a="http://schemas.openxmlformats.org/drawingml/2006/main">
              <a:ext uri="{FF2B5EF4-FFF2-40B4-BE49-F238E27FC236}">
                <a16:creationId xmlns:a16="http://schemas.microsoft.com/office/drawing/2014/main" id="{F0D43689-4E74-4A7D-B8E0-3DED6B4C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defRPr>
            </a:pPr>
            <a:r>
              <a:rPr sz="750" b="1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TAB TIME  •  TECHNICAL VIVA VOCE</a:t>
            </a:r>
          </a:p>
        </p:txBody>
      </p:sp>
      <p:sp>
        <p:nvSpPr>
          <p:cNvPr id="200" name="footer-page-12">
            <a:extLst xmlns:a="http://schemas.openxmlformats.org/drawingml/2006/main">
              <a:ext uri="{FF2B5EF4-FFF2-40B4-BE49-F238E27FC236}">
                <a16:creationId xmlns:a16="http://schemas.microsoft.com/office/drawing/2014/main" id="{87999FE1-3BBF-456E-B9CF-2EAC6095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391275"/>
            <a:ext cx="7620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>
            <a:normAutofit fontScale="7320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defRPr>
            </a:pPr>
            <a:r>
              <a:rPr sz="7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12 / 21</a:t>
            </a:r>
          </a:p>
        </p:txBody>
      </p:sp>
    </p:spTree>
    <p:extLst>
      <p:ext uri="{BB962C8B-B14F-4D97-AF65-F5344CB8AC3E}">
        <p14:creationId xmlns:p14="http://schemas.microsoft.com/office/powerpoint/2010/main" val="1552922461"/>
      </p:ext>
    </p:extLst>
  </p:cSld>
  <p:transition spd="med" advClick="1">
    <p:fade/>
  </p:transition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ec42790509904e9f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0" name="Google Shape;200;p13">
            <a:extLst xmlns:a="http://schemas.openxmlformats.org/drawingml/2006/main">
              <a:ext uri="{FF2B5EF4-FFF2-40B4-BE49-F238E27FC236}">
                <a16:creationId xmlns:a16="http://schemas.microsoft.com/office/drawing/2014/main" id="{CD1EF6D0-19D3-4383-838E-487D3BE21D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0427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00"/>
              <a:buFont typeface="Quattrocento Sans"/>
              <a:buNone/>
            </a:pPr>
            <a:r>
              <a:rPr sz="250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9. Engineering Challenges &amp; Problem Resolution</a:t>
            </a:r>
            <a:endParaRPr/>
          </a:p>
        </p:txBody>
      </p:sp>
      <p:cxnSp>
        <p:nvCxnSpPr>
          <p:cNvPr id="212" name="Google Shape;201;p13"/>
          <p:cNvCxnSpPr/>
          <p:nvPr/>
        </p:nvCxnSpPr>
        <p:spPr>
          <a:xfrm xmlns:a="http://schemas.openxmlformats.org/drawingml/2006/main" rot="10800000">
            <a:off x="525162" y="1563130"/>
            <a:ext cx="8408773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dk1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202" name="Google Shape;202;p13">
            <a:extLst xmlns:a="http://schemas.openxmlformats.org/drawingml/2006/main">
              <a:ext uri="{FF2B5EF4-FFF2-40B4-BE49-F238E27FC236}">
                <a16:creationId xmlns:a16="http://schemas.microsoft.com/office/drawing/2014/main" id="{6B37DF8D-0B1E-4008-B13D-39678081C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"/>
            <a:ext cx="2926080" cy="25603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D4ED8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CHAPTER 5: CHALLENGES</a:t>
            </a:r>
            <a:endParaRPr/>
          </a:p>
        </p:txBody>
      </p:sp>
      <p:sp>
        <p:nvSpPr>
          <p:cNvPr id="203" name="Google Shape;203;p13">
            <a:extLst xmlns:a="http://schemas.openxmlformats.org/drawingml/2006/main">
              <a:ext uri="{FF2B5EF4-FFF2-40B4-BE49-F238E27FC236}">
                <a16:creationId xmlns:a16="http://schemas.microsoft.com/office/drawing/2014/main" id="{7C5F093B-B59A-4993-AFD7-BB7CB7D9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0"/>
            <a:ext cx="5029200" cy="201168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0478">
            <a:solidFill>
              <a:srgbClr val="CBD5E1"/>
            </a:solidFill>
            <a:prstDash val="solid"/>
            <a:headEnd type="none" w="sm" len="sm"/>
            <a:tailEnd type="non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spcFirstLastPara="1" wrap="square" lIns="182875" tIns="164575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 cap="non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</a:rPr>
              <a:t>1. MV3 SERVICE WORKER EPHEMERALITY</a:t>
            </a:r>
            <a:endParaRPr sz="1700"/>
          </a:p>
          <a:p xmlns:a="http://schemas.openxmlformats.org/drawingml/2006/main">
            <a:pPr marL="0" marR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u="none" cap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Chrome MV3 terminates idle service workers after 30 seconds. In-flight session timers risk corruption. RESOLUTION: Implemented event-driven state hydration via chrome.storage.local with immediate state flushing on suspend.</a:t>
            </a:r>
            <a:endParaRPr sz="1700"/>
          </a:p>
        </p:txBody>
      </p:sp>
      <p:sp>
        <p:nvSpPr>
          <p:cNvPr id="204" name="Google Shape;204;p13">
            <a:extLst xmlns:a="http://schemas.openxmlformats.org/drawingml/2006/main">
              <a:ext uri="{FF2B5EF4-FFF2-40B4-BE49-F238E27FC236}">
                <a16:creationId xmlns:a16="http://schemas.microsoft.com/office/drawing/2014/main" id="{5D0D99D8-65AE-43EF-AB64-9A5C0EA8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45920"/>
            <a:ext cx="5029200" cy="201168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0478">
            <a:solidFill>
              <a:srgbClr val="CBD5E1"/>
            </a:solidFill>
            <a:prstDash val="solid"/>
            <a:headEnd type="none" w="sm" len="sm"/>
            <a:tailEnd type="non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spcFirstLastPara="1" wrap="square" lIns="182875" tIns="164575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 cap="none">
                <a:solidFill>
                  <a:srgbClr val="0284C7"/>
                </a:solidFill>
                <a:latin typeface="Quattrocento Sans"/>
                <a:ea typeface="Quattrocento Sans"/>
                <a:cs typeface="Quattrocento Sans"/>
              </a:rPr>
              <a:t>2. INDEXEDDB TRANSACTION CONTENTION</a:t>
            </a:r>
            <a:endParaRPr sz="1700"/>
          </a:p>
          <a:p xmlns:a="http://schemas.openxmlformats.org/drawingml/2006/main">
            <a:pPr marL="0" marR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u="none" cap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Rapid tab switching caused concurrent asynchronous write collisions and lock timeouts. RESOLUTION: Engineered a serialized First-In-First-Out (FIFO) queue for batching disk transactions safely.</a:t>
            </a:r>
            <a:endParaRPr sz="1700"/>
          </a:p>
        </p:txBody>
      </p:sp>
      <p:sp>
        <p:nvSpPr>
          <p:cNvPr id="205" name="Google Shape;205;p13">
            <a:extLst xmlns:a="http://schemas.openxmlformats.org/drawingml/2006/main">
              <a:ext uri="{FF2B5EF4-FFF2-40B4-BE49-F238E27FC236}">
                <a16:creationId xmlns:a16="http://schemas.microsoft.com/office/drawing/2014/main" id="{53247F96-C944-4D00-9B8B-D89573EF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5029200" cy="21031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0478">
            <a:solidFill>
              <a:srgbClr val="CBD5E1"/>
            </a:solidFill>
            <a:prstDash val="solid"/>
            <a:headEnd type="none" w="sm" len="sm"/>
            <a:tailEnd type="non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spcFirstLastPara="1" wrap="square" lIns="182875" tIns="164575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 cap="non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</a:rPr>
              <a:t>3. DECLARATIVENETREQUEST MIGRATION</a:t>
            </a:r>
            <a:endParaRPr sz="1700"/>
          </a:p>
          <a:p xmlns:a="http://schemas.openxmlformats.org/drawingml/2006/main">
            <a:pPr marL="0" marR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u="none" cap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MV3 deprecated blocking webRequest APIs. Dynamic redirect rules required schema adaptation. RESOLUTION: Created a dynamic ruleset compiler mapping user blocklists directly to local redirection headers.</a:t>
            </a:r>
            <a:endParaRPr sz="1700"/>
          </a:p>
        </p:txBody>
      </p:sp>
      <p:sp>
        <p:nvSpPr>
          <p:cNvPr id="206" name="Google Shape;206;p13">
            <a:extLst xmlns:a="http://schemas.openxmlformats.org/drawingml/2006/main">
              <a:ext uri="{FF2B5EF4-FFF2-40B4-BE49-F238E27FC236}">
                <a16:creationId xmlns:a16="http://schemas.microsoft.com/office/drawing/2014/main" id="{42CEBF83-2A6B-48BD-9D7A-35A79052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931920"/>
            <a:ext cx="5029200" cy="21031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0478">
            <a:solidFill>
              <a:srgbClr val="CBD5E1"/>
            </a:solidFill>
            <a:prstDash val="solid"/>
            <a:headEnd type="none" w="sm" len="sm"/>
            <a:tailEnd type="non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spcFirstLastPara="1" wrap="square" lIns="182875" tIns="164575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 cap="non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</a:rPr>
              <a:t>4. STUDY LIMITATIONS &amp; GENERALIZABILITY</a:t>
            </a:r>
            <a:endParaRPr sz="1700"/>
          </a:p>
          <a:p xmlns:a="http://schemas.openxmlformats.org/drawingml/2006/main">
            <a:pPr marL="0" marR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u="none" cap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Sample cohort (n = 65) was predominantly desktop Chromium users (Chrome, Edge, Brave). Mobile browsers and longitudinal multi-month habit shifts remain outside current research boundaries.</a:t>
            </a:r>
            <a:endParaRPr sz="1700"/>
          </a:p>
        </p:txBody>
      </p:sp>
      <p:sp>
        <p:nvSpPr>
          <p:cNvPr id="207" name="title-accent-13">
            <a:extLst xmlns:a="http://schemas.openxmlformats.org/drawingml/2006/main">
              <a:ext uri="{FF2B5EF4-FFF2-40B4-BE49-F238E27FC236}">
                <a16:creationId xmlns:a16="http://schemas.microsoft.com/office/drawing/2014/main" id="{5C9F4824-EA77-49D9-9483-8B70F3E9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52575"/>
            <a:ext cx="1714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footer-rule-13">
            <a:extLst xmlns:a="http://schemas.openxmlformats.org/drawingml/2006/main">
              <a:ext uri="{FF2B5EF4-FFF2-40B4-BE49-F238E27FC236}">
                <a16:creationId xmlns:a16="http://schemas.microsoft.com/office/drawing/2014/main" id="{631B8872-DDA1-47C8-A9DD-8F97FDA9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7F5"/>
            </a:solidFill>
            <a:prstDash val="solid"/>
          </a:ln>
        </p:spPr>
      </p:sp>
      <p:sp>
        <p:nvSpPr>
          <p:cNvPr id="209" name="footer-label-13">
            <a:extLst xmlns:a="http://schemas.openxmlformats.org/drawingml/2006/main">
              <a:ext uri="{FF2B5EF4-FFF2-40B4-BE49-F238E27FC236}">
                <a16:creationId xmlns:a16="http://schemas.microsoft.com/office/drawing/2014/main" id="{93E7F22D-E9AD-4B8B-BB41-8D4C4BBA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defRPr>
            </a:pPr>
            <a:r>
              <a:rPr sz="750" b="1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TAB TIME  •  TECHNICAL VIVA VOCE</a:t>
            </a:r>
          </a:p>
        </p:txBody>
      </p:sp>
      <p:sp>
        <p:nvSpPr>
          <p:cNvPr id="210" name="footer-page-13">
            <a:extLst xmlns:a="http://schemas.openxmlformats.org/drawingml/2006/main">
              <a:ext uri="{FF2B5EF4-FFF2-40B4-BE49-F238E27FC236}">
                <a16:creationId xmlns:a16="http://schemas.microsoft.com/office/drawing/2014/main" id="{0C3E5203-DF77-46AC-9A0C-17753677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391275"/>
            <a:ext cx="7620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>
            <a:normAutofit fontScale="7320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defRPr>
            </a:pPr>
            <a:r>
              <a:rPr sz="7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13 / 21</a:t>
            </a:r>
          </a:p>
        </p:txBody>
      </p:sp>
    </p:spTree>
    <p:extLst>
      <p:ext uri="{BB962C8B-B14F-4D97-AF65-F5344CB8AC3E}">
        <p14:creationId xmlns:p14="http://schemas.microsoft.com/office/powerpoint/2010/main" val="406672868"/>
      </p:ext>
    </p:extLst>
  </p:cSld>
  <p:transition spd="med" advClick="1">
    <p:fade/>
  </p:transition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b033778bf0934369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1" name="Google Shape;211;p14">
            <a:extLst xmlns:a="http://schemas.openxmlformats.org/drawingml/2006/main">
              <a:ext uri="{FF2B5EF4-FFF2-40B4-BE49-F238E27FC236}">
                <a16:creationId xmlns:a16="http://schemas.microsoft.com/office/drawing/2014/main" id="{64FD6B8C-AA6D-4C24-B17D-1FB07EC3F8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0427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00"/>
              <a:buFont typeface="Quattrocento Sans"/>
              <a:buNone/>
            </a:pPr>
            <a:r>
              <a:rPr sz="250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10. Critical Discussion &amp; Project Contributions</a:t>
            </a:r>
            <a:endParaRPr/>
          </a:p>
        </p:txBody>
      </p:sp>
      <p:cxnSp>
        <p:nvCxnSpPr>
          <p:cNvPr id="223" name="Google Shape;212;p14"/>
          <p:cNvCxnSpPr/>
          <p:nvPr/>
        </p:nvCxnSpPr>
        <p:spPr>
          <a:xfrm xmlns:a="http://schemas.openxmlformats.org/drawingml/2006/main" rot="10800000">
            <a:off x="525162" y="1563130"/>
            <a:ext cx="8408773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dk1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213" name="Google Shape;213;p14">
            <a:extLst xmlns:a="http://schemas.openxmlformats.org/drawingml/2006/main">
              <a:ext uri="{FF2B5EF4-FFF2-40B4-BE49-F238E27FC236}">
                <a16:creationId xmlns:a16="http://schemas.microsoft.com/office/drawing/2014/main" id="{4680B34A-1574-4181-AF3F-1358C386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"/>
            <a:ext cx="2926080" cy="25603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D4ED8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CHAPTER 7: DISCUSSION</a:t>
            </a:r>
            <a:endParaRPr/>
          </a:p>
        </p:txBody>
      </p:sp>
      <p:sp>
        <p:nvSpPr>
          <p:cNvPr id="214" name="Google Shape;214;p14">
            <a:extLst xmlns:a="http://schemas.openxmlformats.org/drawingml/2006/main">
              <a:ext uri="{FF2B5EF4-FFF2-40B4-BE49-F238E27FC236}">
                <a16:creationId xmlns:a16="http://schemas.microsoft.com/office/drawing/2014/main" id="{E2F7B55E-935A-4A54-80B1-7B700EEE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0"/>
            <a:ext cx="5669280" cy="448056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0478">
            <a:solidFill>
              <a:srgbClr val="CBD5E1"/>
            </a:solidFill>
            <a:prstDash val="solid"/>
            <a:headEnd type="none" w="sm" len="sm"/>
            <a:tailEnd type="non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spcFirstLastPara="1" wrap="square" lIns="228600" tIns="182875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 cap="non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</a:rPr>
              <a:t>THEORETICAL &amp; HCI CONTRIBUTIONS</a:t>
            </a:r>
            <a:endParaRPr sz="1700"/>
          </a:p>
          <a:p xmlns:a="http://schemas.openxmlformats.org/drawingml/2006/main">
            <a:pPr marL="0" marR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u="none" cap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• Validating Non-Coercive Interventions: Demonstrates that immediate visual feedback (Chart.js donuts, productivity scoring) fosters sustained behavioral reflection without punitive locks.</a:t>
            </a:r>
            <a:endParaRPr sz="1700"/>
          </a:p>
          <a:p xmlns:a="http://schemas.openxmlformats.org/drawingml/2006/main">
            <a:pPr marL="0" marR="0" lvl="0" indent="0" algn="l">
              <a:spcBef>
                <a:spcPts val="800"/>
              </a:spcBef>
              <a:spcAft>
                <a:spcPts val="0"/>
              </a:spcAft>
              <a:buNone/>
            </a:pPr>
            <a:r>
              <a:rPr sz="1500" b="1" i="0" u="none" cap="non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</a:rPr>
              <a:t>PRACTICAL SOFTWARE ENGINEERING IMPACT</a:t>
            </a:r>
            <a:endParaRPr sz="1700"/>
          </a:p>
          <a:p xmlns:a="http://schemas.openxmlformats.org/drawingml/2006/main">
            <a:pPr marL="0" marR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u="none" cap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• Debunking the Cloud Surveillance Myth: Confirms that enterprise-grade time tracking does NOT require central server telemetry or privacy compromises.</a:t>
            </a:r>
            <a:endParaRPr sz="1700"/>
          </a:p>
          <a:p xmlns:a="http://schemas.openxmlformats.org/drawingml/2006/main">
            <a:pPr marL="0" marR="0" lvl="0" indent="0" algn="l">
              <a:spcBef>
                <a:spcPts val="800"/>
              </a:spcBef>
              <a:spcAft>
                <a:spcPts val="0"/>
              </a:spcAft>
              <a:buNone/>
            </a:pPr>
            <a:r>
              <a:rPr sz="1500" b="1" i="0" u="none" cap="non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</a:rPr>
              <a:t>PROFESSIONAL BCS STANDARDS COMPLIANCE</a:t>
            </a:r>
            <a:endParaRPr sz="1700"/>
          </a:p>
          <a:p xmlns:a="http://schemas.openxmlformats.org/drawingml/2006/main">
            <a:pPr marL="0" marR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u="none" cap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• Upholds the British Computer Society (BCS) Code of Conduct by safeguarding public interest, ensuring total data security, and adhering to W3C open standards.</a:t>
            </a:r>
            <a:endParaRPr sz="1700"/>
          </a:p>
        </p:txBody>
      </p:sp>
      <p:pic>
        <p:nvPicPr>
          <p:cNvPr id="226" name="Google Shape;215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b6803668a3b462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766549" y="1645926"/>
            <a:ext cx="3783925" cy="4136451"/>
          </a:xfrm>
          <a:prstGeom xmlns:a="http://schemas.openxmlformats.org/drawingml/2006/main" prst="roundRect">
            <a:avLst>
              <a:gd name="adj" fmla="val 3524"/>
            </a:avLst>
          </a:prstGeom>
          <a:ln xmlns:a="http://schemas.openxmlformats.org/drawingml/2006/main">
            <a:noFill/>
          </a:ln>
        </p:spPr>
      </p:pic>
      <p:sp>
        <p:nvSpPr>
          <p:cNvPr id="216" name="Google Shape;216;p14">
            <a:extLst xmlns:a="http://schemas.openxmlformats.org/drawingml/2006/main">
              <a:ext uri="{FF2B5EF4-FFF2-40B4-BE49-F238E27FC236}">
                <a16:creationId xmlns:a16="http://schemas.microsoft.com/office/drawing/2014/main" id="{D2F4D7E5-1D42-41E4-B637-D81E55A7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5532120"/>
            <a:ext cx="41148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cap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Figure 7.1: Interactive Analytics Dashboard (Chart.js &amp; IndexedDB)</a:t>
            </a:r>
            <a:endParaRPr/>
          </a:p>
        </p:txBody>
      </p:sp>
      <p:sp>
        <p:nvSpPr>
          <p:cNvPr id="218" name="title-accent-14">
            <a:extLst xmlns:a="http://schemas.openxmlformats.org/drawingml/2006/main">
              <a:ext uri="{FF2B5EF4-FFF2-40B4-BE49-F238E27FC236}">
                <a16:creationId xmlns:a16="http://schemas.microsoft.com/office/drawing/2014/main" id="{D2CD023E-03A8-4FE0-941D-A3E4377B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52575"/>
            <a:ext cx="1714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46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footer-rule-14">
            <a:extLst xmlns:a="http://schemas.openxmlformats.org/drawingml/2006/main">
              <a:ext uri="{FF2B5EF4-FFF2-40B4-BE49-F238E27FC236}">
                <a16:creationId xmlns:a16="http://schemas.microsoft.com/office/drawing/2014/main" id="{444A8095-0DC8-4D1C-89F5-32B7F169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7F5"/>
            </a:solidFill>
            <a:prstDash val="solid"/>
          </a:ln>
        </p:spPr>
      </p:sp>
      <p:sp>
        <p:nvSpPr>
          <p:cNvPr id="220" name="footer-label-14">
            <a:extLst xmlns:a="http://schemas.openxmlformats.org/drawingml/2006/main">
              <a:ext uri="{FF2B5EF4-FFF2-40B4-BE49-F238E27FC236}">
                <a16:creationId xmlns:a16="http://schemas.microsoft.com/office/drawing/2014/main" id="{27794F4F-A8DC-4FA6-8B31-A7C923ED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defRPr>
            </a:pPr>
            <a:r>
              <a:rPr sz="750" b="1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TAB TIME  •  TECHNICAL VIVA VOCE</a:t>
            </a:r>
          </a:p>
        </p:txBody>
      </p:sp>
      <p:sp>
        <p:nvSpPr>
          <p:cNvPr id="221" name="footer-page-14">
            <a:extLst xmlns:a="http://schemas.openxmlformats.org/drawingml/2006/main">
              <a:ext uri="{FF2B5EF4-FFF2-40B4-BE49-F238E27FC236}">
                <a16:creationId xmlns:a16="http://schemas.microsoft.com/office/drawing/2014/main" id="{9FA4DB94-A31E-4B84-88D7-405EC39E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391275"/>
            <a:ext cx="7620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4F46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>
            <a:normAutofit fontScale="7320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defRPr>
            </a:pPr>
            <a:r>
              <a:rPr sz="7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14 / 21</a:t>
            </a:r>
          </a:p>
        </p:txBody>
      </p:sp>
    </p:spTree>
    <p:extLst>
      <p:ext uri="{BB962C8B-B14F-4D97-AF65-F5344CB8AC3E}">
        <p14:creationId xmlns:p14="http://schemas.microsoft.com/office/powerpoint/2010/main" val="1410689568"/>
      </p:ext>
    </p:extLst>
  </p:cSld>
  <p:transition spd="med" advClick="1">
    <p:fade/>
  </p:transition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7f4231bc64de4ce6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1" name="Google Shape;221;g409fe472140_0_5">
            <a:extLst xmlns:a="http://schemas.openxmlformats.org/drawingml/2006/main">
              <a:ext uri="{FF2B5EF4-FFF2-40B4-BE49-F238E27FC236}">
                <a16:creationId xmlns:a16="http://schemas.microsoft.com/office/drawing/2014/main" id="{C84FB726-432C-48D6-99DA-9289A8C45B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0427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00"/>
              <a:buFont typeface="Quattrocento Sans"/>
              <a:buNone/>
            </a:pPr>
            <a:r>
              <a:rPr sz="250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10. Project Interface and Analytical Dashboard</a:t>
            </a:r>
            <a:endParaRPr/>
          </a:p>
        </p:txBody>
      </p:sp>
      <p:cxnSp>
        <p:nvCxnSpPr>
          <p:cNvPr id="232" name="Google Shape;222;g409fe472140_0_5"/>
          <p:cNvCxnSpPr/>
          <p:nvPr/>
        </p:nvCxnSpPr>
        <p:spPr>
          <a:xfrm xmlns:a="http://schemas.openxmlformats.org/drawingml/2006/main" rot="10800000">
            <a:off x="525235" y="1563130"/>
            <a:ext cx="8408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dk1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223" name="Google Shape;223;g409fe472140_0_5">
            <a:extLst xmlns:a="http://schemas.openxmlformats.org/drawingml/2006/main">
              <a:ext uri="{FF2B5EF4-FFF2-40B4-BE49-F238E27FC236}">
                <a16:creationId xmlns:a16="http://schemas.microsoft.com/office/drawing/2014/main" id="{49FB143D-DF27-40EF-A3F8-5213F5C7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"/>
            <a:ext cx="2926200" cy="255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D4ED8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CHAPTER 7: DISCUSSION</a:t>
            </a:r>
            <a:endParaRPr/>
          </a:p>
        </p:txBody>
      </p:sp>
      <p:sp>
        <p:nvSpPr>
          <p:cNvPr id="224" name="Google Shape;224;g409fe472140_0_5">
            <a:extLst xmlns:a="http://schemas.openxmlformats.org/drawingml/2006/main">
              <a:ext uri="{FF2B5EF4-FFF2-40B4-BE49-F238E27FC236}">
                <a16:creationId xmlns:a16="http://schemas.microsoft.com/office/drawing/2014/main" id="{34B9C509-EE54-4B0E-A64B-369D61EF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3115" y="6126420"/>
            <a:ext cx="4114800" cy="25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cap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Figure 7.</a:t>
            </a:r>
            <a:r>
              <a:rPr sz="1050" b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2</a:t>
            </a:r>
            <a:r>
              <a:rPr sz="1050" b="1" i="0" u="none" cap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: Analytics Dashboard (Chart.js &amp; IndexedDB)</a:t>
            </a:r>
            <a:endParaRPr/>
          </a:p>
        </p:txBody>
      </p:sp>
      <p:pic>
        <p:nvPicPr>
          <p:cNvPr id="235" name="Google Shape;225;g409fe472140_0_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f430d4799242d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35852" y="1779375"/>
            <a:ext cx="2889025" cy="4222975"/>
          </a:xfrm>
          <a:prstGeom xmlns:a="http://schemas.openxmlformats.org/drawingml/2006/main" prst="roundRect">
            <a:avLst>
              <a:gd name="adj" fmla="val 4616"/>
            </a:avLst>
          </a:prstGeom>
          <a:ln xmlns:a="http://schemas.openxmlformats.org/drawingml/2006/main">
            <a:noFill/>
          </a:ln>
        </p:spPr>
      </p:pic>
      <p:pic>
        <p:nvPicPr>
          <p:cNvPr id="236" name="Google Shape;226;g409fe472140_0_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896feb27054fc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1525" y="1779375"/>
            <a:ext cx="5914800" cy="4481626"/>
          </a:xfrm>
          <a:prstGeom xmlns:a="http://schemas.openxmlformats.org/drawingml/2006/main" prst="roundRect">
            <a:avLst>
              <a:gd name="adj" fmla="val 2975"/>
            </a:avLst>
          </a:prstGeom>
          <a:ln xmlns:a="http://schemas.openxmlformats.org/drawingml/2006/main">
            <a:noFill/>
          </a:ln>
        </p:spPr>
      </p:pic>
      <p:sp>
        <p:nvSpPr>
          <p:cNvPr id="227" name="title-accent-15">
            <a:extLst xmlns:a="http://schemas.openxmlformats.org/drawingml/2006/main">
              <a:ext uri="{FF2B5EF4-FFF2-40B4-BE49-F238E27FC236}">
                <a16:creationId xmlns:a16="http://schemas.microsoft.com/office/drawing/2014/main" id="{0E514429-372B-4B50-990A-1F4F7D31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52575"/>
            <a:ext cx="1714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footer-rule-15">
            <a:extLst xmlns:a="http://schemas.openxmlformats.org/drawingml/2006/main">
              <a:ext uri="{FF2B5EF4-FFF2-40B4-BE49-F238E27FC236}">
                <a16:creationId xmlns:a16="http://schemas.microsoft.com/office/drawing/2014/main" id="{A2A23FEE-8407-4660-8611-C6054156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7F5"/>
            </a:solidFill>
            <a:prstDash val="solid"/>
          </a:ln>
        </p:spPr>
      </p:sp>
      <p:sp>
        <p:nvSpPr>
          <p:cNvPr id="229" name="footer-label-15">
            <a:extLst xmlns:a="http://schemas.openxmlformats.org/drawingml/2006/main">
              <a:ext uri="{FF2B5EF4-FFF2-40B4-BE49-F238E27FC236}">
                <a16:creationId xmlns:a16="http://schemas.microsoft.com/office/drawing/2014/main" id="{E91AE593-D26E-40B7-A869-9F05D46A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defRPr>
            </a:pPr>
            <a:r>
              <a:rPr sz="750" b="1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TAB TIME  •  TECHNICAL VIVA VOCE</a:t>
            </a:r>
          </a:p>
        </p:txBody>
      </p:sp>
      <p:sp>
        <p:nvSpPr>
          <p:cNvPr id="230" name="footer-page-15">
            <a:extLst xmlns:a="http://schemas.openxmlformats.org/drawingml/2006/main">
              <a:ext uri="{FF2B5EF4-FFF2-40B4-BE49-F238E27FC236}">
                <a16:creationId xmlns:a16="http://schemas.microsoft.com/office/drawing/2014/main" id="{1E6E6413-E9F9-45A5-A2C4-F4E15FE8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391275"/>
            <a:ext cx="7620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>
            <a:normAutofit fontScale="7320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defRPr>
            </a:pPr>
            <a:r>
              <a:rPr sz="7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15 / 21</a:t>
            </a:r>
          </a:p>
        </p:txBody>
      </p:sp>
    </p:spTree>
    <p:extLst>
      <p:ext uri="{BB962C8B-B14F-4D97-AF65-F5344CB8AC3E}">
        <p14:creationId xmlns:p14="http://schemas.microsoft.com/office/powerpoint/2010/main" val="1799690062"/>
      </p:ext>
    </p:extLst>
  </p:cSld>
  <p:transition spd="med" advClick="1">
    <p:fade/>
  </p:transition>
</p:sld>
</file>

<file path=ppt/slides/slide16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91f6d10fb2324ffc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1" name="Google Shape;231;p15">
            <a:extLst xmlns:a="http://schemas.openxmlformats.org/drawingml/2006/main">
              <a:ext uri="{FF2B5EF4-FFF2-40B4-BE49-F238E27FC236}">
                <a16:creationId xmlns:a16="http://schemas.microsoft.com/office/drawing/2014/main" id="{12444D8D-690D-4B32-8709-4991949558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0427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00"/>
              <a:buFont typeface="Quattrocento Sans"/>
              <a:buNone/>
            </a:pPr>
            <a:r>
              <a:rPr sz="250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11. Recommendations for Future Work</a:t>
            </a:r>
            <a:endParaRPr/>
          </a:p>
        </p:txBody>
      </p:sp>
      <p:cxnSp>
        <p:nvCxnSpPr>
          <p:cNvPr id="243" name="Google Shape;232;p15"/>
          <p:cNvCxnSpPr/>
          <p:nvPr/>
        </p:nvCxnSpPr>
        <p:spPr>
          <a:xfrm xmlns:a="http://schemas.openxmlformats.org/drawingml/2006/main" rot="10800000">
            <a:off x="525162" y="1563130"/>
            <a:ext cx="8408773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dk1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233" name="Google Shape;233;p15">
            <a:extLst xmlns:a="http://schemas.openxmlformats.org/drawingml/2006/main">
              <a:ext uri="{FF2B5EF4-FFF2-40B4-BE49-F238E27FC236}">
                <a16:creationId xmlns:a16="http://schemas.microsoft.com/office/drawing/2014/main" id="{F6662B92-0596-4F83-92E0-AE493E6A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"/>
            <a:ext cx="2926080" cy="25603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D4ED8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CHAPTER 8: FUTURE WORK</a:t>
            </a:r>
            <a:endParaRPr/>
          </a:p>
        </p:txBody>
      </p:sp>
      <p:sp>
        <p:nvSpPr>
          <p:cNvPr id="234" name="Google Shape;234;p15">
            <a:extLst xmlns:a="http://schemas.openxmlformats.org/drawingml/2006/main">
              <a:ext uri="{FF2B5EF4-FFF2-40B4-BE49-F238E27FC236}">
                <a16:creationId xmlns:a16="http://schemas.microsoft.com/office/drawing/2014/main" id="{6677C4CF-E68C-4B6F-B10B-D81AFB21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0"/>
            <a:ext cx="5029200" cy="201168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0478">
            <a:solidFill>
              <a:srgbClr val="CBD5E1"/>
            </a:solidFill>
            <a:prstDash val="solid"/>
            <a:headEnd type="none" w="sm" len="sm"/>
            <a:tailEnd type="non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spcFirstLastPara="1" wrap="square" lIns="182875" tIns="164575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</a:rPr>
              <a:t>1. ON-DEVICE NLP CATEGORIZATION</a:t>
            </a:r>
            <a:endParaRPr sz="1800"/>
          </a:p>
          <a:p xmlns:a="http://schemas.openxmlformats.org/drawingml/2006/main">
            <a:pPr marL="0" marR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Incorporate WebAssembly-based micro-LLMs or TensorFlow.js to semantically categorize web page content directly on-device without transmitting text to third-party APIs.</a:t>
            </a:r>
            <a:endParaRPr sz="1800"/>
          </a:p>
        </p:txBody>
      </p:sp>
      <p:sp>
        <p:nvSpPr>
          <p:cNvPr id="235" name="Google Shape;235;p15">
            <a:extLst xmlns:a="http://schemas.openxmlformats.org/drawingml/2006/main">
              <a:ext uri="{FF2B5EF4-FFF2-40B4-BE49-F238E27FC236}">
                <a16:creationId xmlns:a16="http://schemas.microsoft.com/office/drawing/2014/main" id="{FC145390-A54B-487D-BD97-DEB93C38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45920"/>
            <a:ext cx="5029200" cy="201168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0478">
            <a:solidFill>
              <a:srgbClr val="CBD5E1"/>
            </a:solidFill>
            <a:prstDash val="solid"/>
            <a:headEnd type="none" w="sm" len="sm"/>
            <a:tailEnd type="non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spcFirstLastPara="1" wrap="square" lIns="182875" tIns="164575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0284C7"/>
                </a:solidFill>
                <a:latin typeface="Quattrocento Sans"/>
                <a:ea typeface="Quattrocento Sans"/>
                <a:cs typeface="Quattrocento Sans"/>
              </a:rPr>
              <a:t>2. CLIENT-SIDE ZERO-KNOWLEDGE SYNC</a:t>
            </a:r>
            <a:endParaRPr sz="1800"/>
          </a:p>
          <a:p xmlns:a="http://schemas.openxmlformats.org/drawingml/2006/main">
            <a:pPr marL="0" marR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Engineer end-to-end encrypted synchronization utilizing Web Cryptography API (AES-GCM-256) via personal cloud containers (WebDAV, Google Drive, iCloud).</a:t>
            </a:r>
            <a:endParaRPr sz="1800"/>
          </a:p>
        </p:txBody>
      </p:sp>
      <p:sp>
        <p:nvSpPr>
          <p:cNvPr id="236" name="Google Shape;236;p15">
            <a:extLst xmlns:a="http://schemas.openxmlformats.org/drawingml/2006/main">
              <a:ext uri="{FF2B5EF4-FFF2-40B4-BE49-F238E27FC236}">
                <a16:creationId xmlns:a16="http://schemas.microsoft.com/office/drawing/2014/main" id="{629BB6BE-2111-4C03-85F3-0262C9A7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5029200" cy="21031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0478">
            <a:solidFill>
              <a:srgbClr val="CBD5E1"/>
            </a:solidFill>
            <a:prstDash val="solid"/>
            <a:headEnd type="none" w="sm" len="sm"/>
            <a:tailEnd type="non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spcFirstLastPara="1" wrap="square" lIns="182875" tIns="164575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</a:rPr>
              <a:t>3. MOBILE EXTENSION COMPATIBILITY</a:t>
            </a:r>
            <a:endParaRPr sz="1800"/>
          </a:p>
          <a:p xmlns:a="http://schemas.openxmlformats.org/drawingml/2006/main">
            <a:pPr marL="0" marR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Port background worker scripts to mobile browser runtimes (Firefox for Android and Safari iOS) to track and harmonize mobile attention patterns.</a:t>
            </a:r>
            <a:endParaRPr sz="1800"/>
          </a:p>
        </p:txBody>
      </p:sp>
      <p:sp>
        <p:nvSpPr>
          <p:cNvPr id="237" name="Google Shape;237;p15">
            <a:extLst xmlns:a="http://schemas.openxmlformats.org/drawingml/2006/main">
              <a:ext uri="{FF2B5EF4-FFF2-40B4-BE49-F238E27FC236}">
                <a16:creationId xmlns:a16="http://schemas.microsoft.com/office/drawing/2014/main" id="{0A6A5263-AF53-4428-B83F-685155B2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931920"/>
            <a:ext cx="5029200" cy="21031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0478">
            <a:solidFill>
              <a:srgbClr val="CBD5E1"/>
            </a:solidFill>
            <a:prstDash val="solid"/>
            <a:headEnd type="none" w="sm" len="sm"/>
            <a:tailEnd type="non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spcFirstLastPara="1" wrap="square" lIns="182875" tIns="164575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4. ADAPTIVE BIOMETRIC &amp; AUDIO PACING</a:t>
            </a:r>
            <a:endParaRPr sz="1800"/>
          </a:p>
          <a:p xmlns:a="http://schemas.openxmlformats.org/drawingml/2006/main">
            <a:pPr marL="0" marR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Integrate adaptive Pomodoro intervals driven by passive fatigue indicators, accompanied by subtle binaural ambient audio cues to ease task transitions.</a:t>
            </a:r>
            <a:endParaRPr sz="1800"/>
          </a:p>
        </p:txBody>
      </p:sp>
      <p:sp>
        <p:nvSpPr>
          <p:cNvPr id="238" name="title-accent-16">
            <a:extLst xmlns:a="http://schemas.openxmlformats.org/drawingml/2006/main">
              <a:ext uri="{FF2B5EF4-FFF2-40B4-BE49-F238E27FC236}">
                <a16:creationId xmlns:a16="http://schemas.microsoft.com/office/drawing/2014/main" id="{76D6102D-F577-4193-84DB-D7F48651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52575"/>
            <a:ext cx="1714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footer-rule-16">
            <a:extLst xmlns:a="http://schemas.openxmlformats.org/drawingml/2006/main">
              <a:ext uri="{FF2B5EF4-FFF2-40B4-BE49-F238E27FC236}">
                <a16:creationId xmlns:a16="http://schemas.microsoft.com/office/drawing/2014/main" id="{0C882639-2C88-4D4E-B3F3-D55D4C58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7F5"/>
            </a:solidFill>
            <a:prstDash val="solid"/>
          </a:ln>
        </p:spPr>
      </p:sp>
      <p:sp>
        <p:nvSpPr>
          <p:cNvPr id="240" name="footer-label-16">
            <a:extLst xmlns:a="http://schemas.openxmlformats.org/drawingml/2006/main">
              <a:ext uri="{FF2B5EF4-FFF2-40B4-BE49-F238E27FC236}">
                <a16:creationId xmlns:a16="http://schemas.microsoft.com/office/drawing/2014/main" id="{AE13116D-3A4B-4A78-9BF0-43AE6166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defRPr>
            </a:pPr>
            <a:r>
              <a:rPr sz="750" b="1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TAB TIME  •  TECHNICAL VIVA VOCE</a:t>
            </a:r>
          </a:p>
        </p:txBody>
      </p:sp>
      <p:sp>
        <p:nvSpPr>
          <p:cNvPr id="241" name="footer-page-16">
            <a:extLst xmlns:a="http://schemas.openxmlformats.org/drawingml/2006/main">
              <a:ext uri="{FF2B5EF4-FFF2-40B4-BE49-F238E27FC236}">
                <a16:creationId xmlns:a16="http://schemas.microsoft.com/office/drawing/2014/main" id="{50886A1B-58C8-4948-B432-C74EC916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391275"/>
            <a:ext cx="7620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>
            <a:normAutofit fontScale="7320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defRPr>
            </a:pPr>
            <a:r>
              <a:rPr sz="7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16 / 21</a:t>
            </a:r>
          </a:p>
        </p:txBody>
      </p:sp>
    </p:spTree>
    <p:extLst>
      <p:ext uri="{BB962C8B-B14F-4D97-AF65-F5344CB8AC3E}">
        <p14:creationId xmlns:p14="http://schemas.microsoft.com/office/powerpoint/2010/main" val="473396973"/>
      </p:ext>
    </p:extLst>
  </p:cSld>
  <p:transition spd="med" advClick="1">
    <p:fade/>
  </p:transition>
</p:sld>
</file>

<file path=ppt/slides/slide17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575f52c931f24292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2" name="Google Shape;242;p16">
            <a:extLst xmlns:a="http://schemas.openxmlformats.org/drawingml/2006/main">
              <a:ext uri="{FF2B5EF4-FFF2-40B4-BE49-F238E27FC236}">
                <a16:creationId xmlns:a16="http://schemas.microsoft.com/office/drawing/2014/main" id="{092D40CF-D5C0-4803-AE6B-11F760EA03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0427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00"/>
              <a:buFont typeface="Quattrocento Sans"/>
              <a:buNone/>
            </a:pPr>
            <a:r>
              <a:rPr sz="250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12. Project Conclusions &amp; Core Takeaways</a:t>
            </a:r>
            <a:endParaRPr/>
          </a:p>
        </p:txBody>
      </p:sp>
      <p:cxnSp>
        <p:nvCxnSpPr>
          <p:cNvPr id="253" name="Google Shape;243;p16"/>
          <p:cNvCxnSpPr/>
          <p:nvPr/>
        </p:nvCxnSpPr>
        <p:spPr>
          <a:xfrm xmlns:a="http://schemas.openxmlformats.org/drawingml/2006/main" rot="10800000">
            <a:off x="525162" y="1563130"/>
            <a:ext cx="8408773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dk1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244" name="Google Shape;244;p16">
            <a:extLst xmlns:a="http://schemas.openxmlformats.org/drawingml/2006/main">
              <a:ext uri="{FF2B5EF4-FFF2-40B4-BE49-F238E27FC236}">
                <a16:creationId xmlns:a16="http://schemas.microsoft.com/office/drawing/2014/main" id="{4F8CC534-2BDC-428B-AE69-56490C23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"/>
            <a:ext cx="2926080" cy="25603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D4ED8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CHAPTER 7: CONCLUSION</a:t>
            </a:r>
            <a:endParaRPr/>
          </a:p>
        </p:txBody>
      </p:sp>
      <p:sp>
        <p:nvSpPr>
          <p:cNvPr id="245" name="Google Shape;245;p16">
            <a:extLst xmlns:a="http://schemas.openxmlformats.org/drawingml/2006/main">
              <a:ext uri="{FF2B5EF4-FFF2-40B4-BE49-F238E27FC236}">
                <a16:creationId xmlns:a16="http://schemas.microsoft.com/office/drawing/2014/main" id="{61D83807-E0C3-4F9E-A731-1E162937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0"/>
            <a:ext cx="10515600" cy="128016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0478">
            <a:solidFill>
              <a:srgbClr val="CBD5E1"/>
            </a:solidFill>
            <a:prstDash val="solid"/>
            <a:headEnd type="none" w="sm" len="sm"/>
            <a:tailEnd type="non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spcFirstLastPara="1" wrap="square" lIns="228600" tIns="13715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u="none" cap="non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</a:rPr>
              <a:t>OVERALL PROJECT OUTCOME &amp; ARTEFACT SUCCESS</a:t>
            </a:r>
            <a:endParaRPr sz="1600"/>
          </a:p>
          <a:p xmlns:a="http://schemas.openxmlformats.org/drawingml/2006/main">
            <a:pPr marL="0" marR="0" lv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sz="1300" b="0" i="0" u="none" cap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Successfully designed, implemented, and validated TabTime—an open-source, production-ready browser extension operating under Manifest V3 that delivers real-time time tracking, productivity analytics, and focus management with 100% on-device privacy.</a:t>
            </a:r>
            <a:endParaRPr sz="1600"/>
          </a:p>
        </p:txBody>
      </p:sp>
      <p:sp>
        <p:nvSpPr>
          <p:cNvPr id="246" name="Google Shape;246;p16">
            <a:extLst xmlns:a="http://schemas.openxmlformats.org/drawingml/2006/main">
              <a:ext uri="{FF2B5EF4-FFF2-40B4-BE49-F238E27FC236}">
                <a16:creationId xmlns:a16="http://schemas.microsoft.com/office/drawing/2014/main" id="{F072273C-33B3-476E-A0FF-B67D30A3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54680"/>
            <a:ext cx="10515600" cy="128016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0478">
            <a:solidFill>
              <a:srgbClr val="CBD5E1"/>
            </a:solidFill>
            <a:prstDash val="solid"/>
            <a:headEnd type="none" w="sm" len="sm"/>
            <a:tailEnd type="non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spcFirstLastPara="1" wrap="square" lIns="228600" tIns="13715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 cap="none">
                <a:solidFill>
                  <a:srgbClr val="0284C7"/>
                </a:solidFill>
                <a:latin typeface="Quattrocento Sans"/>
                <a:ea typeface="Quattrocento Sans"/>
                <a:cs typeface="Quattrocento Sans"/>
              </a:rPr>
              <a:t>DEFINITIVE RESOLUTION OF RESEARCH QUESTION</a:t>
            </a:r>
            <a:endParaRPr sz="1700"/>
          </a:p>
          <a:p xmlns:a="http://schemas.openxmlformats.org/drawingml/2006/main">
            <a:pPr marL="0" marR="0" lv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u="none" cap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Demonstrated that non-coercive behavioral nudges paired with immediate visual analytics significantly enhance user temporal awareness (95.4%) and reduce online distractions (93.8%), validating both core research hypotheses (H1 &amp; H2).</a:t>
            </a:r>
            <a:endParaRPr sz="1700"/>
          </a:p>
        </p:txBody>
      </p:sp>
      <p:sp>
        <p:nvSpPr>
          <p:cNvPr id="247" name="Google Shape;247;p16">
            <a:extLst xmlns:a="http://schemas.openxmlformats.org/drawingml/2006/main">
              <a:ext uri="{FF2B5EF4-FFF2-40B4-BE49-F238E27FC236}">
                <a16:creationId xmlns:a16="http://schemas.microsoft.com/office/drawing/2014/main" id="{669BCB83-CB3C-44BC-BDEC-DA1E23C5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663440"/>
            <a:ext cx="10515600" cy="128016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0478">
            <a:solidFill>
              <a:srgbClr val="CBD5E1"/>
            </a:solidFill>
            <a:prstDash val="solid"/>
            <a:headEnd type="none" w="sm" len="sm"/>
            <a:tailEnd type="non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spcFirstLastPara="1" wrap="square" lIns="228600" tIns="13715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</a:rPr>
              <a:t>ACADEMIC &amp; INDUSTRY SIGNIFICANCE</a:t>
            </a:r>
            <a:endParaRPr sz="1800"/>
          </a:p>
          <a:p xmlns:a="http://schemas.openxmlformats.org/drawingml/2006/main">
            <a:pPr marL="0" marR="0" lv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Achieved a top-tier System Usability Scale (SUS) score of 89.04/100 (Grade A), proving that rigorous privacy-by-design principles can coexist with high-precision temporal tracking without server reliance.</a:t>
            </a:r>
            <a:endParaRPr sz="1800"/>
          </a:p>
        </p:txBody>
      </p:sp>
      <p:sp>
        <p:nvSpPr>
          <p:cNvPr id="248" name="title-accent-17">
            <a:extLst xmlns:a="http://schemas.openxmlformats.org/drawingml/2006/main">
              <a:ext uri="{FF2B5EF4-FFF2-40B4-BE49-F238E27FC236}">
                <a16:creationId xmlns:a16="http://schemas.microsoft.com/office/drawing/2014/main" id="{DF1BE68C-BD9E-489A-BB76-0016464D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52575"/>
            <a:ext cx="1714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" name="footer-rule-17">
            <a:extLst xmlns:a="http://schemas.openxmlformats.org/drawingml/2006/main">
              <a:ext uri="{FF2B5EF4-FFF2-40B4-BE49-F238E27FC236}">
                <a16:creationId xmlns:a16="http://schemas.microsoft.com/office/drawing/2014/main" id="{45457E42-9392-44A1-916B-F8459344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7F5"/>
            </a:solidFill>
            <a:prstDash val="solid"/>
          </a:ln>
        </p:spPr>
      </p:sp>
      <p:sp>
        <p:nvSpPr>
          <p:cNvPr id="250" name="footer-label-17">
            <a:extLst xmlns:a="http://schemas.openxmlformats.org/drawingml/2006/main">
              <a:ext uri="{FF2B5EF4-FFF2-40B4-BE49-F238E27FC236}">
                <a16:creationId xmlns:a16="http://schemas.microsoft.com/office/drawing/2014/main" id="{2825BCC7-8A40-4791-8BFD-D1018D5F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defRPr>
            </a:pPr>
            <a:r>
              <a:rPr sz="750" b="1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TAB TIME  •  TECHNICAL VIVA VOCE</a:t>
            </a:r>
          </a:p>
        </p:txBody>
      </p:sp>
      <p:sp>
        <p:nvSpPr>
          <p:cNvPr id="251" name="footer-page-17">
            <a:extLst xmlns:a="http://schemas.openxmlformats.org/drawingml/2006/main">
              <a:ext uri="{FF2B5EF4-FFF2-40B4-BE49-F238E27FC236}">
                <a16:creationId xmlns:a16="http://schemas.microsoft.com/office/drawing/2014/main" id="{BBC382AB-B8E5-44F8-AEBB-B995A94F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391275"/>
            <a:ext cx="7620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>
            <a:normAutofit fontScale="7320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defRPr>
            </a:pPr>
            <a:r>
              <a:rPr sz="7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17 / 21</a:t>
            </a:r>
          </a:p>
        </p:txBody>
      </p:sp>
    </p:spTree>
    <p:extLst>
      <p:ext uri="{BB962C8B-B14F-4D97-AF65-F5344CB8AC3E}">
        <p14:creationId xmlns:p14="http://schemas.microsoft.com/office/powerpoint/2010/main" val="1662701416"/>
      </p:ext>
    </p:extLst>
  </p:cSld>
  <p:transition spd="med" advClick="1">
    <p:fade/>
  </p:transition>
</p:sld>
</file>

<file path=ppt/slides/slide18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91bf7d58788045be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2" name="Google Shape;252;p17">
            <a:extLst xmlns:a="http://schemas.openxmlformats.org/drawingml/2006/main">
              <a:ext uri="{FF2B5EF4-FFF2-40B4-BE49-F238E27FC236}">
                <a16:creationId xmlns:a16="http://schemas.microsoft.com/office/drawing/2014/main" id="{7CD4DB32-89C9-4424-89BB-D6956FEA7E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0427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00"/>
              <a:buFont typeface="Quattrocento Sans"/>
              <a:buNone/>
            </a:pPr>
            <a:r>
              <a:rPr sz="250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13. Ethical Considerations &amp; Regulatory Governance</a:t>
            </a:r>
            <a:endParaRPr/>
          </a:p>
        </p:txBody>
      </p:sp>
      <p:cxnSp>
        <p:nvCxnSpPr>
          <p:cNvPr id="264" name="Google Shape;253;p17"/>
          <p:cNvCxnSpPr/>
          <p:nvPr/>
        </p:nvCxnSpPr>
        <p:spPr>
          <a:xfrm xmlns:a="http://schemas.openxmlformats.org/drawingml/2006/main" rot="10800000">
            <a:off x="525162" y="1563130"/>
            <a:ext cx="8408773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dk1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254" name="Google Shape;254;p17">
            <a:extLst xmlns:a="http://schemas.openxmlformats.org/drawingml/2006/main">
              <a:ext uri="{FF2B5EF4-FFF2-40B4-BE49-F238E27FC236}">
                <a16:creationId xmlns:a16="http://schemas.microsoft.com/office/drawing/2014/main" id="{5E3CAF25-C159-4D14-8F2E-EB46C364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"/>
            <a:ext cx="2926080" cy="25603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D4ED8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ETHICS &amp; GOVERNANCE</a:t>
            </a:r>
            <a:endParaRPr/>
          </a:p>
        </p:txBody>
      </p:sp>
      <p:sp>
        <p:nvSpPr>
          <p:cNvPr id="255" name="Google Shape;255;p17">
            <a:extLst xmlns:a="http://schemas.openxmlformats.org/drawingml/2006/main">
              <a:ext uri="{FF2B5EF4-FFF2-40B4-BE49-F238E27FC236}">
                <a16:creationId xmlns:a16="http://schemas.microsoft.com/office/drawing/2014/main" id="{ED6882A5-7F46-476F-BA42-6DD5548F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0"/>
            <a:ext cx="5029200" cy="201168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0478">
            <a:solidFill>
              <a:srgbClr val="CBD5E1"/>
            </a:solidFill>
            <a:prstDash val="solid"/>
            <a:headEnd type="none" w="sm" len="sm"/>
            <a:tailEnd type="non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spcFirstLastPara="1" wrap="square" lIns="182875" tIns="164575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 cap="non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</a:rPr>
              <a:t>YSJ ETHICAL APPROVAL</a:t>
            </a:r>
            <a:endParaRPr sz="1700"/>
          </a:p>
          <a:p xmlns:a="http://schemas.openxmlformats.org/drawingml/2006/main">
            <a:pPr marL="0" marR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u="none" cap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Formal ethical clearance obtained under York St John University School of Science, Technology &amp; Health research ethics framework (Module LDC6005M protocol).</a:t>
            </a:r>
            <a:endParaRPr sz="1700"/>
          </a:p>
        </p:txBody>
      </p:sp>
      <p:sp>
        <p:nvSpPr>
          <p:cNvPr id="256" name="Google Shape;256;p17">
            <a:extLst xmlns:a="http://schemas.openxmlformats.org/drawingml/2006/main">
              <a:ext uri="{FF2B5EF4-FFF2-40B4-BE49-F238E27FC236}">
                <a16:creationId xmlns:a16="http://schemas.microsoft.com/office/drawing/2014/main" id="{C6121F41-4F67-42EF-9269-46D7EA31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45920"/>
            <a:ext cx="5029200" cy="201168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0478">
            <a:solidFill>
              <a:srgbClr val="CBD5E1"/>
            </a:solidFill>
            <a:prstDash val="solid"/>
            <a:headEnd type="none" w="sm" len="sm"/>
            <a:tailEnd type="non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spcFirstLastPara="1" wrap="square" lIns="182875" tIns="164575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 cap="non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</a:rPr>
              <a:t>GDPR DATA PROTECTION BY DESIGN (ART. 25)</a:t>
            </a:r>
            <a:endParaRPr sz="1700"/>
          </a:p>
          <a:p xmlns:a="http://schemas.openxmlformats.org/drawingml/2006/main">
            <a:pPr marL="0" marR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u="none" cap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Full compliance with GDPR &amp; UK DPA 2018: zero cloud database, zero telemetry harvesting, and local client-side storage isolation within browser IndexedDB.</a:t>
            </a:r>
            <a:endParaRPr sz="1700"/>
          </a:p>
        </p:txBody>
      </p:sp>
      <p:sp>
        <p:nvSpPr>
          <p:cNvPr id="257" name="Google Shape;257;p17">
            <a:extLst xmlns:a="http://schemas.openxmlformats.org/drawingml/2006/main">
              <a:ext uri="{FF2B5EF4-FFF2-40B4-BE49-F238E27FC236}">
                <a16:creationId xmlns:a16="http://schemas.microsoft.com/office/drawing/2014/main" id="{81431238-07FF-4F33-A4DC-FC794693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5029200" cy="21031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0478">
            <a:solidFill>
              <a:srgbClr val="CBD5E1"/>
            </a:solidFill>
            <a:prstDash val="solid"/>
            <a:headEnd type="none" w="sm" len="sm"/>
            <a:tailEnd type="non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spcFirstLastPara="1" wrap="square" lIns="182875" tIns="164575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 cap="none">
                <a:solidFill>
                  <a:srgbClr val="0284C7"/>
                </a:solidFill>
                <a:latin typeface="Quattrocento Sans"/>
                <a:ea typeface="Quattrocento Sans"/>
                <a:cs typeface="Quattrocento Sans"/>
              </a:rPr>
              <a:t>VOLUNTARY INFORMED CONSENT</a:t>
            </a:r>
            <a:endParaRPr sz="1700"/>
          </a:p>
          <a:p xmlns:a="http://schemas.openxmlformats.org/drawingml/2006/main">
            <a:pPr marL="0" marR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u="none" cap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All 65 evaluation participants received a Participant Information Sheet (PIS) and provided explicit digital consent with an unconditional right to withdraw.</a:t>
            </a:r>
            <a:endParaRPr sz="1700"/>
          </a:p>
        </p:txBody>
      </p:sp>
      <p:sp>
        <p:nvSpPr>
          <p:cNvPr id="258" name="Google Shape;258;p17">
            <a:extLst xmlns:a="http://schemas.openxmlformats.org/drawingml/2006/main">
              <a:ext uri="{FF2B5EF4-FFF2-40B4-BE49-F238E27FC236}">
                <a16:creationId xmlns:a16="http://schemas.microsoft.com/office/drawing/2014/main" id="{61B7D06A-EC1A-4619-A18E-869D7FCB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931920"/>
            <a:ext cx="5029200" cy="21031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0478">
            <a:solidFill>
              <a:srgbClr val="CBD5E1"/>
            </a:solidFill>
            <a:prstDash val="solid"/>
            <a:headEnd type="none" w="sm" len="sm"/>
            <a:tailEnd type="non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spcFirstLastPara="1" wrap="square" lIns="182875" tIns="164575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TOTAL ANONYMITY &amp; ZERO PII</a:t>
            </a:r>
            <a:endParaRPr sz="1800"/>
          </a:p>
          <a:p xmlns:a="http://schemas.openxmlformats.org/drawingml/2006/main">
            <a:pPr marL="0" marR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No names, IP addresses, full URL paths, or query tokens were captured. Telemetry strictly logged domain-level hostnames on the user's personal hardware.</a:t>
            </a:r>
            <a:endParaRPr sz="1800"/>
          </a:p>
        </p:txBody>
      </p:sp>
      <p:sp>
        <p:nvSpPr>
          <p:cNvPr id="259" name="title-accent-18">
            <a:extLst xmlns:a="http://schemas.openxmlformats.org/drawingml/2006/main">
              <a:ext uri="{FF2B5EF4-FFF2-40B4-BE49-F238E27FC236}">
                <a16:creationId xmlns:a16="http://schemas.microsoft.com/office/drawing/2014/main" id="{CB41CF5A-F6D2-4060-94DB-EEF4AEBD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52575"/>
            <a:ext cx="1714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" name="footer-rule-18">
            <a:extLst xmlns:a="http://schemas.openxmlformats.org/drawingml/2006/main">
              <a:ext uri="{FF2B5EF4-FFF2-40B4-BE49-F238E27FC236}">
                <a16:creationId xmlns:a16="http://schemas.microsoft.com/office/drawing/2014/main" id="{1EB016A7-5BFF-4BDD-B298-94B2DDFD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7F5"/>
            </a:solidFill>
            <a:prstDash val="solid"/>
          </a:ln>
        </p:spPr>
      </p:sp>
      <p:sp>
        <p:nvSpPr>
          <p:cNvPr id="261" name="footer-label-18">
            <a:extLst xmlns:a="http://schemas.openxmlformats.org/drawingml/2006/main">
              <a:ext uri="{FF2B5EF4-FFF2-40B4-BE49-F238E27FC236}">
                <a16:creationId xmlns:a16="http://schemas.microsoft.com/office/drawing/2014/main" id="{DC505BD4-EAAA-42E0-8FCD-70319C9B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defRPr>
            </a:pPr>
            <a:r>
              <a:rPr sz="750" b="1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TAB TIME  •  TECHNICAL VIVA VOCE</a:t>
            </a:r>
          </a:p>
        </p:txBody>
      </p:sp>
      <p:sp>
        <p:nvSpPr>
          <p:cNvPr id="262" name="footer-page-18">
            <a:extLst xmlns:a="http://schemas.openxmlformats.org/drawingml/2006/main">
              <a:ext uri="{FF2B5EF4-FFF2-40B4-BE49-F238E27FC236}">
                <a16:creationId xmlns:a16="http://schemas.microsoft.com/office/drawing/2014/main" id="{4E558F40-38DB-4539-B8BF-BD11E897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391275"/>
            <a:ext cx="7620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>
            <a:normAutofit fontScale="7320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defRPr>
            </a:pPr>
            <a:r>
              <a:rPr sz="7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18 / 21</a:t>
            </a:r>
          </a:p>
        </p:txBody>
      </p:sp>
    </p:spTree>
    <p:extLst>
      <p:ext uri="{BB962C8B-B14F-4D97-AF65-F5344CB8AC3E}">
        <p14:creationId xmlns:p14="http://schemas.microsoft.com/office/powerpoint/2010/main" val="924762767"/>
      </p:ext>
    </p:extLst>
  </p:cSld>
  <p:transition spd="med" advClick="1">
    <p:fade/>
  </p:transition>
</p:sld>
</file>

<file path=ppt/slides/slide19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42ada20aab9b4d43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3" name="Google Shape;263;p18">
            <a:extLst xmlns:a="http://schemas.openxmlformats.org/drawingml/2006/main">
              <a:ext uri="{FF2B5EF4-FFF2-40B4-BE49-F238E27FC236}">
                <a16:creationId xmlns:a16="http://schemas.microsoft.com/office/drawing/2014/main" id="{52AE7C5F-FA36-472E-AD30-3562925200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0427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00"/>
              <a:buFont typeface="Quattrocento Sans"/>
              <a:buNone/>
            </a:pPr>
            <a:r>
              <a:rPr sz="250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14. Academic References &amp; Cited Works</a:t>
            </a:r>
            <a:endParaRPr/>
          </a:p>
        </p:txBody>
      </p:sp>
      <p:cxnSp>
        <p:nvCxnSpPr>
          <p:cNvPr id="273" name="Google Shape;264;p18"/>
          <p:cNvCxnSpPr/>
          <p:nvPr/>
        </p:nvCxnSpPr>
        <p:spPr>
          <a:xfrm xmlns:a="http://schemas.openxmlformats.org/drawingml/2006/main" rot="10800000">
            <a:off x="525162" y="1563130"/>
            <a:ext cx="8408773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dk1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265" name="Google Shape;265;p18">
            <a:extLst xmlns:a="http://schemas.openxmlformats.org/drawingml/2006/main">
              <a:ext uri="{FF2B5EF4-FFF2-40B4-BE49-F238E27FC236}">
                <a16:creationId xmlns:a16="http://schemas.microsoft.com/office/drawing/2014/main" id="{3A337356-7FDE-48C4-A290-3B648DEF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"/>
            <a:ext cx="2926080" cy="25603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D4ED8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REFERENCES</a:t>
            </a:r>
            <a:endParaRPr/>
          </a:p>
        </p:txBody>
      </p:sp>
      <p:sp>
        <p:nvSpPr>
          <p:cNvPr id="266" name="Google Shape;266;p18">
            <a:extLst xmlns:a="http://schemas.openxmlformats.org/drawingml/2006/main">
              <a:ext uri="{FF2B5EF4-FFF2-40B4-BE49-F238E27FC236}">
                <a16:creationId xmlns:a16="http://schemas.microsoft.com/office/drawing/2014/main" id="{C8D13180-C599-4CE9-B55A-6DB93B1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0"/>
            <a:ext cx="5120640" cy="448056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0478">
            <a:solidFill>
              <a:srgbClr val="CBD5E1"/>
            </a:solidFill>
            <a:prstDash val="solid"/>
            <a:headEnd type="none" w="sm" len="sm"/>
            <a:tailEnd type="non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spcFirstLastPara="1" wrap="square" lIns="182875" tIns="182875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u="none" cap="non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</a:rPr>
              <a:t>HARVARD-STYLE CITATIONS (PART 1)</a:t>
            </a:r>
            <a:endParaRPr sz="1700"/>
          </a:p>
          <a:p xmlns:a="http://schemas.openxmlformats.org/drawingml/2006/main">
            <a:pPr marL="0" marR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1250" b="0" i="0" u="none" cap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Bandura, A. (1991) 'Social cognitive theory of self-regulation', Organizational Behavior and Human Decision Processes, 50(2), pp. 248–287.</a:t>
            </a:r>
            <a:endParaRPr sz="1700"/>
          </a:p>
          <a:p xmlns:a="http://schemas.openxmlformats.org/drawingml/2006/main">
            <a:pPr marL="0" marR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1250" b="0" i="0" u="none" cap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Bangor, A., Kortum, P.T. and Miller, J.T. (2008) 'An empirical evaluation of the system usability scale', Intl. Journal of Human-Computer Interaction, 24(6), pp. 574–594.</a:t>
            </a:r>
            <a:endParaRPr sz="1700"/>
          </a:p>
          <a:p xmlns:a="http://schemas.openxmlformats.org/drawingml/2006/main">
            <a:pPr marL="0" marR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1250" b="0" i="0" u="none" cap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British Computer Society (2022) The BCS Code of Conduct for Information Security and Computing Professionals. Swindon: BCS.</a:t>
            </a:r>
            <a:endParaRPr sz="1700"/>
          </a:p>
          <a:p xmlns:a="http://schemas.openxmlformats.org/drawingml/2006/main">
            <a:pPr marL="0" marR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1250" b="0" i="0" u="none" cap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Brooke, J. (1996) 'SUS: A quick and dirty usability scale', in Jordan, P.W. et al. (eds.) Usability Evaluation in Industry. London: Taylor &amp; Francis, pp. 189–194.</a:t>
            </a:r>
            <a:endParaRPr sz="1700"/>
          </a:p>
          <a:p xmlns:a="http://schemas.openxmlformats.org/drawingml/2006/main">
            <a:pPr marL="0" marR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1250" b="0" i="0" u="none" cap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European Union (2016) Regulation (EU) 2016/679 (General Data Protection Regulation). Official Journal of the European Union, L 119, pp. 1–88.</a:t>
            </a:r>
            <a:endParaRPr sz="1700"/>
          </a:p>
        </p:txBody>
      </p:sp>
      <p:sp>
        <p:nvSpPr>
          <p:cNvPr id="267" name="Google Shape;267;p18">
            <a:extLst xmlns:a="http://schemas.openxmlformats.org/drawingml/2006/main">
              <a:ext uri="{FF2B5EF4-FFF2-40B4-BE49-F238E27FC236}">
                <a16:creationId xmlns:a16="http://schemas.microsoft.com/office/drawing/2014/main" id="{4B8454D1-F878-40EE-957B-F5B708A9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45920"/>
            <a:ext cx="5120640" cy="448056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0478">
            <a:solidFill>
              <a:srgbClr val="CBD5E1"/>
            </a:solidFill>
            <a:prstDash val="solid"/>
            <a:headEnd type="none" w="sm" len="sm"/>
            <a:tailEnd type="non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spcFirstLastPara="1" wrap="square" lIns="182875" tIns="182875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u="none" cap="non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</a:rPr>
              <a:t>HARVARD-STYLE CITATIONS (PART 2)</a:t>
            </a:r>
            <a:endParaRPr sz="1700"/>
          </a:p>
          <a:p xmlns:a="http://schemas.openxmlformats.org/drawingml/2006/main">
            <a:pPr marL="0" marR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1250" b="0" i="0" u="none" cap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Google Chrome Developers (2024) Manifest V3 Migration Guide and declarativeNetRequest API Reference. Mountain View: Google LLC.</a:t>
            </a:r>
            <a:endParaRPr sz="1700"/>
          </a:p>
          <a:p xmlns:a="http://schemas.openxmlformats.org/drawingml/2006/main">
            <a:pPr marL="0" marR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1250" b="0" i="0" u="none" cap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Hevner, A.R., March, S.T., Park, J. and Ram, S. (2004) 'Design science in information systems research', MIS Quarterly, 28(1), pp. 75–105.</a:t>
            </a:r>
            <a:endParaRPr sz="1700"/>
          </a:p>
          <a:p xmlns:a="http://schemas.openxmlformats.org/drawingml/2006/main">
            <a:pPr marL="0" marR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1250" b="0" i="0" u="none" cap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Kaplan, S. (1995) 'The restorative benefits of nature: Toward an integrative framework', Journal of Environmental Psychology, 15(3), pp. 169–182.</a:t>
            </a:r>
            <a:endParaRPr sz="1700"/>
          </a:p>
          <a:p xmlns:a="http://schemas.openxmlformats.org/drawingml/2006/main">
            <a:pPr marL="0" marR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1250" b="0" i="0" u="none" cap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Mark, G., Gudith, D. and Klocke, U. (2008) 'The cost of interrupted work: More speed and stress', in Proc. of the SIGCHI Conference on Human Factors in Computing Systems, pp. 107–110.</a:t>
            </a:r>
            <a:endParaRPr sz="1700"/>
          </a:p>
          <a:p xmlns:a="http://schemas.openxmlformats.org/drawingml/2006/main">
            <a:pPr marL="0" marR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1250" b="0" i="0" u="none" cap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Zuboff, S. (2019) The Age of Surveillance Capitalism: The Fight for a Human Future at the New Frontier of Power. New York: PublicAffairs.</a:t>
            </a:r>
            <a:endParaRPr sz="1700"/>
          </a:p>
        </p:txBody>
      </p:sp>
      <p:sp>
        <p:nvSpPr>
          <p:cNvPr id="268" name="title-accent-19">
            <a:extLst xmlns:a="http://schemas.openxmlformats.org/drawingml/2006/main">
              <a:ext uri="{FF2B5EF4-FFF2-40B4-BE49-F238E27FC236}">
                <a16:creationId xmlns:a16="http://schemas.microsoft.com/office/drawing/2014/main" id="{2D5AAF18-2A20-49D1-9784-8A6DCD86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52575"/>
            <a:ext cx="1714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755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" name="footer-rule-19">
            <a:extLst xmlns:a="http://schemas.openxmlformats.org/drawingml/2006/main">
              <a:ext uri="{FF2B5EF4-FFF2-40B4-BE49-F238E27FC236}">
                <a16:creationId xmlns:a16="http://schemas.microsoft.com/office/drawing/2014/main" id="{188BF9C7-B2CD-4FC4-A027-4A6ABF18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7F5"/>
            </a:solidFill>
            <a:prstDash val="solid"/>
          </a:ln>
        </p:spPr>
      </p:sp>
      <p:sp>
        <p:nvSpPr>
          <p:cNvPr id="270" name="footer-label-19">
            <a:extLst xmlns:a="http://schemas.openxmlformats.org/drawingml/2006/main">
              <a:ext uri="{FF2B5EF4-FFF2-40B4-BE49-F238E27FC236}">
                <a16:creationId xmlns:a16="http://schemas.microsoft.com/office/drawing/2014/main" id="{06ED56A7-A49D-48A3-A994-23A0F0BA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defRPr>
            </a:pPr>
            <a:r>
              <a:rPr sz="750" b="1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TAB TIME  •  TECHNICAL VIVA VOCE</a:t>
            </a:r>
          </a:p>
        </p:txBody>
      </p:sp>
      <p:sp>
        <p:nvSpPr>
          <p:cNvPr id="271" name="footer-page-19">
            <a:extLst xmlns:a="http://schemas.openxmlformats.org/drawingml/2006/main">
              <a:ext uri="{FF2B5EF4-FFF2-40B4-BE49-F238E27FC236}">
                <a16:creationId xmlns:a16="http://schemas.microsoft.com/office/drawing/2014/main" id="{1F485C01-6560-443D-A582-AC2D7D58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391275"/>
            <a:ext cx="7620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47556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>
            <a:normAutofit fontScale="7320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defRPr>
            </a:pPr>
            <a:r>
              <a:rPr sz="7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19 / 21</a:t>
            </a:r>
          </a:p>
        </p:txBody>
      </p:sp>
    </p:spTree>
    <p:extLst>
      <p:ext uri="{BB962C8B-B14F-4D97-AF65-F5344CB8AC3E}">
        <p14:creationId xmlns:p14="http://schemas.microsoft.com/office/powerpoint/2010/main" val="627879906"/>
      </p:ext>
    </p:extLst>
  </p:cSld>
  <p:transition spd="med" advClick="1">
    <p:fade/>
  </p:transition>
</p:sld>
</file>

<file path=ppt/slides/slide20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deeaf8ade4c84e70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2" name="Google Shape;272;p19">
            <a:extLst xmlns:a="http://schemas.openxmlformats.org/drawingml/2006/main">
              <a:ext uri="{FF2B5EF4-FFF2-40B4-BE49-F238E27FC236}">
                <a16:creationId xmlns:a16="http://schemas.microsoft.com/office/drawing/2014/main" id="{9A59E138-BF39-4B88-A350-4D3EAF3FE4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0427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00"/>
              <a:buFont typeface="Quattrocento Sans"/>
              <a:buNone/>
            </a:pPr>
            <a:r>
              <a:rPr sz="250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15. Executive Summary &amp; Wrap-Up</a:t>
            </a:r>
            <a:endParaRPr/>
          </a:p>
        </p:txBody>
      </p:sp>
      <p:cxnSp>
        <p:nvCxnSpPr>
          <p:cNvPr id="284" name="Google Shape;273;p19"/>
          <p:cNvCxnSpPr/>
          <p:nvPr/>
        </p:nvCxnSpPr>
        <p:spPr>
          <a:xfrm xmlns:a="http://schemas.openxmlformats.org/drawingml/2006/main" rot="10800000">
            <a:off x="525162" y="1563130"/>
            <a:ext cx="8408773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dk1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274" name="Google Shape;274;p19">
            <a:extLst xmlns:a="http://schemas.openxmlformats.org/drawingml/2006/main">
              <a:ext uri="{FF2B5EF4-FFF2-40B4-BE49-F238E27FC236}">
                <a16:creationId xmlns:a16="http://schemas.microsoft.com/office/drawing/2014/main" id="{6C23B066-1E2C-4FAB-B6A0-FA844CCA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"/>
            <a:ext cx="2926080" cy="25603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D4ED8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EXECUTIVE SUMMARY</a:t>
            </a:r>
            <a:endParaRPr/>
          </a:p>
        </p:txBody>
      </p:sp>
      <p:sp>
        <p:nvSpPr>
          <p:cNvPr id="275" name="Google Shape;275;p19">
            <a:extLst xmlns:a="http://schemas.openxmlformats.org/drawingml/2006/main">
              <a:ext uri="{FF2B5EF4-FFF2-40B4-BE49-F238E27FC236}">
                <a16:creationId xmlns:a16="http://schemas.microsoft.com/office/drawing/2014/main" id="{FAF54684-4A51-43CB-9949-E29F746E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0"/>
            <a:ext cx="5029200" cy="201168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0478">
            <a:solidFill>
              <a:srgbClr val="CBD5E1"/>
            </a:solidFill>
            <a:prstDash val="solid"/>
            <a:headEnd type="none" w="sm" len="sm"/>
            <a:tailEnd type="non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spcFirstLastPara="1" wrap="square" lIns="182875" tIns="164575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 cap="non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</a:rPr>
              <a:t>PROJECT PURPOSE &amp; VALUE PROPOSITION</a:t>
            </a:r>
            <a:endParaRPr sz="1700"/>
          </a:p>
          <a:p xmlns:a="http://schemas.openxmlformats.org/drawingml/2006/main">
            <a:pPr marL="0" marR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u="none" cap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Delivered TabTime—a lightweight, client-side browser extension empowering students and knowledge workers with millisecond-accurate time awareness, visual analytics, and non-coercive focus interventions with zero cloud dependencies.</a:t>
            </a:r>
            <a:endParaRPr sz="1700"/>
          </a:p>
        </p:txBody>
      </p:sp>
      <p:sp>
        <p:nvSpPr>
          <p:cNvPr id="276" name="Google Shape;276;p19">
            <a:extLst xmlns:a="http://schemas.openxmlformats.org/drawingml/2006/main">
              <a:ext uri="{FF2B5EF4-FFF2-40B4-BE49-F238E27FC236}">
                <a16:creationId xmlns:a16="http://schemas.microsoft.com/office/drawing/2014/main" id="{57EDDF34-F42C-4EA5-8401-EDDC0EF0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45920"/>
            <a:ext cx="5029200" cy="201168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0478">
            <a:solidFill>
              <a:srgbClr val="CBD5E1"/>
            </a:solidFill>
            <a:prstDash val="solid"/>
            <a:headEnd type="none" w="sm" len="sm"/>
            <a:tailEnd type="non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spcFirstLastPara="1" wrap="square" lIns="182875" tIns="164575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 cap="none">
                <a:solidFill>
                  <a:srgbClr val="0284C7"/>
                </a:solidFill>
                <a:latin typeface="Quattrocento Sans"/>
                <a:ea typeface="Quattrocento Sans"/>
                <a:cs typeface="Quattrocento Sans"/>
              </a:rPr>
              <a:t>DESIGN SCIENCE RESEARCH METHODOLOGY</a:t>
            </a:r>
            <a:endParaRPr sz="1700"/>
          </a:p>
          <a:p xmlns:a="http://schemas.openxmlformats.org/drawingml/2006/main">
            <a:pPr marL="0" marR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u="none" cap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Followed rigorous DSR principles combining Manifest V3 software engineering, multi-tier testing, ground-truth stopwatch benchmarks (99.85% accuracy), and empirical UAT evaluation across n = 65 participants.</a:t>
            </a:r>
            <a:endParaRPr sz="1700"/>
          </a:p>
        </p:txBody>
      </p:sp>
      <p:sp>
        <p:nvSpPr>
          <p:cNvPr id="277" name="Google Shape;277;p19">
            <a:extLst xmlns:a="http://schemas.openxmlformats.org/drawingml/2006/main">
              <a:ext uri="{FF2B5EF4-FFF2-40B4-BE49-F238E27FC236}">
                <a16:creationId xmlns:a16="http://schemas.microsoft.com/office/drawing/2014/main" id="{D0E54916-90C8-483B-B372-EBC382A5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5029200" cy="21031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0478">
            <a:solidFill>
              <a:srgbClr val="CBD5E1"/>
            </a:solidFill>
            <a:prstDash val="solid"/>
            <a:headEnd type="none" w="sm" len="sm"/>
            <a:tailEnd type="non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spcFirstLastPara="1" wrap="square" lIns="182875" tIns="164575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 cap="non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</a:rPr>
              <a:t>KEY EVALUATION FINDINGS</a:t>
            </a:r>
            <a:endParaRPr sz="1700"/>
          </a:p>
          <a:p xmlns:a="http://schemas.openxmlformats.org/drawingml/2006/main">
            <a:pPr marL="0" marR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u="none" cap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Achieved a composite SUS score of 89.04/100 (Grade A usability); 95.4% time awareness improvement; 93.8% distraction reduction; ultra-low footprint (14–22 MB RAM, &lt;0.5% CPU).</a:t>
            </a:r>
            <a:endParaRPr sz="1700"/>
          </a:p>
        </p:txBody>
      </p:sp>
      <p:sp>
        <p:nvSpPr>
          <p:cNvPr id="278" name="Google Shape;278;p19">
            <a:extLst xmlns:a="http://schemas.openxmlformats.org/drawingml/2006/main">
              <a:ext uri="{FF2B5EF4-FFF2-40B4-BE49-F238E27FC236}">
                <a16:creationId xmlns:a16="http://schemas.microsoft.com/office/drawing/2014/main" id="{B5FFAB6E-2BFA-4F9B-96D2-6293903C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931920"/>
            <a:ext cx="5029200" cy="21031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0478">
            <a:solidFill>
              <a:srgbClr val="CBD5E1"/>
            </a:solidFill>
            <a:prstDash val="solid"/>
            <a:headEnd type="none" w="sm" len="sm"/>
            <a:tailEnd type="non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spcFirstLastPara="1" wrap="square" lIns="182875" tIns="164575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ACADEMIC &amp; ETHICAL CONTRIBUTIONS</a:t>
            </a:r>
            <a:endParaRPr sz="1800"/>
          </a:p>
          <a:p xmlns:a="http://schemas.openxmlformats.org/drawingml/2006/main">
            <a:pPr marL="0" marR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Pioneered a viable zero-cloud, privacy-preserving telemetry model that adheres to BCS ethical standards and proves privacy and powerful analytics can successfully unite.</a:t>
            </a:r>
            <a:endParaRPr sz="1800"/>
          </a:p>
        </p:txBody>
      </p:sp>
      <p:sp>
        <p:nvSpPr>
          <p:cNvPr id="279" name="title-accent-20">
            <a:extLst xmlns:a="http://schemas.openxmlformats.org/drawingml/2006/main">
              <a:ext uri="{FF2B5EF4-FFF2-40B4-BE49-F238E27FC236}">
                <a16:creationId xmlns:a16="http://schemas.microsoft.com/office/drawing/2014/main" id="{7F9B3ECB-D527-4B0B-B02A-926F1A72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52575"/>
            <a:ext cx="1714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0" name="footer-rule-20">
            <a:extLst xmlns:a="http://schemas.openxmlformats.org/drawingml/2006/main">
              <a:ext uri="{FF2B5EF4-FFF2-40B4-BE49-F238E27FC236}">
                <a16:creationId xmlns:a16="http://schemas.microsoft.com/office/drawing/2014/main" id="{7A9CCD16-AEFB-4DB3-B207-5E890BC5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7F5"/>
            </a:solidFill>
            <a:prstDash val="solid"/>
          </a:ln>
        </p:spPr>
      </p:sp>
      <p:sp>
        <p:nvSpPr>
          <p:cNvPr id="281" name="footer-label-20">
            <a:extLst xmlns:a="http://schemas.openxmlformats.org/drawingml/2006/main">
              <a:ext uri="{FF2B5EF4-FFF2-40B4-BE49-F238E27FC236}">
                <a16:creationId xmlns:a16="http://schemas.microsoft.com/office/drawing/2014/main" id="{5E517676-2F82-42C8-9845-2FBD9689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defRPr>
            </a:pPr>
            <a:r>
              <a:rPr sz="750" b="1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TAB TIME  •  TECHNICAL VIVA VOCE</a:t>
            </a:r>
          </a:p>
        </p:txBody>
      </p:sp>
      <p:sp>
        <p:nvSpPr>
          <p:cNvPr id="282" name="footer-page-20">
            <a:extLst xmlns:a="http://schemas.openxmlformats.org/drawingml/2006/main">
              <a:ext uri="{FF2B5EF4-FFF2-40B4-BE49-F238E27FC236}">
                <a16:creationId xmlns:a16="http://schemas.microsoft.com/office/drawing/2014/main" id="{124E19BF-E2BF-4B8C-9D9B-A7EC1E27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391275"/>
            <a:ext cx="7620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>
            <a:normAutofit fontScale="7320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defRPr>
            </a:pPr>
            <a:r>
              <a:rPr sz="7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20 / 21</a:t>
            </a:r>
          </a:p>
        </p:txBody>
      </p:sp>
    </p:spTree>
    <p:extLst>
      <p:ext uri="{BB962C8B-B14F-4D97-AF65-F5344CB8AC3E}">
        <p14:creationId xmlns:p14="http://schemas.microsoft.com/office/powerpoint/2010/main" val="1371753862"/>
      </p:ext>
    </p:extLst>
  </p:cSld>
  <p:transition spd="med" advClick="1">
    <p:fade/>
  </p:transition>
</p:sld>
</file>

<file path=ppt/slides/slide21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b9a55019976d4b62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3" name="Google Shape;283;p20">
            <a:extLst xmlns:a="http://schemas.openxmlformats.org/drawingml/2006/main">
              <a:ext uri="{FF2B5EF4-FFF2-40B4-BE49-F238E27FC236}">
                <a16:creationId xmlns:a16="http://schemas.microsoft.com/office/drawing/2014/main" id="{661CD57A-19EF-45D5-B873-DB909B3182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0427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00"/>
              <a:buFont typeface="Quattrocento Sans"/>
              <a:buNone/>
            </a:pPr>
            <a:r>
              <a:rPr sz="250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16. Questions &amp; Viva Voce Defense</a:t>
            </a:r>
            <a:endParaRPr/>
          </a:p>
        </p:txBody>
      </p:sp>
      <p:cxnSp>
        <p:nvCxnSpPr>
          <p:cNvPr id="293" name="Google Shape;284;p20"/>
          <p:cNvCxnSpPr/>
          <p:nvPr/>
        </p:nvCxnSpPr>
        <p:spPr>
          <a:xfrm xmlns:a="http://schemas.openxmlformats.org/drawingml/2006/main" rot="10800000">
            <a:off x="525162" y="1563130"/>
            <a:ext cx="8408773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dk1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285" name="Google Shape;285;p20">
            <a:extLst xmlns:a="http://schemas.openxmlformats.org/drawingml/2006/main">
              <a:ext uri="{FF2B5EF4-FFF2-40B4-BE49-F238E27FC236}">
                <a16:creationId xmlns:a16="http://schemas.microsoft.com/office/drawing/2014/main" id="{24F178F6-49AE-4984-86B3-19DE6661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"/>
            <a:ext cx="2926080" cy="25603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D4ED8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Q&amp;A DEFENSE</a:t>
            </a:r>
            <a:endParaRPr/>
          </a:p>
        </p:txBody>
      </p:sp>
      <p:sp>
        <p:nvSpPr>
          <p:cNvPr id="286" name="Google Shape;286;p20">
            <a:extLst xmlns:a="http://schemas.openxmlformats.org/drawingml/2006/main">
              <a:ext uri="{FF2B5EF4-FFF2-40B4-BE49-F238E27FC236}">
                <a16:creationId xmlns:a16="http://schemas.microsoft.com/office/drawing/2014/main" id="{85C81BAE-080A-4BFE-B476-8EBA5574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45920"/>
            <a:ext cx="9692640" cy="448056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  <a:headEnd type="none" w="sm" len="sm"/>
            <a:tailEnd type="non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spcFirstLastPara="1" wrap="square" lIns="365750" tIns="274300" rIns="365750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 cap="non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THANK YOU FOR YOUR TIME &amp; ATTENTION</a:t>
            </a:r>
            <a:endParaRPr sz="1600"/>
          </a:p>
          <a:p xmlns:a="http://schemas.openxmlformats.org/drawingml/2006/main">
            <a:pPr marL="0" marR="0" lvl="0" indent="0" algn="ctr">
              <a:spcBef>
                <a:spcPts val="800"/>
              </a:spcBef>
              <a:spcAft>
                <a:spcPts val="0"/>
              </a:spcAft>
              <a:buNone/>
            </a:pPr>
            <a:r>
              <a:rPr sz="1800" b="1" i="0" u="none" cap="non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</a:rPr>
              <a:t>TAB TIME: A Privacy-Preserving Browser Extension for Real-Time Time Awareness, Visual Productivity Analytics, and Focus Management</a:t>
            </a:r>
            <a:endParaRPr sz="1600"/>
          </a:p>
          <a:p xmlns:a="http://schemas.openxmlformats.org/drawingml/2006/main">
            <a:pPr marL="0" marR="0" lvl="0" indent="0" algn="ctr">
              <a:spcBef>
                <a:spcPts val="1400"/>
              </a:spcBef>
              <a:spcAft>
                <a:spcPts val="0"/>
              </a:spcAft>
              <a:buNone/>
            </a:pPr>
            <a:r>
              <a:rPr sz="1600" b="0" i="0" u="none" cap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The Examination Panel is Respectfully Invited for Questions, Discussion &amp; Technical Defense</a:t>
            </a:r>
            <a:endParaRPr sz="1600"/>
          </a:p>
          <a:p xmlns:a="http://schemas.openxmlformats.org/drawingml/2006/main">
            <a:pPr marL="0" marR="0" lvl="0" indent="0" algn="ctr">
              <a:spcBef>
                <a:spcPts val="2000"/>
              </a:spcBef>
              <a:spcAft>
                <a:spcPts val="0"/>
              </a:spcAft>
              <a:buNone/>
            </a:pPr>
            <a:r>
              <a:rPr b="1" i="0" u="none" cap="non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Candidate: [Your Name]  |  Student ID: [Student ID Number]  |  Supervisor: [Supervisor Name]</a:t>
            </a:r>
            <a:endParaRPr sz="1600"/>
          </a:p>
          <a:p xmlns:a="http://schemas.openxmlformats.org/drawingml/2006/main">
            <a:pPr marL="0" marR="0" lvl="0" indent="0" algn="ctr">
              <a:spcBef>
                <a:spcPts val="400"/>
              </a:spcBef>
              <a:spcAft>
                <a:spcPts val="0"/>
              </a:spcAft>
              <a:buNone/>
            </a:pPr>
            <a:r>
              <a:rPr sz="1300" b="0" i="0" u="non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BSc (Hons) Computer Science  |  School of Science, Technology &amp; Health  |  York St John University (London)</a:t>
            </a:r>
            <a:endParaRPr sz="1600"/>
          </a:p>
        </p:txBody>
      </p:sp>
      <p:pic>
        <p:nvPicPr>
          <p:cNvPr id="296" name="Google Shape;287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9011adaf29143a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03520" y="5029200"/>
            <a:ext cx="914400" cy="914400"/>
          </a:xfrm>
          <a:prstGeom xmlns:a="http://schemas.openxmlformats.org/drawingml/2006/main" prst="roundRect">
            <a:avLst>
              <a:gd name="adj" fmla="val 14583"/>
            </a:avLst>
          </a:prstGeom>
          <a:ln xmlns:a="http://schemas.openxmlformats.org/drawingml/2006/main">
            <a:noFill/>
          </a:ln>
        </p:spPr>
      </p:pic>
      <p:sp>
        <p:nvSpPr>
          <p:cNvPr id="288" name="title-accent-21">
            <a:extLst xmlns:a="http://schemas.openxmlformats.org/drawingml/2006/main">
              <a:ext uri="{FF2B5EF4-FFF2-40B4-BE49-F238E27FC236}">
                <a16:creationId xmlns:a16="http://schemas.microsoft.com/office/drawing/2014/main" id="{07FDAD1D-5230-4A0A-8282-F2BA4FBA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52575"/>
            <a:ext cx="1714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9" name="footer-rule-21">
            <a:extLst xmlns:a="http://schemas.openxmlformats.org/drawingml/2006/main">
              <a:ext uri="{FF2B5EF4-FFF2-40B4-BE49-F238E27FC236}">
                <a16:creationId xmlns:a16="http://schemas.microsoft.com/office/drawing/2014/main" id="{1C16CFC6-9A14-4E49-BE06-DC3BB459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7F5"/>
            </a:solidFill>
            <a:prstDash val="solid"/>
          </a:ln>
        </p:spPr>
      </p:sp>
      <p:sp>
        <p:nvSpPr>
          <p:cNvPr id="290" name="footer-label-21">
            <a:extLst xmlns:a="http://schemas.openxmlformats.org/drawingml/2006/main">
              <a:ext uri="{FF2B5EF4-FFF2-40B4-BE49-F238E27FC236}">
                <a16:creationId xmlns:a16="http://schemas.microsoft.com/office/drawing/2014/main" id="{31A561BF-51EF-4EE0-BF95-7EC0FE41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defRPr>
            </a:pPr>
            <a:r>
              <a:rPr sz="750" b="1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TAB TIME  •  TECHNICAL VIVA VOCE</a:t>
            </a:r>
          </a:p>
        </p:txBody>
      </p:sp>
      <p:sp>
        <p:nvSpPr>
          <p:cNvPr id="291" name="footer-page-21">
            <a:extLst xmlns:a="http://schemas.openxmlformats.org/drawingml/2006/main">
              <a:ext uri="{FF2B5EF4-FFF2-40B4-BE49-F238E27FC236}">
                <a16:creationId xmlns:a16="http://schemas.microsoft.com/office/drawing/2014/main" id="{43DB208F-0D26-4625-A8D6-64C4ADB6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391275"/>
            <a:ext cx="7620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>
            <a:normAutofit fontScale="7320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defRPr>
            </a:pPr>
            <a:r>
              <a:rPr sz="7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21 / 21</a:t>
            </a:r>
          </a:p>
        </p:txBody>
      </p:sp>
    </p:spTree>
    <p:extLst>
      <p:ext uri="{BB962C8B-B14F-4D97-AF65-F5344CB8AC3E}">
        <p14:creationId xmlns:p14="http://schemas.microsoft.com/office/powerpoint/2010/main" val="310991308"/>
      </p:ext>
    </p:extLst>
  </p:cSld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2026-09-18T14:07:57.0590000Z</dcterms:created>
  <dcterms:modified xsi:type="dcterms:W3CDTF">2026-09-18T14:07:57.0590000Z</dcterms:modified>
</coreProperties>
</file>