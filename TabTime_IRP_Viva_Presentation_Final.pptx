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98" r:id="rId5"/>
    <p:sldId id="256" r:id="rId6"/>
    <p:sldId id="296" r:id="rId7"/>
    <p:sldId id="257" r:id="rId8"/>
    <p:sldId id="271" r:id="rId9"/>
    <p:sldId id="281" r:id="rId10"/>
    <p:sldId id="282" r:id="rId11"/>
    <p:sldId id="283" r:id="rId12"/>
    <p:sldId id="287" r:id="rId13"/>
    <p:sldId id="288" r:id="rId14"/>
    <p:sldId id="291" r:id="rId15"/>
    <p:sldId id="299" r:id="rId16"/>
    <p:sldId id="300" r:id="rId17"/>
    <p:sldId id="301" r:id="rId18"/>
    <p:sldId id="292" r:id="rId19"/>
    <p:sldId id="293" r:id="rId20"/>
    <p:sldId id="297" r:id="rId21"/>
    <p:sldId id="294" r:id="rId22"/>
    <p:sldId id="302" r:id="rId23"/>
    <p:sldId id="3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02F3-7BE2-C536-1018-59B6C2BA7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E7A47-ED07-12B9-2E03-AB7A8A999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034D-4956-9C6B-1680-968B1CCE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967B-1FAE-8987-9978-87F89439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EB47-6D30-CE44-BDCD-F27076D1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47AA-3D78-0FD3-4107-DB6BF631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DDD8-EA04-3588-D9FC-C1648652B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4E0F-A337-6B6A-9697-59277377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84A92-03DE-C4B6-EF4B-4495DAA6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A988-2AFA-9771-20B4-7827F76C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F0E6-12EE-027C-6CA3-F9D10E16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36096-2FB0-E157-8C50-91EC4DCD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1EB5B-EF05-F581-D4ED-0EBD8C6E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1FE1-C47A-2809-3114-AFB7166C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D19D4-BC8E-6085-5882-8D07E6F5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5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10AE-C805-A694-7EC3-3AE3410E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4F8DB-04DA-43D0-E7BF-249A17608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3F67-856B-B72F-6BA9-5C085B48A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45D1C-AB44-77F6-990B-C72E8021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1972-0EA1-9EF8-BD40-F7EA8C34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FA98E-E555-BE2A-95C7-6F667E81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0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CD35-BD11-EDF5-7AF6-009A476D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0E33-AF62-00A2-1F0C-7BF84BAFB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9042E-DBD8-C406-ED13-8998F29C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A0BB6-74AC-7E86-C8BC-0F651CB0E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BF2DA-BBDE-6123-5B84-DD1EE4611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B8BC76-57D4-FD5E-16F2-7A965E120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76F67-DA3D-EE14-30FC-461D73E0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680C2-69AB-6B7A-8FF3-7D3205AB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2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28FD-0AF5-C2EE-C6EA-2588F800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4A18A-A590-3D04-DFF9-4D787BC3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439EC-324C-B6F9-1E5A-68D60C25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3E34C-C28C-6B32-2275-72B27AAF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3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43128-AA4B-F08E-2975-E19F5F33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7435A-A261-F1B7-6B91-342AC605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16CA0-AFC2-0879-7667-EAF91845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873F-1B49-D87C-898C-DC7C97B1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1576-A618-4869-8042-257486FB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F5ECE-27AE-E916-CCBA-D23DAD299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79B1A-6FE9-0668-DD36-773B4A1A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854F-49E9-0869-BF7D-5449633E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6E8B-F1F9-9769-2489-9883292B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5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5C31-BC9D-9974-B3B4-E44BFDEC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023AE-A26E-F6E0-A4B7-A251572B0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2B75D-0CDB-5A90-11FF-684ACEFB9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7484-8193-4786-E2A2-25AEED84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1144D-9D25-A616-7495-924AAA06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7737B-ACB4-3CF1-4D25-9338402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A0BF-3EA5-EAA2-70C6-CE3BE6B2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9D014-B217-8FE0-08EF-DFF166B99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A66F-60A9-3BA2-81AE-632E68A1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2E0AE-7505-DA6B-7885-F18858E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C1A5D-F51C-7217-2D75-BD297995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4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392DB-454A-3308-DF25-C77805D9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2A719-BB80-5749-A306-B0ED349B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01D6-0E3E-EAFD-B771-ABE9DCF0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31F89-02B2-98A1-617A-65811F3A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77F00-4FC3-5D66-DFC5-C02B1EE0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0DA42-3D84-D776-D4D7-5F87308A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BD2E6-B803-7D65-C11B-EE111BDB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10E64-466C-1923-CBCF-43BB3B0C7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4259D-0D63-A746-8F45-D559A12D1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A083-DE9F-5826-6075-627CD5AE2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C9197-DC07-188F-62D4-68D8FD6C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D61E7-021D-BCE5-59E3-B24CAE37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96012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74519" y="777240"/>
            <a:ext cx="4572000" cy="34747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BSc (Hons) Computer Science | Final Technical Viva Voce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0F172A"/>
                </a:solidFill>
                <a:latin typeface="Segoe UI"/>
              </a:defRPr>
            </a:pPr>
            <a:r>
              <a:t>TAB TIME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D4ED8"/>
                </a:solidFill>
                <a:latin typeface="Segoe UI"/>
              </a:defRPr>
            </a:pPr>
            <a:r>
              <a:t>A Privacy-Preserving Browser Extension for Real-Time Time Awareness, Visual Productivity Analytics, and Focus Management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School of Science, Technology &amp; Health | York St John University (London Campus)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l">
              <a:spcAft>
                <a:spcPts val="6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PRESENTER &amp; CANDIDATE DETAILS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Student Name: [Your Name / Candidate]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Student ID: [Student ID / Number]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Degree Programme: BSc (Hons) Computer Science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Email: [Student Email / YSJ Account]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l">
              <a:spcAft>
                <a:spcPts val="6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ACADEMIC ASSESSMENT METADATA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Module: LDC6005M Individual Research Project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Assessment: Component 3 – Technical Viva Voce Defense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Project Supervisor: [Project Supervisor Name]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Academic Session: 2025 / 2026 | Submission: June 2026</a:t>
            </a:r>
          </a:p>
        </p:txBody>
      </p:sp>
    </p:spTree>
    <p:extLst>
      <p:ext uri="{BB962C8B-B14F-4D97-AF65-F5344CB8AC3E}">
        <p14:creationId xmlns:p14="http://schemas.microsoft.com/office/powerpoint/2010/main" val="371167005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79E76B-E4BF-F1F9-CE51-CCB32FC8316A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BC676C5A-CF35-FADC-AF79-DDFA9DF79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9552834"/>
              </p:ext>
            </p:extLst>
          </p:nvPr>
        </p:nvGraphicFramePr>
        <p:xfrm>
          <a:off x="747252" y="1965999"/>
          <a:ext cx="9134163" cy="3994454"/>
        </p:xfrm>
        <a:graphic>
          <a:graphicData uri="http://schemas.openxmlformats.org/drawingml/2006/table">
            <a:tbl>
              <a:tblPr firstRow="1" firstCol="1" bandRow="1"/>
              <a:tblGrid>
                <a:gridCol w="4244136">
                  <a:extLst>
                    <a:ext uri="{9D8B030D-6E8A-4147-A177-3AD203B41FA5}">
                      <a16:colId xmlns:a16="http://schemas.microsoft.com/office/drawing/2014/main" val="67251598"/>
                    </a:ext>
                  </a:extLst>
                </a:gridCol>
                <a:gridCol w="4890027">
                  <a:extLst>
                    <a:ext uri="{9D8B030D-6E8A-4147-A177-3AD203B41FA5}">
                      <a16:colId xmlns:a16="http://schemas.microsoft.com/office/drawing/2014/main" val="3533018794"/>
                    </a:ext>
                  </a:extLst>
                </a:gridCol>
              </a:tblGrid>
              <a:tr h="753195">
                <a:tc gridSpan="2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The Coversheet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1B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Module: LDC6005M Individual Research Project (Component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1019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Student Name  (unless anonymised)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[Student Name / Candidate]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09896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Student Number  (as shown on student ID card):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[Student ID Number]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55742"/>
                  </a:ext>
                </a:extLst>
              </a:tr>
              <a:tr h="39623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Word Count / Pages / Duration / Other Limits: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 Minutes Presentation + 10 Minutes Q&amp;A / Panel Defense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16432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Assessment component number (1,2 or 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Component 3 (Oral Presentation &amp; Viva Voce)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86846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Assessment type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Technical Viva Voce Presentation &amp; System Demonstration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547218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Attempt Number: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Attempt 1 (First Sit)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6147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Date of Submission: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Academic Year 2025 / 2026 (June 2026)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10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0455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B81EE-3885-D2D3-457D-283BB862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1AE869-FA86-043C-2AA4-0DBE80E44528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8EC5FF-0A7E-52D8-D081-D4B9EDEA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28067"/>
              </p:ext>
            </p:extLst>
          </p:nvPr>
        </p:nvGraphicFramePr>
        <p:xfrm>
          <a:off x="854012" y="2273412"/>
          <a:ext cx="9007741" cy="1155587"/>
        </p:xfrm>
        <a:graphic>
          <a:graphicData uri="http://schemas.openxmlformats.org/drawingml/2006/table">
            <a:tbl>
              <a:tblPr firstRow="1" firstCol="1" bandRow="1"/>
              <a:tblGrid>
                <a:gridCol w="7218382">
                  <a:extLst>
                    <a:ext uri="{9D8B030D-6E8A-4147-A177-3AD203B41FA5}">
                      <a16:colId xmlns:a16="http://schemas.microsoft.com/office/drawing/2014/main" val="787756284"/>
                    </a:ext>
                  </a:extLst>
                </a:gridCol>
                <a:gridCol w="1789359">
                  <a:extLst>
                    <a:ext uri="{9D8B030D-6E8A-4147-A177-3AD203B41FA5}">
                      <a16:colId xmlns:a16="http://schemas.microsoft.com/office/drawing/2014/main" val="2451618896"/>
                    </a:ext>
                  </a:extLst>
                </a:gridCol>
              </a:tblGrid>
              <a:tr h="283351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Academic Misconduct Statement: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I confirm that this work is entirely my own independent research and implementation.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✔ Confirmed &amp; Understood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568068"/>
                  </a:ext>
                </a:extLst>
              </a:tr>
              <a:tr h="283351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Generative Artificial Intelligence Statement: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AI tools were used strictly in compliance with YSJ guidelines for code refinement and testing assistance.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✔ Confirmed &amp; Compliant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11619"/>
                  </a:ext>
                </a:extLst>
              </a:tr>
              <a:tr h="588885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Module Learning Outcomes (LO1–LO5):</a:t>
                      </a:r>
                    </a:p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I confirm that all five prescribed learning outcomes for LDC6005M have been comprehensively met.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✔ All Prescribed LOs Met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91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FF83F-571B-9B48-D9E3-A4DB99715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962977"/>
              </p:ext>
            </p:extLst>
          </p:nvPr>
        </p:nvGraphicFramePr>
        <p:xfrm>
          <a:off x="854012" y="3629966"/>
          <a:ext cx="9007739" cy="2310713"/>
        </p:xfrm>
        <a:graphic>
          <a:graphicData uri="http://schemas.openxmlformats.org/drawingml/2006/table">
            <a:tbl>
              <a:tblPr firstRow="1" firstCol="1" bandRow="1"/>
              <a:tblGrid>
                <a:gridCol w="9007739">
                  <a:extLst>
                    <a:ext uri="{9D8B030D-6E8A-4147-A177-3AD203B41FA5}">
                      <a16:colId xmlns:a16="http://schemas.microsoft.com/office/drawing/2014/main" val="609738656"/>
                    </a:ext>
                  </a:extLst>
                </a:gridCol>
              </a:tblGrid>
              <a:tr h="69126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Self-Assessment &amp; Critical Reflection (LDC6005M Viva Voce Defense)</a:t>
                      </a: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75"/>
                  </a:ext>
                </a:extLst>
              </a:tr>
              <a:tr h="1162821"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• Progress &amp; Technical Learning: Overcame complex Manifest V3 ephemeral service worker lifecycles by designing an event-driven debounce mechanism and asynchronous IndexedDB storage layer.</a:t>
                      </a:r>
                    </a:p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• Strongest Submission Asset: The rigorous empirical evaluation (n = 65 participants) achieving a System Usability Scale (SUS) score of 89.04/100 (Grade A), backed by ground-truth stopwatch validation.</a:t>
                      </a:r>
                    </a:p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• Constructive Reflection: Future iterations will incorporate WebAssembly-driven on-device NLP to provide semantic categorization without relying on cloud processing.</a:t>
                      </a: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89793"/>
                  </a:ext>
                </a:extLst>
              </a:tr>
              <a:tr h="456627">
                <a:tc>
                  <a:txBody>
                    <a:bodyPr/>
                    <a:lstStyle/>
                    <a:p>
                      <a:pPr>
                        <a:defRPr sz="950" i="1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Formal Declaration: I certify that the information provided in this viva presentation accurately reflects my independent technical implementation and empirical research.</a:t>
                      </a: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60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19894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Table of Contents: Presentation Roadmap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AGENDA &amp;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PHASE 01 : CONTEXT &amp; PROBLEM STATEMENT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Digital wellbeing crisis, attention fragmentation, surveillance capitalism &amp; cloud tracking vulnerabilities.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0292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PHASE 02 : AIMS, OBJECTIVES &amp; HYPOTHESES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Main aim, 5 measurable objectives, central research question, and formal testable hypotheses (H1, H2).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50292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PHASE 03 : LITERATURE REVIEW &amp; BENCHMARK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Theories of self-regulation, cognitive interruption costs, Manifest V2 vs V3, comparative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108960"/>
            <a:ext cx="50292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PHASE 04 : DSR METHODOLOGY &amp; ARCHITECTURE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Design Science Research model, Three-Layer architecture, telemetry data flow, participant cohort (n=65).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50292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PHASE 05 : EMPIRICAL RESULTS &amp; DISCUSSION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SUS Score (89.04 / 100), feature utility, stopwatch accuracy, technical challenges, ethics &amp; future roadmap.</a:t>
            </a:r>
          </a:p>
        </p:txBody>
      </p:sp>
    </p:spTree>
    <p:extLst>
      <p:ext uri="{BB962C8B-B14F-4D97-AF65-F5344CB8AC3E}">
        <p14:creationId xmlns:p14="http://schemas.microsoft.com/office/powerpoint/2010/main" val="201923397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1. Introduction &amp; Research Context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1: 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l">
              <a:spcAft>
                <a:spcPts val="600"/>
              </a:spcAft>
              <a:defRPr sz="1300" b="1">
                <a:solidFill>
                  <a:srgbClr val="1D4ED8"/>
                </a:solidFill>
                <a:latin typeface="Segoe UI"/>
              </a:defRPr>
            </a:pPr>
            <a:r>
              <a:t>THE DIGITAL WELLBEING LANDSCAPE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Frictionless Web Environments: Over 80% of modern academic research, study, and professional knowledge work is conducted directly inside web browsers.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Attention Fragmentation Crisis: Single-click access to social feeds and algorithmic entertainment fragments cognitive focus; recovering from an interruption requires up to 23 minutes (Mark et al., 2008).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The TabTime Solution: A lightweight, client-side browser extension engineered under Manifest V3 that provides real-time time awareness, visual analytics, and non-coercive focus management.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Privacy-by-Design Core: Completely operates on the user's local machine with zero external cloud telemetry, guaranteeing total user data sovereignty and GDPR compliance.</a:t>
            </a:r>
          </a:p>
        </p:txBody>
      </p:sp>
      <p:pic>
        <p:nvPicPr>
          <p:cNvPr id="7" name="Picture 6" descr="fig1_conceptual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28556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12064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Figure 1.1: Conceptual Overview of TabTime Mindful Digital Engagement Pipeline</a:t>
            </a:r>
          </a:p>
        </p:txBody>
      </p:sp>
    </p:spTree>
    <p:extLst>
      <p:ext uri="{BB962C8B-B14F-4D97-AF65-F5344CB8AC3E}">
        <p14:creationId xmlns:p14="http://schemas.microsoft.com/office/powerpoint/2010/main" val="25946045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32CC9-2F23-BFA7-DF8F-48771241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F73F-4A21-28C4-764F-BF89E730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2. Problem Statement &amp; Research Motives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859EE0-46E0-1E9F-8E51-B19B33D06CC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1: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SURVEILLANCE CAPITALISM IN TRACKERS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Commercial tools (e.g. RescueTime, Toggl) mandate continuous cloud synchronization, harvesting full URL streams and timestamps to external servers. This creates severe privacy vulnerabilities and corporate surveillance risks (Zuboff, 2019; GDPR Art. 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THE FUNCTIONAL BINARY DICHOTOMY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Existing solutions exhibit a stark functional divide: they either offer passive retrospective logging without active intervention, or enforce rigid, punitive website blocking that induces user frustration without encouraging reflective mindfulness.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LACK OF REAL-TIME BEHAVIORAL NUDGES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Users rarely comprehend cumulative micro-distractions during active browsing. Without instantaneous, transparent productivity scoring and gentle redirection, time slips away unnoticed across cognitive context switches (Mark et al., 2008).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THE TABTIME RESEARCH OPPORTUNITY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A privacy-preserving, on-device architecture merging automated millisecond tracking, instant mathematical scoring, and non-coercive focus interventions directly within modern browser sandboxes without remote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31971405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9DEF2-6BF1-73BB-357A-1B65F24E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1462-637C-20E8-F48A-8F959960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3. Research Aims, Objectives &amp; Hypotheses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D4D53C-1E30-DFF7-BF6F-03B6A02DFD05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1: AIMS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OVERARCHING PROJECT AIM</a:t>
            </a:r>
          </a:p>
          <a:p>
            <a:pPr algn="l">
              <a:spcAft>
                <a:spcPts val="10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To design, develop, and empirically evaluate a privacy-preserving browser extension that promotes digital wellbeing and time awareness through real-time tracking, productivity analytics, and focus management.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CENTRAL RESEARCH QUESTION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Can a browser extension combining automated time tracking, visual analytics, and focus management improve users' awareness of digital habits and reduce online distractions without compromising privacy?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FORMAL RESEARCH HYPOTHESES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H1: Active monitoring via automated tracking and visual feedback significantly improves temporal awareness and personal self-regulation.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H2: Dynamic focus sessions with non-coercive redirection significantly reduce distraction-related interruptions during focused tasks.</a:t>
            </a:r>
          </a:p>
        </p:txBody>
      </p:sp>
      <p:pic>
        <p:nvPicPr>
          <p:cNvPr id="7" name="Picture 6" descr="fig2_main_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212080" cy="2909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Figure 1.2: Project Main Aim and Core Research Objectives Framework</a:t>
            </a:r>
          </a:p>
        </p:txBody>
      </p:sp>
    </p:spTree>
    <p:extLst>
      <p:ext uri="{BB962C8B-B14F-4D97-AF65-F5344CB8AC3E}">
        <p14:creationId xmlns:p14="http://schemas.microsoft.com/office/powerpoint/2010/main" val="126216406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20F72-C90E-A834-065C-01A3AA02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68EF-9454-2291-92F2-EAE09FA4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4. Literature Review &amp; Comparative Analysis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92AD6E-01A5-CDB0-CFF1-2F767DCB5F2C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2: 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0515600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THEORETICAL FOUNDATIONS &amp; HCI FRAMEWORKS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Grounded in Self-Regulation Theory (Bandura, 1991), Attention Restoration Theory (Kaplan, 1995), and Cognitive Load Theory (Sweller, 1988).</a:t>
            </a:r>
            <a:br/>
            <a:r>
              <a:t>• Manifest V3 Paradigm Shift: Chrome MV3 enforces service workers, declarativeNetRequest, and eliminates arbitrary remote code execution, demanding a radical overhaul of extension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01752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TabTime (Ours)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RescueTime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Toggl Track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StayFocusd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100% Local Privacy (No Cloud)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✔ Yes (IndexedDB)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No (Remote Cloud)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No (Remote Cloud)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✔ Yes (Local Storage)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No (Cloud Sync)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Real-Time Productivity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✔ Instant Formula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✔ Proprietary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None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None (Limit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Gamified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Modern Manifest V3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✔ Native MV3 Engine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Legacy MV2 Script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Web / Desktop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Legacy MV2 Extension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Mobile App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Dynamic Rule Redirection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✔ declarativeNetRequest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Hard 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✔ DOM 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App 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Cost &amp; Open Source License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✔ 100% Free &amp; Open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Paid Sub ($12/mo)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Paid Sub ($9/mo)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✔ Free / Proprietary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✖ Freemium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71979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8C956-B357-3404-8FF8-832D0B29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B35E-E0C9-DA42-9298-79FF3992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5. Design Science Methodology &amp; Architecture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D74407-24A9-EC3F-1DC3-D27B2A7C3D2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4 &amp; 5: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DESIGN SCIENCE RESEARCH (DSR) PARADIGM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DSR Framework (Hevner et al., 2004): Structured iterative engineering consisting of problem identification, artifact design, laboratory testing, and empirical evaluation.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THREE-LAYER SYSTEM ARCHITECTURE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1. Presentation Layer: Clean UI popup (`popup.html`), full-screen analytics dashboard (`dashboard.html`), and rule configuration view (`settings.html`).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2. Logic Engine Layer: Manifest V3 background service worker (`background.js`), window focus tracking, tab lifecycle listener, and idle debounce detector.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3. Local Data Persistence Layer: Client-side storage abstraction (`storage.js`) backed by browser IndexedDB and `chrome.storage.local`.</a:t>
            </a:r>
          </a:p>
        </p:txBody>
      </p:sp>
      <p:pic>
        <p:nvPicPr>
          <p:cNvPr id="7" name="Picture 6" descr="fig4_three_lay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212080" cy="2909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Figure 5.1: Three-Layer System Architecture (Presentation, Logic, Local Storage)</a:t>
            </a:r>
          </a:p>
        </p:txBody>
      </p:sp>
    </p:spTree>
    <p:extLst>
      <p:ext uri="{BB962C8B-B14F-4D97-AF65-F5344CB8AC3E}">
        <p14:creationId xmlns:p14="http://schemas.microsoft.com/office/powerpoint/2010/main" val="250186151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D7089-539B-F1E4-1113-EA5BC9CA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92C5-107F-6235-7105-D007948E4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6. Data Collection Process &amp; Telemetry Pipeline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DD2137-4FFF-A1DE-B4C6-7E0B2CB064B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4: DATA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DUAL-STREAM EVALUATION STRATEGY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Stream 1: Automated Client-Side Telemetry: Captures active tab timestamps, window focus events, and domain transitions with a 60-second idle debounce threshold.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Stream 2: Google Forms Empirical Study: Comprehensive 25-question survey capturing user demographics, 10-item System Usability Scale (SUS), feature ratings, and behavioral impact.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PARTICIPANT COHORT DEMOGRAPHICS (n = 65)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Undergraduate Students: 47.7% (31 participants)</a:t>
            </a:r>
            <a:br/>
            <a:r>
              <a:t>• Knowledge Workers &amp; Professionals: 27.7% (18 participants)</a:t>
            </a:r>
            <a:br/>
            <a:r>
              <a:t>• Postgraduate Researchers: 10.8% (7 participants)</a:t>
            </a:r>
            <a:br/>
            <a:r>
              <a:t>• Academic Faculty: 13.8% (9 participants)</a:t>
            </a:r>
            <a:br/>
            <a:r>
              <a:t>• Browser Distribution: Google Chrome (78.5%), Brave (10.8%), Edge (6.2%), Firefox (4.6%).</a:t>
            </a:r>
          </a:p>
        </p:txBody>
      </p:sp>
      <p:pic>
        <p:nvPicPr>
          <p:cNvPr id="7" name="Picture 6" descr="fig_gform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212080" cy="2509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Figure 6.1: Google Forms Evaluation Participant Demographic Profile (n = 65)</a:t>
            </a:r>
          </a:p>
        </p:txBody>
      </p:sp>
    </p:spTree>
    <p:extLst>
      <p:ext uri="{BB962C8B-B14F-4D97-AF65-F5344CB8AC3E}">
        <p14:creationId xmlns:p14="http://schemas.microsoft.com/office/powerpoint/2010/main" val="332321336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1D47C-3CC6-20F5-3094-E96D00C1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0C99-3CF7-FBBF-0948-517B19BD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7. Results Presentation: Usability &amp; Feature Ratings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CCB68-991B-2F54-F71F-4C6E1A395E6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6: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0515600" cy="731520"/>
          </a:xfrm>
          <a:prstGeom prst="roundRect">
            <a:avLst/>
          </a:prstGeom>
          <a:solidFill>
            <a:srgbClr val="1D4ED8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SYSTEM USABILITY SCALE (SUS) COMPOSITE SCORE: 89.04 / 100  |  GRADE A (TOP 10% PERCENTILE)</a:t>
            </a:r>
          </a:p>
        </p:txBody>
      </p:sp>
      <p:pic>
        <p:nvPicPr>
          <p:cNvPr id="7" name="Picture 6" descr="fig_gform_sus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5120640" cy="27782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778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Figure 6.2: System Usability Scale (SUS) 10-Item Breakdown (Mean = 89.04)</a:t>
            </a:r>
          </a:p>
        </p:txBody>
      </p:sp>
      <p:pic>
        <p:nvPicPr>
          <p:cNvPr id="9" name="Picture 8" descr="fig_gform_feature_ra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468880"/>
            <a:ext cx="5120640" cy="24495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55778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Figure 6.3: Feature Utility &amp; Satisfaction Ratings (Tracking: 95.4%, Focus: 92.3%)</a:t>
            </a:r>
          </a:p>
        </p:txBody>
      </p:sp>
    </p:spTree>
    <p:extLst>
      <p:ext uri="{BB962C8B-B14F-4D97-AF65-F5344CB8AC3E}">
        <p14:creationId xmlns:p14="http://schemas.microsoft.com/office/powerpoint/2010/main" val="54966510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F0A96-AC3D-FF74-CD71-4C702447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9AB9-9BD3-E70E-C717-07432932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8. Results Analysis &amp; Hypotheses Interpretation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06A13-0E0D-80BA-4B12-47B7354E43D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6: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HYPOTHESES VALIDATION SUMMARY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Hypothesis H1 Confirmed: 95.4% of participants reported heightened awareness of digital habits; 89.2% demonstrated improved self-regulation.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Hypothesis H2 Confirmed: 93.8% reported substantial reduction in distraction interruptions during work and study sessions.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GROUND-TRUTH STOPWATCH ACCURACY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Timing Precision: Mean deviation of ±1.8 seconds compared to external physical stopwatch benchmarks across 1-hour sessions (99.85% tracking accuracy).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Lightweight System Overhead: Memory consumption stabilized between 14 MB and 22 MB RAM, with &lt;0.5% CPU utilization during background polling.</a:t>
            </a:r>
          </a:p>
        </p:txBody>
      </p:sp>
      <p:pic>
        <p:nvPicPr>
          <p:cNvPr id="7" name="Picture 6" descr="fig_gform_behavioral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212080" cy="26813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Figure 6.4: Self-Reported Behavioral Impact on Time Awareness and Distraction Reduction</a:t>
            </a:r>
          </a:p>
        </p:txBody>
      </p:sp>
    </p:spTree>
    <p:extLst>
      <p:ext uri="{BB962C8B-B14F-4D97-AF65-F5344CB8AC3E}">
        <p14:creationId xmlns:p14="http://schemas.microsoft.com/office/powerpoint/2010/main" val="325689415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3E112-0E04-72DC-C771-4044112EA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A7C8-B114-B738-4FAB-9CD28526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9. Engineering Challenges &amp; Problem Resolution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5473B2-C492-4092-1CEF-06BAC1617F2A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5: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1. MV3 SERVICE WORKER EPHEMERALITY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Chrome MV3 terminates idle service workers after 30 seconds. In-flight session timers risk corruption. RESOLUTION: Implemented event-driven state hydration via chrome.storage.local with immediate state flushing on suspend.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2. INDEXEDDB TRANSACTION CONTENTION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Rapid tab switching caused concurrent asynchronous write collisions and lock timeouts. RESOLUTION: Engineered a serialized First-In-First-Out (FIFO) queue for batching disk transactions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3. DECLARATIVENETREQUEST MIGRATION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MV3 deprecated blocking webRequest APIs. Dynamic redirect rules required schema adaptation. RESOLUTION: Created a dynamic ruleset compiler mapping user blocklists directly to local redirection headers.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475569"/>
                </a:solidFill>
                <a:latin typeface="Segoe UI"/>
              </a:defRPr>
            </a:pPr>
            <a:r>
              <a:t>4. STUDY LIMITATIONS &amp; GENERALIZABILITY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Sample cohort (n = 65) was predominantly desktop Chromium users (Chrome, Edge, Brave). Mobile browsers and longitudinal multi-month habit shifts remain outside current research boundaries.</a:t>
            </a:r>
          </a:p>
        </p:txBody>
      </p:sp>
    </p:spTree>
    <p:extLst>
      <p:ext uri="{BB962C8B-B14F-4D97-AF65-F5344CB8AC3E}">
        <p14:creationId xmlns:p14="http://schemas.microsoft.com/office/powerpoint/2010/main" val="367117854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4A539-F1B3-27B0-598C-23A399EC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FD90-9648-4A1A-E9BE-839F2D75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10. Critical Discussion &amp; Project Contributions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38C946-0652-E7D6-78FC-813678F6263F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7: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669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THEORETICAL &amp; HCI CONTRIBUTIONS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Validating Non-Coercive Interventions: Demonstrates that immediate visual feedback (Chart.js donuts, productivity scoring) fosters sustained behavioral reflection without punitive locks.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PRACTICAL SOFTWARE ENGINEERING IMPACT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Debunking the Cloud Surveillance Myth: Confirms that enterprise-grade time tracking does NOT require central server telemetry or privacy compromises.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PROFESSIONAL BCS STANDARDS COMPLIANCE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Upholds the British Computer Society (BCS) Code of Conduct by safeguarding public interest, ensuring total data security, and adhering to W3C open standards.</a:t>
            </a:r>
          </a:p>
        </p:txBody>
      </p:sp>
      <p:pic>
        <p:nvPicPr>
          <p:cNvPr id="7" name="Picture 6" descr="fig_u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45920"/>
            <a:ext cx="342951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5321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50" b="1">
                <a:solidFill>
                  <a:srgbClr val="475569"/>
                </a:solidFill>
                <a:latin typeface="Calibri"/>
              </a:defRPr>
            </a:pPr>
            <a:r>
              <a:t>Figure 7.1: Interactive Analytics Dashboard (Chart.js &amp; IndexedDB)</a:t>
            </a:r>
          </a:p>
        </p:txBody>
      </p:sp>
    </p:spTree>
    <p:extLst>
      <p:ext uri="{BB962C8B-B14F-4D97-AF65-F5344CB8AC3E}">
        <p14:creationId xmlns:p14="http://schemas.microsoft.com/office/powerpoint/2010/main" val="39803445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69759-052A-5CA2-9409-447B80B5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B723-FE64-2C2B-112C-4C9DEA08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11. Recommendations for Future Work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A7B504-6BCD-0BA3-6AB4-24D8A7BD18C0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8: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1. ON-DEVICE NLP CATEGORIZATION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Incorporate WebAssembly-based micro-LLMs or TensorFlow.js to semantically categorize web page content directly on-device without transmitting text to third-party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2. CLIENT-SIDE ZERO-KNOWLEDGE SYNC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Engineer end-to-end encrypted synchronization utilizing Web Cryptography API (AES-GCM-256) via personal cloud containers (WebDAV, Google Drive, iCloud).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3. MOBILE EXTENSION COMPATIBILITY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Port background worker scripts to mobile browser runtimes (Firefox for Android and Safari iOS) to track and harmonize mobile attention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4. ADAPTIVE BIOMETRIC &amp; AUDIO PACING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Integrate adaptive Pomodoro intervals driven by passive fatigue indicators, accompanied by subtle binaural ambient audio cues to ease task transitions.</a:t>
            </a:r>
          </a:p>
        </p:txBody>
      </p:sp>
    </p:spTree>
    <p:extLst>
      <p:ext uri="{BB962C8B-B14F-4D97-AF65-F5344CB8AC3E}">
        <p14:creationId xmlns:p14="http://schemas.microsoft.com/office/powerpoint/2010/main" val="361343278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7ED9B-71A4-7ACA-591F-B630F6FE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A440-1587-1CE2-FFE8-B83355B0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12. Project Conclusions &amp; Core Takeaways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994DFC-825D-8C12-1738-D6C3DB276E2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CHAPTER 7: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0515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OVERALL PROJECT OUTCOME &amp; ARTEFACT SUCCESS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Successfully designed, implemented, and validated TabTime—an open-source, production-ready browser extension operating under Manifest V3 that delivers real-time time tracking, productivity analytics, and focus management with 100% on-device privacy.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10515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DEFINITIVE RESOLUTION OF RESEARCH QUESTION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Demonstrated that non-coercive behavioral nudges paired with immediate visual analytics significantly enhance user temporal awareness (95.4%) and reduce online distractions (93.8%), validating both core research hypotheses (H1 &amp; H2).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10515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ACADEMIC &amp; INDUSTRY SIGNIFICANCE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Achieved a top-tier System Usability Scale (SUS) score of 89.04/100 (Grade A), proving that rigorous privacy-by-design principles can coexist with high-precision temporal tracking without server reliance.</a:t>
            </a:r>
          </a:p>
        </p:txBody>
      </p:sp>
    </p:spTree>
    <p:extLst>
      <p:ext uri="{BB962C8B-B14F-4D97-AF65-F5344CB8AC3E}">
        <p14:creationId xmlns:p14="http://schemas.microsoft.com/office/powerpoint/2010/main" val="307285575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3BA22-5B2F-E652-D77F-10FB3AAE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8890-8CF1-83D6-F540-5C861CFB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13. Ethical Considerations &amp; Regulatory Governance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CB69D-F127-ABF0-C9AF-8A9DAA2469E7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ETHICS &amp;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YSJ ETHICAL APPROVAL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Formal ethical clearance obtained under York St John University School of Science, Technology &amp; Health research ethics framework (Module LDC6005M protocol).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GDPR DATA PROTECTION BY DESIGN (ART. 25)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Full compliance with GDPR &amp; UK DPA 2018: zero cloud database, zero telemetry harvesting, and local client-side storage isolation within browser IndexedDB.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VOLUNTARY INFORMED CONSENT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All 65 evaluation participants received a Participant Information Sheet (PIS) and provided explicit digital consent with an unconditional right to withdraw.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TOTAL ANONYMITY &amp; ZERO PII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No names, IP addresses, full URL paths, or query tokens were captured. Telemetry strictly logged domain-level hostnames on the user's personal hardware.</a:t>
            </a:r>
          </a:p>
        </p:txBody>
      </p:sp>
    </p:spTree>
    <p:extLst>
      <p:ext uri="{BB962C8B-B14F-4D97-AF65-F5344CB8AC3E}">
        <p14:creationId xmlns:p14="http://schemas.microsoft.com/office/powerpoint/2010/main" val="296270049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9BF30-E6D8-5B5B-82B2-F51B7AD5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F6D2-FDA6-BC46-0D08-5F74D030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14. Academic References &amp; Cited Works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29C2A5-3D4A-AB8B-35CC-A0C7327DDA6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l">
              <a:spcAft>
                <a:spcPts val="6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HARVARD-STYLE CITATIONS (PART 1)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Bandura, A. (1991) 'Social cognitive theory of self-regulation', Organizational Behavior and Human Decision Processes, 50(2), pp. 248–287.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Bangor, A., Kortum, P.T. and Miller, J.T. (2008) 'An empirical evaluation of the system usability scale', Intl. Journal of Human-Computer Interaction, 24(6), pp. 574–594.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British Computer Society (2022) The BCS Code of Conduct for Information Security and Computing Professionals. Swindon: BCS.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Brooke, J. (1996) 'SUS: A quick and dirty usability scale', in Jordan, P.W. et al. (eds.) Usability Evaluation in Industry. London: Taylor &amp; Francis, pp. 189–194.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European Union (2016) Regulation (EU) 2016/679 (General Data Protection Regulation). Official Journal of the European Union, L 119, pp. 1–88.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12064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l">
              <a:spcAft>
                <a:spcPts val="6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HARVARD-STYLE CITATIONS (PART 2)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Google Chrome Developers (2024) Manifest V3 Migration Guide and declarativeNetRequest API Reference. Mountain View: Google LLC.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Hevner, A.R., March, S.T., Park, J. and Ram, S. (2004) 'Design science in information systems research', MIS Quarterly, 28(1), pp. 75–105.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Kaplan, S. (1995) 'The restorative benefits of nature: Toward an integrative framework', Journal of Environmental Psychology, 15(3), pp. 169–182.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Mark, G., Gudith, D. and Klocke, U. (2008) 'The cost of interrupted work: More speed and stress', in Proc. of the SIGCHI Conference on Human Factors in Computing Systems, pp. 107–110.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0F172A"/>
                </a:solidFill>
                <a:latin typeface="Calibri"/>
              </a:defRPr>
            </a:pPr>
            <a:r>
              <a:t>Zuboff, S. (2019) The Age of Surveillance Capitalism: The Fight for a Human Future at the New Frontier of Power. New York: PublicAffairs.</a:t>
            </a:r>
          </a:p>
        </p:txBody>
      </p:sp>
    </p:spTree>
    <p:extLst>
      <p:ext uri="{BB962C8B-B14F-4D97-AF65-F5344CB8AC3E}">
        <p14:creationId xmlns:p14="http://schemas.microsoft.com/office/powerpoint/2010/main" val="261048030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D62C4-CDDF-997C-59F6-D88DE031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E1D5-0049-110B-29B2-6F6BC0A1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15. Executive Summary &amp; Wrap-Up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7457C6-61D3-94B1-6A39-F0156E78717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PROJECT PURPOSE &amp; VALUE PROPOSITION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Delivered TabTime—a lightweight, client-side browser extension empowering students and knowledge workers with millisecond-accurate time awareness, visual analytics, and non-coercive focus interventions with zero cloud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0292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DESIGN SCIENCE RESEARCH METHODOLOGY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Followed rigorous DSR principles combining Manifest V3 software engineering, multi-tier testing, ground-truth stopwatch benchmarks (99.85% accuracy), and empirical UAT evaluation across n = 65 participants.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KEY EVALUATION FINDINGS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Achieved a composite SUS score of 89.04/100 (Grade A usability); 95.4% time awareness improvement; 93.8% distraction reduction; ultra-low footprint (14–22 MB RAM, &lt;0.5% CPU).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502920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l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ACADEMIC &amp; ETHICAL CONTRIBUTIONS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Pioneered a viable zero-cloud, privacy-preserving telemetry model that adheres to BCS ethical standards and proves privacy and powerful analytics can successfully unite.</a:t>
            </a:r>
          </a:p>
        </p:txBody>
      </p:sp>
    </p:spTree>
    <p:extLst>
      <p:ext uri="{BB962C8B-B14F-4D97-AF65-F5344CB8AC3E}">
        <p14:creationId xmlns:p14="http://schemas.microsoft.com/office/powerpoint/2010/main" val="308296025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29891-9BC7-5DEB-8759-D5E0ED6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4EA-193B-E6CE-01EC-5743B8C3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pPr algn="l">
              <a:spcAft>
                <a:spcPts val="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16. Questions &amp; Viva Voce Defense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B56490-0ADA-F749-CEBF-E335FBB36316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"/>
            <a:ext cx="29260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Q&amp;A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9692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>
              <a:spcAft>
                <a:spcPts val="8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THANK YOU FOR YOUR TIME &amp; ATTENTION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1D4ED8"/>
                </a:solidFill>
                <a:latin typeface="Segoe UI"/>
              </a:defRPr>
            </a:pPr>
            <a:r>
              <a:t>TAB TIME: A Privacy-Preserving Browser Extension for Real-Time Time Awareness, Visual Productivity Analytics, and Focus Management</a:t>
            </a:r>
          </a:p>
          <a:p>
            <a:pPr algn="ctr">
              <a:spcAft>
                <a:spcPts val="20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Examination Panel is Respectfully Invited for Questions, Discussion &amp; Technical Defense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Candidate: [Your Name]  |  Student ID: [Student ID Number]  |  Supervisor: [Supervisor Name]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BSc (Hons) Computer Science  |  School of Science, Technology &amp; Health  |  York St John University (London)</a:t>
            </a:r>
          </a:p>
        </p:txBody>
      </p:sp>
      <p:pic>
        <p:nvPicPr>
          <p:cNvPr id="7" name="Picture 6" descr="icon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5029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2296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174165-9e85-4698-9101-9df70a8b8bc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2F4A1C5737404AA29ACCAF4ACF7929" ma:contentTypeVersion="14" ma:contentTypeDescription="Create a new document." ma:contentTypeScope="" ma:versionID="b1138fc30112e532684a3844b00088b2">
  <xsd:schema xmlns:xsd="http://www.w3.org/2001/XMLSchema" xmlns:xs="http://www.w3.org/2001/XMLSchema" xmlns:p="http://schemas.microsoft.com/office/2006/metadata/properties" xmlns:ns2="5f174165-9e85-4698-9101-9df70a8b8bcc" xmlns:ns3="59cd5ed3-f717-4fd0-ac6b-966345ff2509" targetNamespace="http://schemas.microsoft.com/office/2006/metadata/properties" ma:root="true" ma:fieldsID="c9ac159f03f3a3cc81b964132c323051" ns2:_="" ns3:_="">
    <xsd:import namespace="5f174165-9e85-4698-9101-9df70a8b8bcc"/>
    <xsd:import namespace="59cd5ed3-f717-4fd0-ac6b-966345ff25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74165-9e85-4698-9101-9df70a8b8b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abb1a67c-477c-4f54-866d-e73c7b3fe0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d5ed3-f717-4fd0-ac6b-966345ff250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93ECB7-811A-478B-B876-D16AAA496A70}">
  <ds:schemaRefs>
    <ds:schemaRef ds:uri="http://schemas.microsoft.com/office/2006/metadata/properties"/>
    <ds:schemaRef ds:uri="http://schemas.microsoft.com/office/infopath/2007/PartnerControls"/>
    <ds:schemaRef ds:uri="dafeb0ad-13d5-4e0d-8144-31148812dcc0"/>
    <ds:schemaRef ds:uri="a8fa98bc-f420-44dd-88e1-8912e31aef73"/>
    <ds:schemaRef ds:uri="5f174165-9e85-4698-9101-9df70a8b8bcc"/>
  </ds:schemaRefs>
</ds:datastoreItem>
</file>

<file path=customXml/itemProps2.xml><?xml version="1.0" encoding="utf-8"?>
<ds:datastoreItem xmlns:ds="http://schemas.openxmlformats.org/officeDocument/2006/customXml" ds:itemID="{6D9BBD72-5396-4575-8A0B-FA6CC524C8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174165-9e85-4698-9101-9df70a8b8bcc"/>
    <ds:schemaRef ds:uri="59cd5ed3-f717-4fd0-ac6b-966345ff25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032408-9DD7-44B2-8F33-9CF0367CBF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2956</Words>
  <Application>Microsoft Office PowerPoint</Application>
  <PresentationFormat>Widescreen</PresentationFormat>
  <Paragraphs>232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Table of Contents: Presentation Roadmap</vt:lpstr>
      <vt:lpstr>1. Introduction &amp; Research Context</vt:lpstr>
      <vt:lpstr>2. Problem Statement &amp; Research Motives</vt:lpstr>
      <vt:lpstr>3. Research Aims, Objectives &amp; Hypotheses</vt:lpstr>
      <vt:lpstr>4. Literature Review &amp; Comparative Analysis</vt:lpstr>
      <vt:lpstr>5. Design Science Methodology &amp; Architecture</vt:lpstr>
      <vt:lpstr>6. Data Collection Process &amp; Telemetry Pipeline</vt:lpstr>
      <vt:lpstr>7. Results Presentation: Usability &amp; Feature Ratings</vt:lpstr>
      <vt:lpstr>8. Results Analysis &amp; Hypotheses Interpretation</vt:lpstr>
      <vt:lpstr>9. Engineering Challenges &amp; Problem Resolution</vt:lpstr>
      <vt:lpstr>10. Critical Discussion &amp; Project Contributions</vt:lpstr>
      <vt:lpstr>11. Recommendations for Future Work</vt:lpstr>
      <vt:lpstr>12. Project Conclusions &amp; Core Takeaways</vt:lpstr>
      <vt:lpstr>13. Ethical Considerations &amp; Regulatory Governance</vt:lpstr>
      <vt:lpstr>14. Academic References &amp; Cited Works</vt:lpstr>
      <vt:lpstr>15. Executive Summary &amp; Wrap-Up</vt:lpstr>
      <vt:lpstr>16. Questions &amp; Viva Voce Defense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Lucy Pittard</dc:creator>
  <cp:lastModifiedBy>Jawzi Ahamed M J A IT24102998</cp:lastModifiedBy>
  <cp:revision>13</cp:revision>
  <dcterms:created xsi:type="dcterms:W3CDTF">2023-06-15T10:03:21Z</dcterms:created>
  <dcterms:modified xsi:type="dcterms:W3CDTF">2026-09-18T06:58:14Z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0x0101001E2F4A1C5737404AA29ACCAF4ACF7929</vt:lpwstr>
  </property>
</Properties>
</file>