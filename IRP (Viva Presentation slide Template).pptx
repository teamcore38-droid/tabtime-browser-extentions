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98" r:id="rId5"/>
    <p:sldId id="256" r:id="rId6"/>
    <p:sldId id="296" r:id="rId7"/>
    <p:sldId id="257" r:id="rId8"/>
    <p:sldId id="271" r:id="rId9"/>
    <p:sldId id="281" r:id="rId10"/>
    <p:sldId id="282" r:id="rId11"/>
    <p:sldId id="283" r:id="rId12"/>
    <p:sldId id="287" r:id="rId13"/>
    <p:sldId id="288" r:id="rId14"/>
    <p:sldId id="291" r:id="rId15"/>
    <p:sldId id="299" r:id="rId16"/>
    <p:sldId id="300" r:id="rId17"/>
    <p:sldId id="301" r:id="rId18"/>
    <p:sldId id="292" r:id="rId19"/>
    <p:sldId id="293" r:id="rId20"/>
    <p:sldId id="297" r:id="rId21"/>
    <p:sldId id="294" r:id="rId22"/>
    <p:sldId id="302" r:id="rId23"/>
    <p:sldId id="303"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1"/>
    <p:restoredTop sz="96327"/>
  </p:normalViewPr>
  <p:slideViewPr>
    <p:cSldViewPr snapToGrid="0">
      <p:cViewPr varScale="1">
        <p:scale>
          <a:sx n="64" d="100"/>
          <a:sy n="64" d="100"/>
        </p:scale>
        <p:origin x="72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E402F3-7BE2-C536-1018-59B6C2BA7C02}"/>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E7E7A47-ED07-12B9-2E03-AB7A8A9990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2505034D-4956-9C6B-1680-968B1CCE9C52}"/>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1D9A967B-1FAE-8987-9978-87F8943985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A5EB47-6D30-CE44-BDCD-F27076D17F3E}"/>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27004786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147AA-3D78-0FD3-4107-DB6BF631128D}"/>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C0ADDD8-EA04-3588-D9FC-C1648652B36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D2C4E0F-A337-6B6A-9697-592773770BFB}"/>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73884A92-03DE-C4B6-EF4B-4495DAA68DF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27A988-2AFA-9771-20B4-7827F76C1CD0}"/>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2312483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81F0E6-12EE-027C-6CA3-F9D10E1663B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0336096-2FB0-E157-8C50-91EC4DCD719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641EB5B-EF05-F581-D4ED-0EBD8C6EE506}"/>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D9A71FE1-C47A-2809-3114-AFB7166C37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4D19D4-BC8E-6085-5882-8D07E6F518BF}"/>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34635584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A10AE-C805-A694-7EC3-3AE3410EBB6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4C4F8DB-04DA-43D0-E7BF-249A17608A0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FE393F67-856B-B72F-6BA9-5C085B48AB9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A945D1C-AB44-77F6-990B-C72E802103AA}"/>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6" name="Footer Placeholder 5">
            <a:extLst>
              <a:ext uri="{FF2B5EF4-FFF2-40B4-BE49-F238E27FC236}">
                <a16:creationId xmlns:a16="http://schemas.microsoft.com/office/drawing/2014/main" id="{9BE21972-0EA1-9EF8-BD40-F7EA8C346A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F9FA98E-E555-BE2A-95C7-6F667E81A7AE}"/>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455904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B3CD35-BD11-EDF5-7AF6-009A476DB87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89E0E33-AF62-00A2-1F0C-7BF84BAFB8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CB69042E-DBD8-C406-ED13-8998F29CA72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C8DA0BB6-74AC-7E86-C8BC-0F651CB0E88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EDBF2DA-BBDE-6123-5B84-DD1EE46118E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85B8BC76-57D4-FD5E-16F2-7A965E120CC3}"/>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8" name="Footer Placeholder 7">
            <a:extLst>
              <a:ext uri="{FF2B5EF4-FFF2-40B4-BE49-F238E27FC236}">
                <a16:creationId xmlns:a16="http://schemas.microsoft.com/office/drawing/2014/main" id="{DBA76F67-DA3D-EE14-30FC-461D73E051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5D680C2-69AB-6B7A-8FF3-7D3205ABB308}"/>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18013298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D28FD-0AF5-C2EE-C6EA-2588F80052A3}"/>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F64A18A-A590-3D04-DFF9-4D787BC369E7}"/>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4" name="Footer Placeholder 3">
            <a:extLst>
              <a:ext uri="{FF2B5EF4-FFF2-40B4-BE49-F238E27FC236}">
                <a16:creationId xmlns:a16="http://schemas.microsoft.com/office/drawing/2014/main" id="{7FB439EC-324C-B6F9-1E5A-68D60C253B4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2C3E34C-C28C-6B32-2275-72B27AAFC74F}"/>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42619355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5A43128-AA4B-F08E-2975-E19F5F33D2C9}"/>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3" name="Footer Placeholder 2">
            <a:extLst>
              <a:ext uri="{FF2B5EF4-FFF2-40B4-BE49-F238E27FC236}">
                <a16:creationId xmlns:a16="http://schemas.microsoft.com/office/drawing/2014/main" id="{51C7435A-A261-F1B7-6B91-342AC60566D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4D16CA0-AFC2-0879-7667-EAF91845743D}"/>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348679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4873F-1B49-D87C-898C-DC7C97B1403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524E1576-A618-4869-8042-257486FB586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8B8F5ECE-27AE-E916-CCBA-D23DAD2998F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3BA79B1A-6FE9-0668-DD36-773B4A1A76A2}"/>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6" name="Footer Placeholder 5">
            <a:extLst>
              <a:ext uri="{FF2B5EF4-FFF2-40B4-BE49-F238E27FC236}">
                <a16:creationId xmlns:a16="http://schemas.microsoft.com/office/drawing/2014/main" id="{856C854F-49E9-0869-BF7D-5449633ECC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C966E8B-F1F9-9769-2489-9883292B5898}"/>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1770751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895C31-BC9D-9974-B3B4-E44BFDEC1DF2}"/>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33023AE-A26E-F6E0-A4B7-A251572B0F8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892B75D-0CDB-5A90-11FF-684ACEFB95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14C07484-8193-4786-E2A2-25AEED8452F9}"/>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6" name="Footer Placeholder 5">
            <a:extLst>
              <a:ext uri="{FF2B5EF4-FFF2-40B4-BE49-F238E27FC236}">
                <a16:creationId xmlns:a16="http://schemas.microsoft.com/office/drawing/2014/main" id="{5381144D-9D25-A616-7495-924AAA06553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907737B-ACB4-3CF1-4D25-9338402BE077}"/>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35066580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60A0BF-3EA5-EAA2-70C6-CE3BE6B2755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A89D014-B217-8FE0-08EF-DFF166B99E4A}"/>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29CA66F-60A9-3BA2-81AE-632E68A17487}"/>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11F2E0AE-7505-DA6B-7885-F18858E75C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B0C1A5D-F51C-7217-2D75-BD2979954045}"/>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5005473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7392DB-454A-3308-DF25-C77805D996D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4602A719-BB80-5749-A306-B0ED349B2C72}"/>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FEC01D6-0E3E-EAFD-B771-ABE9DCF0E620}"/>
              </a:ext>
            </a:extLst>
          </p:cNvPr>
          <p:cNvSpPr>
            <a:spLocks noGrp="1"/>
          </p:cNvSpPr>
          <p:nvPr>
            <p:ph type="dt" sz="half" idx="10"/>
          </p:nvPr>
        </p:nvSpPr>
        <p:spPr/>
        <p:txBody>
          <a:body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A0431F89-02B2-98A1-617A-65811F3A7A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C77F00-4FC3-5D66-DFC5-C02B1EE0221E}"/>
              </a:ext>
            </a:extLst>
          </p:cNvPr>
          <p:cNvSpPr>
            <a:spLocks noGrp="1"/>
          </p:cNvSpPr>
          <p:nvPr>
            <p:ph type="sldNum" sz="quarter" idx="12"/>
          </p:nvPr>
        </p:nvSpPr>
        <p:spPr/>
        <p:txBody>
          <a:bodyPr/>
          <a:lstStyle/>
          <a:p>
            <a:fld id="{121708FC-AA12-894F-A6C0-DC8F9A09554F}" type="slidenum">
              <a:rPr lang="en-US" smtClean="0"/>
              <a:t>‹#›</a:t>
            </a:fld>
            <a:endParaRPr lang="en-US"/>
          </a:p>
        </p:txBody>
      </p:sp>
    </p:spTree>
    <p:extLst>
      <p:ext uri="{BB962C8B-B14F-4D97-AF65-F5344CB8AC3E}">
        <p14:creationId xmlns:p14="http://schemas.microsoft.com/office/powerpoint/2010/main" val="981015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50DA42-3D84-D776-D4D7-5F87308AFA4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7CBD2E6-B803-7D65-C11B-EE111BDBCDE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9A10E64-466C-1923-CBCF-43BB3B0C718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1C4259D-0D63-A746-8F45-D559A12D16E7}" type="datetimeFigureOut">
              <a:rPr lang="en-US" smtClean="0"/>
              <a:t>10/22/2025</a:t>
            </a:fld>
            <a:endParaRPr lang="en-US"/>
          </a:p>
        </p:txBody>
      </p:sp>
      <p:sp>
        <p:nvSpPr>
          <p:cNvPr id="5" name="Footer Placeholder 4">
            <a:extLst>
              <a:ext uri="{FF2B5EF4-FFF2-40B4-BE49-F238E27FC236}">
                <a16:creationId xmlns:a16="http://schemas.microsoft.com/office/drawing/2014/main" id="{ABC5A083-DE9F-5826-6075-627CD5AE294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EDC9197-DC07-188F-62D4-68D8FD6C1A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21708FC-AA12-894F-A6C0-DC8F9A09554F}" type="slidenum">
              <a:rPr lang="en-US" smtClean="0"/>
              <a:t>‹#›</a:t>
            </a:fld>
            <a:endParaRPr lang="en-US"/>
          </a:p>
        </p:txBody>
      </p:sp>
    </p:spTree>
    <p:extLst>
      <p:ext uri="{BB962C8B-B14F-4D97-AF65-F5344CB8AC3E}">
        <p14:creationId xmlns:p14="http://schemas.microsoft.com/office/powerpoint/2010/main" val="26672080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hyperlink" Target="https://blog.yorksj.ac.uk/assessment/coversheet-statement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5AAD61E7-021D-BCE5-59E3-B24CAE3713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C09876-E89A-FF2C-1784-EAF1A2B19B1C}"/>
              </a:ext>
            </a:extLst>
          </p:cNvPr>
          <p:cNvSpPr>
            <a:spLocks noGrp="1"/>
          </p:cNvSpPr>
          <p:nvPr>
            <p:ph type="ctrTitle"/>
          </p:nvPr>
        </p:nvSpPr>
        <p:spPr>
          <a:xfrm>
            <a:off x="2181707" y="1655903"/>
            <a:ext cx="7606095" cy="1593924"/>
          </a:xfrm>
        </p:spPr>
        <p:txBody>
          <a:bodyPr>
            <a:noAutofit/>
          </a:bodyPr>
          <a:lstStyle/>
          <a:p>
            <a:br>
              <a:rPr lang="en-US" sz="4000" dirty="0">
                <a:latin typeface="Arial" panose="020B0604020202020204" pitchFamily="34" charset="0"/>
                <a:cs typeface="Arial" panose="020B0604020202020204" pitchFamily="34" charset="0"/>
              </a:rPr>
            </a:br>
            <a:r>
              <a:rPr lang="en-US" sz="4000" dirty="0">
                <a:latin typeface="Arial" panose="020B0604020202020204" pitchFamily="34" charset="0"/>
                <a:cs typeface="Arial" panose="020B0604020202020204" pitchFamily="34" charset="0"/>
              </a:rPr>
              <a:t>Your Applied Research Project  Title</a:t>
            </a:r>
          </a:p>
        </p:txBody>
      </p:sp>
      <p:cxnSp>
        <p:nvCxnSpPr>
          <p:cNvPr id="5" name="Straight Connector 4">
            <a:extLst>
              <a:ext uri="{FF2B5EF4-FFF2-40B4-BE49-F238E27FC236}">
                <a16:creationId xmlns:a16="http://schemas.microsoft.com/office/drawing/2014/main" id="{A6E57400-0300-9E7B-5ED5-FFE6F9FE5BB9}"/>
              </a:ext>
            </a:extLst>
          </p:cNvPr>
          <p:cNvCxnSpPr/>
          <p:nvPr/>
        </p:nvCxnSpPr>
        <p:spPr>
          <a:xfrm>
            <a:off x="599177" y="3998301"/>
            <a:ext cx="0" cy="23107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C4C22AEF-98ED-40B7-F401-4F4D0B97CC64}"/>
              </a:ext>
            </a:extLst>
          </p:cNvPr>
          <p:cNvSpPr txBox="1">
            <a:spLocks/>
          </p:cNvSpPr>
          <p:nvPr/>
        </p:nvSpPr>
        <p:spPr>
          <a:xfrm>
            <a:off x="599177" y="4715091"/>
            <a:ext cx="7606095" cy="1593924"/>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2400" dirty="0">
                <a:latin typeface="Arial" panose="020B0604020202020204" pitchFamily="34" charset="0"/>
                <a:cs typeface="Arial" panose="020B0604020202020204" pitchFamily="34" charset="0"/>
              </a:rPr>
              <a:t>Student Name: </a:t>
            </a:r>
          </a:p>
          <a:p>
            <a:pPr algn="l"/>
            <a:r>
              <a:rPr lang="en-US" sz="2400" dirty="0">
                <a:latin typeface="Arial" panose="020B0604020202020204" pitchFamily="34" charset="0"/>
                <a:cs typeface="Arial" panose="020B0604020202020204" pitchFamily="34" charset="0"/>
              </a:rPr>
              <a:t>Student ID:</a:t>
            </a:r>
            <a:br>
              <a:rPr lang="en-US" sz="2400" dirty="0">
                <a:latin typeface="Arial" panose="020B0604020202020204" pitchFamily="34" charset="0"/>
                <a:cs typeface="Arial" panose="020B0604020202020204" pitchFamily="34" charset="0"/>
              </a:rPr>
            </a:br>
            <a:r>
              <a:rPr lang="en-US" sz="2400" dirty="0">
                <a:latin typeface="Arial" panose="020B0604020202020204" pitchFamily="34" charset="0"/>
                <a:cs typeface="Arial" panose="020B0604020202020204" pitchFamily="34" charset="0"/>
              </a:rPr>
              <a:t>Student Email:</a:t>
            </a:r>
          </a:p>
          <a:p>
            <a:pPr algn="l"/>
            <a:r>
              <a:rPr lang="en-US" sz="2400" dirty="0">
                <a:latin typeface="Arial" panose="020B0604020202020204" pitchFamily="34" charset="0"/>
                <a:cs typeface="Arial" panose="020B0604020202020204" pitchFamily="34" charset="0"/>
              </a:rPr>
              <a:t>Supervisor Name:</a:t>
            </a:r>
          </a:p>
        </p:txBody>
      </p:sp>
    </p:spTree>
    <p:extLst>
      <p:ext uri="{BB962C8B-B14F-4D97-AF65-F5344CB8AC3E}">
        <p14:creationId xmlns:p14="http://schemas.microsoft.com/office/powerpoint/2010/main" val="37116700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2379E76B-E4BF-F1F9-CE51-CCB32FC8316A}"/>
              </a:ext>
            </a:extLst>
          </p:cNvPr>
          <p:cNvCxnSpPr/>
          <p:nvPr/>
        </p:nvCxnSpPr>
        <p:spPr>
          <a:xfrm>
            <a:off x="617838" y="3249827"/>
            <a:ext cx="0" cy="23107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7" name="Content Placeholder 7">
            <a:extLst>
              <a:ext uri="{FF2B5EF4-FFF2-40B4-BE49-F238E27FC236}">
                <a16:creationId xmlns:a16="http://schemas.microsoft.com/office/drawing/2014/main" id="{BC676C5A-CF35-FADC-AF79-DDFA9DF79555}"/>
              </a:ext>
            </a:extLst>
          </p:cNvPr>
          <p:cNvGraphicFramePr>
            <a:graphicFrameLocks/>
          </p:cNvGraphicFramePr>
          <p:nvPr>
            <p:extLst>
              <p:ext uri="{D42A27DB-BD31-4B8C-83A1-F6EECF244321}">
                <p14:modId xmlns:p14="http://schemas.microsoft.com/office/powerpoint/2010/main" val="4169552834"/>
              </p:ext>
            </p:extLst>
          </p:nvPr>
        </p:nvGraphicFramePr>
        <p:xfrm>
          <a:off x="747252" y="1965999"/>
          <a:ext cx="9134163" cy="3994454"/>
        </p:xfrm>
        <a:graphic>
          <a:graphicData uri="http://schemas.openxmlformats.org/drawingml/2006/table">
            <a:tbl>
              <a:tblPr firstRow="1" firstCol="1" bandRow="1"/>
              <a:tblGrid>
                <a:gridCol w="4244136">
                  <a:extLst>
                    <a:ext uri="{9D8B030D-6E8A-4147-A177-3AD203B41FA5}">
                      <a16:colId xmlns:a16="http://schemas.microsoft.com/office/drawing/2014/main" val="67251598"/>
                    </a:ext>
                  </a:extLst>
                </a:gridCol>
                <a:gridCol w="4890027">
                  <a:extLst>
                    <a:ext uri="{9D8B030D-6E8A-4147-A177-3AD203B41FA5}">
                      <a16:colId xmlns:a16="http://schemas.microsoft.com/office/drawing/2014/main" val="3533018794"/>
                    </a:ext>
                  </a:extLst>
                </a:gridCol>
              </a:tblGrid>
              <a:tr h="753195">
                <a:tc gridSpan="2">
                  <a:txBody>
                    <a:bodyPr/>
                    <a:lstStyle/>
                    <a:p>
                      <a:pPr>
                        <a:lnSpc>
                          <a:spcPct val="107000"/>
                        </a:lnSpc>
                        <a:spcBef>
                          <a:spcPts val="1200"/>
                        </a:spcBef>
                      </a:pPr>
                      <a:r>
                        <a:rPr lang="en-GB" sz="1800" b="1" u="sng" kern="0" dirty="0">
                          <a:solidFill>
                            <a:srgbClr val="000000"/>
                          </a:solidFill>
                          <a:effectLst/>
                          <a:latin typeface="Calibri" panose="020F0502020204030204" pitchFamily="34" charset="0"/>
                          <a:ea typeface="Times New Roman" panose="02020603050405020304" pitchFamily="18" charset="0"/>
                          <a:cs typeface="Iskoola Pota" panose="020B0502040204020203" pitchFamily="34" charset="0"/>
                        </a:rPr>
                        <a:t>The Coversheet</a:t>
                      </a:r>
                      <a:endParaRPr lang="en-GB" sz="1800" b="1" kern="0" dirty="0">
                        <a:solidFill>
                          <a:srgbClr val="FFFFFF"/>
                        </a:solidFill>
                        <a:effectLst/>
                        <a:latin typeface="Calibri" panose="020F0502020204030204" pitchFamily="34" charset="0"/>
                        <a:ea typeface="Times New Roman" panose="02020603050405020304" pitchFamily="18" charset="0"/>
                        <a:cs typeface="Iskoola Pota" panose="020B0502040204020203" pitchFamily="34" charset="0"/>
                      </a:endParaRPr>
                    </a:p>
                    <a:p>
                      <a:pPr>
                        <a:lnSpc>
                          <a:spcPct val="107000"/>
                        </a:lnSpc>
                      </a:pPr>
                      <a:r>
                        <a:rPr lang="en-GB" sz="1400" b="1" dirty="0">
                          <a:effectLst/>
                          <a:latin typeface="Arial" panose="020B0604020202020204" pitchFamily="34" charset="0"/>
                          <a:ea typeface="Times New Roman" panose="02020603050405020304" pitchFamily="18" charset="0"/>
                          <a:cs typeface="Times New Roman" panose="02020603050405020304" pitchFamily="18" charset="0"/>
                        </a:rPr>
                        <a:t>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B71B"/>
                    </a:solidFill>
                  </a:tcPr>
                </a:tc>
                <a:tc hMerge="1">
                  <a:txBody>
                    <a:bodyPr/>
                    <a:lstStyle/>
                    <a:p>
                      <a:endParaRPr lang="en-GB"/>
                    </a:p>
                  </a:txBody>
                  <a:tcPr/>
                </a:tc>
                <a:extLst>
                  <a:ext uri="{0D108BD9-81ED-4DB2-BD59-A6C34878D82A}">
                    <a16:rowId xmlns:a16="http://schemas.microsoft.com/office/drawing/2014/main" val="227901019"/>
                  </a:ext>
                </a:extLst>
              </a:tr>
              <a:tr h="655969">
                <a:tc>
                  <a:txBody>
                    <a:bodyPr/>
                    <a:lstStyle/>
                    <a:p>
                      <a:pPr>
                        <a:lnSpc>
                          <a:spcPct val="107000"/>
                        </a:lnSpc>
                      </a:pPr>
                      <a:r>
                        <a:rPr lang="en-GB" sz="1400">
                          <a:effectLst/>
                          <a:latin typeface="Arial" panose="020B0604020202020204" pitchFamily="34" charset="0"/>
                          <a:ea typeface="Times New Roman" panose="02020603050405020304" pitchFamily="18" charset="0"/>
                          <a:cs typeface="Times New Roman" panose="02020603050405020304" pitchFamily="18" charset="0"/>
                        </a:rPr>
                        <a:t>Student Name </a:t>
                      </a:r>
                      <a:endParaRPr lang="en-GB" sz="2000">
                        <a:effectLst/>
                        <a:latin typeface="Helvetica" panose="020B0604020202020204" pitchFamily="34" charset="0"/>
                        <a:ea typeface="Times New Roman" panose="02020603050405020304" pitchFamily="18" charset="0"/>
                        <a:cs typeface="Times New Roman" panose="02020603050405020304" pitchFamily="18" charset="0"/>
                      </a:endParaRPr>
                    </a:p>
                    <a:p>
                      <a:pPr>
                        <a:lnSpc>
                          <a:spcPct val="107000"/>
                        </a:lnSpc>
                      </a:pPr>
                      <a:r>
                        <a:rPr lang="en-GB" sz="1400">
                          <a:effectLst/>
                          <a:latin typeface="Arial" panose="020B0604020202020204" pitchFamily="34" charset="0"/>
                          <a:ea typeface="Times New Roman" panose="02020603050405020304" pitchFamily="18" charset="0"/>
                          <a:cs typeface="Times New Roman" panose="02020603050405020304" pitchFamily="18" charset="0"/>
                        </a:rPr>
                        <a:t>(unless anonymised)  </a:t>
                      </a:r>
                      <a:endParaRPr lang="en-GB" sz="20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r>
                        <a:rPr lang="en-GB" sz="1400">
                          <a:effectLst/>
                          <a:latin typeface="Arial" panose="020B0604020202020204" pitchFamily="34" charset="0"/>
                          <a:ea typeface="Calibri" panose="020F0502020204030204" pitchFamily="34" charset="0"/>
                          <a:cs typeface="Times New Roman" panose="02020603050405020304" pitchFamily="18" charset="0"/>
                        </a:rPr>
                        <a:t> </a:t>
                      </a:r>
                      <a:endParaRPr lang="en-GB" sz="20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01009896"/>
                  </a:ext>
                </a:extLst>
              </a:tr>
              <a:tr h="655969">
                <a:tc>
                  <a:txBody>
                    <a:bodyPr/>
                    <a:lstStyle/>
                    <a:p>
                      <a:pPr>
                        <a:lnSpc>
                          <a:spcPct val="107000"/>
                        </a:lnSpc>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Student Number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p>
                      <a:pPr>
                        <a:lnSpc>
                          <a:spcPct val="107000"/>
                        </a:lnSpc>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(as shown on student ID card):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r>
                        <a:rPr lang="en-GB" sz="1400" dirty="0">
                          <a:effectLst/>
                          <a:latin typeface="Arial" panose="020B0604020202020204" pitchFamily="34" charset="0"/>
                          <a:ea typeface="Calibri" panose="020F0502020204030204" pitchFamily="34" charset="0"/>
                          <a:cs typeface="Times New Roman" panose="02020603050405020304" pitchFamily="18" charset="0"/>
                        </a:rPr>
                        <a:t>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6955742"/>
                  </a:ext>
                </a:extLst>
              </a:tr>
              <a:tr h="396233">
                <a:tc>
                  <a:txBody>
                    <a:bodyPr/>
                    <a:lstStyle/>
                    <a:p>
                      <a:pPr>
                        <a:lnSpc>
                          <a:spcPct val="107000"/>
                        </a:lnSpc>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Word Count / Pages / Duration / Other Limits: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r>
                        <a:rPr lang="en-GB" sz="1400">
                          <a:effectLst/>
                          <a:latin typeface="Arial" panose="020B0604020202020204" pitchFamily="34" charset="0"/>
                          <a:ea typeface="Calibri" panose="020F0502020204030204" pitchFamily="34" charset="0"/>
                          <a:cs typeface="Times New Roman" panose="02020603050405020304" pitchFamily="18" charset="0"/>
                        </a:rPr>
                        <a:t> </a:t>
                      </a:r>
                      <a:endParaRPr lang="en-GB" sz="20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66916432"/>
                  </a:ext>
                </a:extLst>
              </a:tr>
              <a:tr h="450914">
                <a:tc>
                  <a:txBody>
                    <a:bodyPr/>
                    <a:lstStyle/>
                    <a:p>
                      <a:pPr>
                        <a:lnSpc>
                          <a:spcPct val="107000"/>
                        </a:lnSpc>
                      </a:pPr>
                      <a:r>
                        <a:rPr lang="en-GB" sz="1400" kern="1200" dirty="0">
                          <a:solidFill>
                            <a:schemeClr val="tx1"/>
                          </a:solidFill>
                          <a:effectLst/>
                          <a:latin typeface="Arial" panose="020B0604020202020204" pitchFamily="34" charset="0"/>
                          <a:cs typeface="Times New Roman" panose="02020603050405020304" pitchFamily="18" charset="0"/>
                        </a:rPr>
                        <a:t>Assessment component number (1,2 or 3)</a:t>
                      </a:r>
                      <a:endParaRPr lang="en-GB" sz="1400" kern="12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586846"/>
                  </a:ext>
                </a:extLst>
              </a:tr>
              <a:tr h="450914">
                <a:tc>
                  <a:txBody>
                    <a:bodyPr/>
                    <a:lstStyle/>
                    <a:p>
                      <a:pPr>
                        <a:lnSpc>
                          <a:spcPct val="107000"/>
                        </a:lnSpc>
                      </a:pPr>
                      <a:r>
                        <a:rPr lang="en-GB" sz="1400" kern="1200" dirty="0">
                          <a:solidFill>
                            <a:schemeClr val="tx1"/>
                          </a:solidFill>
                          <a:effectLst/>
                          <a:latin typeface="Arial" panose="020B0604020202020204" pitchFamily="34" charset="0"/>
                          <a:cs typeface="Times New Roman" panose="02020603050405020304" pitchFamily="18" charset="0"/>
                        </a:rPr>
                        <a:t>Assessment type</a:t>
                      </a:r>
                      <a:endParaRPr lang="en-GB" sz="1400" kern="1200" dirty="0">
                        <a:solidFill>
                          <a:schemeClr val="tx1"/>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79547218"/>
                  </a:ext>
                </a:extLst>
              </a:tr>
              <a:tr h="315630">
                <a:tc>
                  <a:txBody>
                    <a:bodyPr/>
                    <a:lstStyle/>
                    <a:p>
                      <a:pPr>
                        <a:lnSpc>
                          <a:spcPct val="107000"/>
                        </a:lnSpc>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Attempt Number: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r>
                        <a:rPr lang="en-GB" sz="1400">
                          <a:effectLst/>
                          <a:latin typeface="Arial" panose="020B0604020202020204" pitchFamily="34" charset="0"/>
                          <a:ea typeface="Calibri" panose="020F0502020204030204" pitchFamily="34" charset="0"/>
                          <a:cs typeface="Times New Roman" panose="02020603050405020304" pitchFamily="18" charset="0"/>
                        </a:rPr>
                        <a:t> </a:t>
                      </a:r>
                      <a:endParaRPr lang="en-GB" sz="20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8676147"/>
                  </a:ext>
                </a:extLst>
              </a:tr>
              <a:tr h="315630">
                <a:tc>
                  <a:txBody>
                    <a:bodyPr/>
                    <a:lstStyle/>
                    <a:p>
                      <a:pPr>
                        <a:lnSpc>
                          <a:spcPct val="107000"/>
                        </a:lnSpc>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Date of Submission: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pPr>
                      <a:r>
                        <a:rPr lang="en-GB" sz="1400" dirty="0">
                          <a:effectLst/>
                          <a:latin typeface="Arial" panose="020B0604020202020204" pitchFamily="34" charset="0"/>
                          <a:ea typeface="Calibri" panose="020F0502020204030204" pitchFamily="34" charset="0"/>
                          <a:cs typeface="Times New Roman" panose="02020603050405020304" pitchFamily="18" charset="0"/>
                        </a:rPr>
                        <a:t> </a:t>
                      </a:r>
                      <a:endParaRPr lang="en-GB" sz="20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2107953"/>
                  </a:ext>
                </a:extLst>
              </a:tr>
            </a:tbl>
          </a:graphicData>
        </a:graphic>
      </p:graphicFrame>
    </p:spTree>
    <p:extLst>
      <p:ext uri="{BB962C8B-B14F-4D97-AF65-F5344CB8AC3E}">
        <p14:creationId xmlns:p14="http://schemas.microsoft.com/office/powerpoint/2010/main" val="1568904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BBB81EE-3885-D2D3-457D-283BB862214B}"/>
            </a:ext>
          </a:extLst>
        </p:cNvPr>
        <p:cNvGrpSpPr/>
        <p:nvPr/>
      </p:nvGrpSpPr>
      <p:grpSpPr>
        <a:xfrm>
          <a:off x="0" y="0"/>
          <a:ext cx="0" cy="0"/>
          <a:chOff x="0" y="0"/>
          <a:chExt cx="0" cy="0"/>
        </a:xfrm>
      </p:grpSpPr>
      <p:cxnSp>
        <p:nvCxnSpPr>
          <p:cNvPr id="5" name="Straight Connector 4">
            <a:extLst>
              <a:ext uri="{FF2B5EF4-FFF2-40B4-BE49-F238E27FC236}">
                <a16:creationId xmlns:a16="http://schemas.microsoft.com/office/drawing/2014/main" id="{4F1AE869-FA86-043C-2AA4-0DBE80E44528}"/>
              </a:ext>
            </a:extLst>
          </p:cNvPr>
          <p:cNvCxnSpPr/>
          <p:nvPr/>
        </p:nvCxnSpPr>
        <p:spPr>
          <a:xfrm>
            <a:off x="617838" y="3249827"/>
            <a:ext cx="0" cy="231071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6" name="Table 5">
            <a:extLst>
              <a:ext uri="{FF2B5EF4-FFF2-40B4-BE49-F238E27FC236}">
                <a16:creationId xmlns:a16="http://schemas.microsoft.com/office/drawing/2014/main" id="{0D8EC5FF-0A7E-52D8-D081-D4B9EDEAE10A}"/>
              </a:ext>
            </a:extLst>
          </p:cNvPr>
          <p:cNvGraphicFramePr>
            <a:graphicFrameLocks noGrp="1"/>
          </p:cNvGraphicFramePr>
          <p:nvPr>
            <p:extLst>
              <p:ext uri="{D42A27DB-BD31-4B8C-83A1-F6EECF244321}">
                <p14:modId xmlns:p14="http://schemas.microsoft.com/office/powerpoint/2010/main" val="198928067"/>
              </p:ext>
            </p:extLst>
          </p:nvPr>
        </p:nvGraphicFramePr>
        <p:xfrm>
          <a:off x="854012" y="2273412"/>
          <a:ext cx="9007741" cy="1155587"/>
        </p:xfrm>
        <a:graphic>
          <a:graphicData uri="http://schemas.openxmlformats.org/drawingml/2006/table">
            <a:tbl>
              <a:tblPr firstRow="1" firstCol="1" bandRow="1"/>
              <a:tblGrid>
                <a:gridCol w="7218382">
                  <a:extLst>
                    <a:ext uri="{9D8B030D-6E8A-4147-A177-3AD203B41FA5}">
                      <a16:colId xmlns:a16="http://schemas.microsoft.com/office/drawing/2014/main" val="787756284"/>
                    </a:ext>
                  </a:extLst>
                </a:gridCol>
                <a:gridCol w="1789359">
                  <a:extLst>
                    <a:ext uri="{9D8B030D-6E8A-4147-A177-3AD203B41FA5}">
                      <a16:colId xmlns:a16="http://schemas.microsoft.com/office/drawing/2014/main" val="2451618896"/>
                    </a:ext>
                  </a:extLst>
                </a:gridCol>
              </a:tblGrid>
              <a:tr h="283351">
                <a:tc>
                  <a:txBody>
                    <a:bodyPr/>
                    <a:lstStyle/>
                    <a:p>
                      <a:pPr>
                        <a:lnSpc>
                          <a:spcPct val="107000"/>
                        </a:lnSpc>
                        <a:spcAft>
                          <a:spcPts val="800"/>
                        </a:spcAft>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I have read and understood the </a:t>
                      </a:r>
                      <a:r>
                        <a:rPr lang="en-GB" sz="1400" u="sng" dirty="0">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3"/>
                        </a:rPr>
                        <a:t>Academic Misconduct statement</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a:t>
                      </a:r>
                      <a:endParaRPr lang="en-GB" sz="14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pPr>
                      <a:r>
                        <a:rPr lang="en-GB" sz="1400" dirty="0">
                          <a:effectLst/>
                          <a:latin typeface="Arial" panose="020B0604020202020204" pitchFamily="34" charset="0"/>
                          <a:ea typeface="Times New Roman" panose="02020603050405020304" pitchFamily="18" charset="0"/>
                          <a:cs typeface="Times New Roman" panose="02020603050405020304" pitchFamily="18" charset="0"/>
                        </a:rPr>
                        <a:t>Tick to confirm </a:t>
                      </a:r>
                      <a:r>
                        <a:rPr lang="en-GB" sz="1400" dirty="0">
                          <a:effectLst/>
                          <a:latin typeface="MS Gothic" panose="020B0609070205080204" pitchFamily="49" charset="-128"/>
                          <a:ea typeface="Times New Roman" panose="02020603050405020304" pitchFamily="18" charset="0"/>
                          <a:cs typeface="Times New Roman" panose="02020603050405020304" pitchFamily="18" charset="0"/>
                        </a:rPr>
                        <a:t>☐</a:t>
                      </a:r>
                      <a:endParaRPr lang="en-GB" sz="14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90568068"/>
                  </a:ext>
                </a:extLst>
              </a:tr>
              <a:tr h="283351">
                <a:tc>
                  <a:txBody>
                    <a:bodyPr/>
                    <a:lstStyle/>
                    <a:p>
                      <a:pPr>
                        <a:lnSpc>
                          <a:spcPct val="107000"/>
                        </a:lnSpc>
                        <a:spcAft>
                          <a:spcPts val="800"/>
                        </a:spcAft>
                      </a:pPr>
                      <a:r>
                        <a:rPr lang="en-GB" sz="1400">
                          <a:effectLst/>
                          <a:latin typeface="Arial" panose="020B0604020202020204" pitchFamily="34" charset="0"/>
                          <a:ea typeface="Times New Roman" panose="02020603050405020304" pitchFamily="18" charset="0"/>
                          <a:cs typeface="Times New Roman" panose="02020603050405020304" pitchFamily="18" charset="0"/>
                        </a:rPr>
                        <a:t>I have read and understood the </a:t>
                      </a:r>
                      <a:r>
                        <a:rPr lang="en-GB" sz="1400" u="sng">
                          <a:solidFill>
                            <a:srgbClr val="0563C1"/>
                          </a:solidFill>
                          <a:effectLst/>
                          <a:latin typeface="Arial" panose="020B0604020202020204" pitchFamily="34" charset="0"/>
                          <a:ea typeface="Times New Roman" panose="02020603050405020304" pitchFamily="18" charset="0"/>
                          <a:cs typeface="Times New Roman" panose="02020603050405020304" pitchFamily="18" charset="0"/>
                          <a:hlinkClick r:id="rId3"/>
                        </a:rPr>
                        <a:t>Generative Artificial Intelligence use statement</a:t>
                      </a:r>
                      <a:r>
                        <a:rPr lang="en-GB" sz="1400">
                          <a:effectLst/>
                          <a:latin typeface="Arial" panose="020B0604020202020204" pitchFamily="34" charset="0"/>
                          <a:ea typeface="Times New Roman" panose="02020603050405020304" pitchFamily="18" charset="0"/>
                          <a:cs typeface="Times New Roman" panose="02020603050405020304" pitchFamily="18" charset="0"/>
                        </a:rPr>
                        <a:t>.</a:t>
                      </a:r>
                      <a:endParaRPr lang="en-GB" sz="14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pPr>
                      <a:r>
                        <a:rPr lang="en-GB" sz="1400">
                          <a:effectLst/>
                          <a:latin typeface="Arial" panose="020B0604020202020204" pitchFamily="34" charset="0"/>
                          <a:ea typeface="Times New Roman" panose="02020603050405020304" pitchFamily="18" charset="0"/>
                          <a:cs typeface="Times New Roman" panose="02020603050405020304" pitchFamily="18" charset="0"/>
                        </a:rPr>
                        <a:t>Tick to confirm </a:t>
                      </a:r>
                      <a:r>
                        <a:rPr lang="en-GB" sz="1400">
                          <a:effectLst/>
                          <a:latin typeface="MS Gothic" panose="020B0609070205080204" pitchFamily="49" charset="-128"/>
                          <a:ea typeface="Times New Roman" panose="02020603050405020304" pitchFamily="18" charset="0"/>
                          <a:cs typeface="Times New Roman" panose="02020603050405020304" pitchFamily="18" charset="0"/>
                        </a:rPr>
                        <a:t>☐</a:t>
                      </a:r>
                      <a:endParaRPr lang="en-GB" sz="14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15311619"/>
                  </a:ext>
                </a:extLst>
              </a:tr>
              <a:tr h="588885">
                <a:tc>
                  <a:txBody>
                    <a:bodyPr/>
                    <a:lstStyle/>
                    <a:p>
                      <a:pPr fontAlgn="base">
                        <a:lnSpc>
                          <a:spcPct val="107000"/>
                        </a:lnSpc>
                      </a:pPr>
                      <a:r>
                        <a:rPr lang="en-GB" sz="1400">
                          <a:effectLst/>
                          <a:latin typeface="Arial" panose="020B0604020202020204" pitchFamily="34" charset="0"/>
                          <a:ea typeface="Calibri" panose="020F0502020204030204" pitchFamily="34" charset="0"/>
                          <a:cs typeface="Iskoola Pota" panose="020B0502040204020203" pitchFamily="34" charset="0"/>
                        </a:rPr>
                        <a:t>I am satisfied that I have met the Learning Outcomes of this assignment </a:t>
                      </a:r>
                      <a:endParaRPr lang="en-GB" sz="1400">
                        <a:effectLst/>
                        <a:latin typeface="Times New Roman" panose="02020603050405020304" pitchFamily="18" charset="0"/>
                        <a:ea typeface="Times New Roman" panose="02020603050405020304" pitchFamily="18" charset="0"/>
                        <a:cs typeface="Iskoola Pota" panose="020B0502040204020203" pitchFamily="34" charset="0"/>
                      </a:endParaRPr>
                    </a:p>
                    <a:p>
                      <a:pPr>
                        <a:lnSpc>
                          <a:spcPct val="107000"/>
                        </a:lnSpc>
                        <a:spcAft>
                          <a:spcPts val="800"/>
                        </a:spcAft>
                      </a:pPr>
                      <a:r>
                        <a:rPr lang="en-GB" sz="1400">
                          <a:effectLst/>
                          <a:latin typeface="Arial" panose="020B0604020202020204" pitchFamily="34" charset="0"/>
                          <a:ea typeface="Calibri" panose="020F0502020204030204" pitchFamily="34" charset="0"/>
                          <a:cs typeface="Times New Roman" panose="02020603050405020304" pitchFamily="18" charset="0"/>
                        </a:rPr>
                        <a:t>(please check the Assignment Brief if you are unsure)</a:t>
                      </a:r>
                      <a:endParaRPr lang="en-GB" sz="140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r">
                        <a:lnSpc>
                          <a:spcPct val="107000"/>
                        </a:lnSpc>
                        <a:spcAft>
                          <a:spcPts val="800"/>
                        </a:spcAft>
                      </a:pPr>
                      <a:r>
                        <a:rPr lang="en-GB" sz="1400" b="1" dirty="0">
                          <a:effectLst/>
                          <a:latin typeface="Arial" panose="020B0604020202020204" pitchFamily="34" charset="0"/>
                          <a:ea typeface="Times New Roman" panose="02020603050405020304" pitchFamily="18" charset="0"/>
                          <a:cs typeface="Times New Roman" panose="02020603050405020304" pitchFamily="18" charset="0"/>
                        </a:rPr>
                        <a:t>​​​</a:t>
                      </a:r>
                      <a:r>
                        <a:rPr lang="en-GB" sz="1400" dirty="0">
                          <a:solidFill>
                            <a:srgbClr val="7F7F7F"/>
                          </a:solidFill>
                          <a:effectLst/>
                          <a:latin typeface="Arial" panose="020B0604020202020204" pitchFamily="34" charset="0"/>
                          <a:ea typeface="Times New Roman" panose="02020603050405020304" pitchFamily="18" charset="0"/>
                          <a:cs typeface="Times New Roman" panose="02020603050405020304" pitchFamily="18" charset="0"/>
                        </a:rPr>
                        <a:t> </a:t>
                      </a:r>
                      <a:r>
                        <a:rPr lang="en-GB" sz="1400" dirty="0">
                          <a:effectLst/>
                          <a:latin typeface="Arial" panose="020B0604020202020204" pitchFamily="34" charset="0"/>
                          <a:ea typeface="Times New Roman" panose="02020603050405020304" pitchFamily="18" charset="0"/>
                          <a:cs typeface="Times New Roman" panose="02020603050405020304" pitchFamily="18" charset="0"/>
                        </a:rPr>
                        <a:t>Met</a:t>
                      </a:r>
                      <a:r>
                        <a:rPr lang="en-GB" sz="1400" dirty="0">
                          <a:solidFill>
                            <a:srgbClr val="7F7F7F"/>
                          </a:solidFill>
                          <a:effectLst/>
                          <a:latin typeface="Arial" panose="020B0604020202020204" pitchFamily="34" charset="0"/>
                          <a:ea typeface="Times New Roman" panose="02020603050405020304" pitchFamily="18" charset="0"/>
                          <a:cs typeface="Times New Roman" panose="02020603050405020304" pitchFamily="18" charset="0"/>
                        </a:rPr>
                        <a:t> </a:t>
                      </a:r>
                      <a:r>
                        <a:rPr lang="en-GB" sz="1400" dirty="0">
                          <a:solidFill>
                            <a:srgbClr val="7F7F7F"/>
                          </a:solidFill>
                          <a:effectLst/>
                          <a:latin typeface="MS Gothic" panose="020B0609070205080204" pitchFamily="49" charset="-128"/>
                          <a:ea typeface="Times New Roman" panose="02020603050405020304" pitchFamily="18" charset="0"/>
                          <a:cs typeface="Times New Roman" panose="02020603050405020304" pitchFamily="18" charset="0"/>
                        </a:rPr>
                        <a:t>☐</a:t>
                      </a:r>
                      <a:endParaRPr lang="en-GB" sz="1400" dirty="0">
                        <a:effectLst/>
                        <a:latin typeface="Helvetica" panose="020B06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67991362"/>
                  </a:ext>
                </a:extLst>
              </a:tr>
            </a:tbl>
          </a:graphicData>
        </a:graphic>
      </p:graphicFrame>
      <p:graphicFrame>
        <p:nvGraphicFramePr>
          <p:cNvPr id="8" name="Table 7">
            <a:extLst>
              <a:ext uri="{FF2B5EF4-FFF2-40B4-BE49-F238E27FC236}">
                <a16:creationId xmlns:a16="http://schemas.microsoft.com/office/drawing/2014/main" id="{216FF83F-571B-9B48-D9E3-A4DB99715DD0}"/>
              </a:ext>
            </a:extLst>
          </p:cNvPr>
          <p:cNvGraphicFramePr>
            <a:graphicFrameLocks noGrp="1"/>
          </p:cNvGraphicFramePr>
          <p:nvPr>
            <p:extLst>
              <p:ext uri="{D42A27DB-BD31-4B8C-83A1-F6EECF244321}">
                <p14:modId xmlns:p14="http://schemas.microsoft.com/office/powerpoint/2010/main" val="2730962977"/>
              </p:ext>
            </p:extLst>
          </p:nvPr>
        </p:nvGraphicFramePr>
        <p:xfrm>
          <a:off x="854012" y="3629966"/>
          <a:ext cx="9007739" cy="2310713"/>
        </p:xfrm>
        <a:graphic>
          <a:graphicData uri="http://schemas.openxmlformats.org/drawingml/2006/table">
            <a:tbl>
              <a:tblPr firstRow="1" firstCol="1" bandRow="1"/>
              <a:tblGrid>
                <a:gridCol w="9007739">
                  <a:extLst>
                    <a:ext uri="{9D8B030D-6E8A-4147-A177-3AD203B41FA5}">
                      <a16:colId xmlns:a16="http://schemas.microsoft.com/office/drawing/2014/main" val="609738656"/>
                    </a:ext>
                  </a:extLst>
                </a:gridCol>
              </a:tblGrid>
              <a:tr h="691265">
                <a:tc>
                  <a:txBody>
                    <a:bodyPr/>
                    <a:lstStyle/>
                    <a:p>
                      <a:pPr fontAlgn="base">
                        <a:lnSpc>
                          <a:spcPct val="107000"/>
                        </a:lnSpc>
                      </a:pPr>
                      <a:r>
                        <a:rPr lang="en-GB" sz="1400" b="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Self-Assessment</a:t>
                      </a:r>
                      <a:r>
                        <a:rPr lang="en-GB" sz="1400"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 – If there are particular aspects of your assignment on which you would like feedback, please indicate below.</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p>
                      <a:pPr fontAlgn="base">
                        <a:lnSpc>
                          <a:spcPct val="107000"/>
                        </a:lnSpc>
                      </a:pPr>
                      <a:r>
                        <a:rPr lang="en-GB" sz="1400" dirty="0">
                          <a:effectLst/>
                          <a:latin typeface="Arial" panose="020B0604020202020204" pitchFamily="34" charset="0"/>
                          <a:ea typeface="Times New Roman" panose="02020603050405020304" pitchFamily="18" charset="0"/>
                          <a:cs typeface="Iskoola Pota" panose="020B0502040204020203" pitchFamily="34" charset="0"/>
                        </a:rPr>
                        <a:t>Optional for students</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txBody>
                  <a:tcPr marL="63962" marR="639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78675"/>
                  </a:ext>
                </a:extLst>
              </a:tr>
              <a:tr h="1162821">
                <a:tc>
                  <a:txBody>
                    <a:bodyPr/>
                    <a:lstStyle/>
                    <a:p>
                      <a:pPr fontAlgn="base">
                        <a:lnSpc>
                          <a:spcPct val="107000"/>
                        </a:lnSpc>
                      </a:pPr>
                      <a:r>
                        <a:rPr lang="en-GB" sz="1400" b="1" i="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Suggested prompt questions-</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p>
                      <a:pPr fontAlgn="base">
                        <a:lnSpc>
                          <a:spcPct val="107000"/>
                        </a:lnSpc>
                      </a:pPr>
                      <a:r>
                        <a:rPr lang="en-GB" sz="1400" i="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How have you developed or progressed your learning in this work?</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p>
                      <a:pPr fontAlgn="base">
                        <a:lnSpc>
                          <a:spcPct val="107000"/>
                        </a:lnSpc>
                      </a:pPr>
                      <a:r>
                        <a:rPr lang="en-GB" sz="1400" i="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What do you feel is the strongest part of this submission?</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p>
                      <a:pPr fontAlgn="base">
                        <a:lnSpc>
                          <a:spcPct val="107000"/>
                        </a:lnSpc>
                      </a:pPr>
                      <a:r>
                        <a:rPr lang="en-GB" sz="1400" i="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What feedback would you give yourself?</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p>
                      <a:pPr fontAlgn="base">
                        <a:lnSpc>
                          <a:spcPct val="107000"/>
                        </a:lnSpc>
                      </a:pPr>
                      <a:r>
                        <a:rPr lang="en-GB" sz="1400" i="1" dirty="0">
                          <a:solidFill>
                            <a:srgbClr val="000000"/>
                          </a:solidFill>
                          <a:effectLst/>
                          <a:latin typeface="Arial" panose="020B0604020202020204" pitchFamily="34" charset="0"/>
                          <a:ea typeface="Times New Roman" panose="02020603050405020304" pitchFamily="18" charset="0"/>
                          <a:cs typeface="Iskoola Pota" panose="020B0502040204020203" pitchFamily="34" charset="0"/>
                        </a:rPr>
                        <a:t>What part(s) of this assignment are you still unsure about?</a:t>
                      </a: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txBody>
                  <a:tcPr marL="63962" marR="639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37089793"/>
                  </a:ext>
                </a:extLst>
              </a:tr>
              <a:tr h="456627">
                <a:tc>
                  <a:txBody>
                    <a:bodyPr/>
                    <a:lstStyle/>
                    <a:p>
                      <a:pPr fontAlgn="base">
                        <a:lnSpc>
                          <a:spcPct val="107000"/>
                        </a:lnSpc>
                      </a:pPr>
                      <a:endParaRPr lang="en-GB" sz="1400" dirty="0">
                        <a:effectLst/>
                        <a:latin typeface="Times New Roman" panose="02020603050405020304" pitchFamily="18" charset="0"/>
                        <a:ea typeface="Times New Roman" panose="02020603050405020304" pitchFamily="18" charset="0"/>
                        <a:cs typeface="Iskoola Pota" panose="020B0502040204020203" pitchFamily="34" charset="0"/>
                      </a:endParaRPr>
                    </a:p>
                  </a:txBody>
                  <a:tcPr marL="63962" marR="63962"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01603468"/>
                  </a:ext>
                </a:extLst>
              </a:tr>
            </a:tbl>
          </a:graphicData>
        </a:graphic>
      </p:graphicFrame>
    </p:spTree>
    <p:extLst>
      <p:ext uri="{BB962C8B-B14F-4D97-AF65-F5344CB8AC3E}">
        <p14:creationId xmlns:p14="http://schemas.microsoft.com/office/powerpoint/2010/main" val="13751989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5E49-C905-7502-13EB-955FDFD5A358}"/>
              </a:ext>
            </a:extLst>
          </p:cNvPr>
          <p:cNvSpPr>
            <a:spLocks noGrp="1"/>
          </p:cNvSpPr>
          <p:nvPr>
            <p:ph type="title"/>
          </p:nvPr>
        </p:nvSpPr>
        <p:spPr>
          <a:xfrm>
            <a:off x="430427" y="365125"/>
            <a:ext cx="10515600" cy="1325563"/>
          </a:xfrm>
        </p:spPr>
        <p:txBody>
          <a:bodyPr>
            <a:normAutofit/>
          </a:bodyPr>
          <a:lstStyle/>
          <a:p>
            <a:r>
              <a:rPr lang="en-US" dirty="0">
                <a:solidFill>
                  <a:sysClr val="windowText" lastClr="000000"/>
                </a:solidFill>
              </a:rPr>
              <a:t>Table of Content </a:t>
            </a:r>
            <a:br>
              <a:rPr lang="en-US" dirty="0">
                <a:solidFill>
                  <a:sysClr val="windowText" lastClr="000000"/>
                </a:solidFill>
              </a:rPr>
            </a:br>
            <a:r>
              <a:rPr lang="en-US" sz="3600" i="1" dirty="0">
                <a:solidFill>
                  <a:srgbClr val="FF0000"/>
                </a:solidFill>
              </a:rPr>
              <a:t>Provide the content of your PPT</a:t>
            </a:r>
            <a:endParaRPr lang="en-US" dirty="0">
              <a:solidFill>
                <a:srgbClr val="FF0000"/>
              </a:solidFill>
            </a:endParaRPr>
          </a:p>
        </p:txBody>
      </p:sp>
      <p:sp>
        <p:nvSpPr>
          <p:cNvPr id="3" name="Content Placeholder 2">
            <a:extLst>
              <a:ext uri="{FF2B5EF4-FFF2-40B4-BE49-F238E27FC236}">
                <a16:creationId xmlns:a16="http://schemas.microsoft.com/office/drawing/2014/main" id="{DE5046F0-EB5C-D552-4FFE-941607904E16}"/>
              </a:ext>
            </a:extLst>
          </p:cNvPr>
          <p:cNvSpPr>
            <a:spLocks noGrp="1"/>
          </p:cNvSpPr>
          <p:nvPr>
            <p:ph idx="1"/>
          </p:nvPr>
        </p:nvSpPr>
        <p:spPr>
          <a:xfrm>
            <a:off x="430426" y="1690689"/>
            <a:ext cx="11550079" cy="4802186"/>
          </a:xfrm>
        </p:spPr>
        <p:txBody>
          <a:bodyPr>
            <a:normAutofit fontScale="92500" lnSpcReduction="20000"/>
          </a:bodyPr>
          <a:lstStyle/>
          <a:p>
            <a:r>
              <a:rPr lang="en-US" sz="1400" dirty="0">
                <a:solidFill>
                  <a:sysClr val="windowText" lastClr="000000"/>
                </a:solidFill>
              </a:rPr>
              <a:t>Introduction</a:t>
            </a:r>
          </a:p>
          <a:p>
            <a:r>
              <a:rPr lang="en-US" sz="1400" dirty="0">
                <a:solidFill>
                  <a:sysClr val="windowText" lastClr="000000"/>
                </a:solidFill>
              </a:rPr>
              <a:t>Problem statement</a:t>
            </a:r>
          </a:p>
          <a:p>
            <a:r>
              <a:rPr lang="en-GB" sz="1400" dirty="0"/>
              <a:t>Research Aims &amp; Objectives</a:t>
            </a:r>
          </a:p>
          <a:p>
            <a:r>
              <a:rPr lang="en-GB" sz="1400" dirty="0"/>
              <a:t>Literature Review Summary</a:t>
            </a:r>
          </a:p>
          <a:p>
            <a:r>
              <a:rPr lang="en-GB" sz="1400" dirty="0"/>
              <a:t>Methodology</a:t>
            </a:r>
          </a:p>
          <a:p>
            <a:r>
              <a:rPr lang="en-GB" sz="1400" dirty="0"/>
              <a:t>Data Collection Process</a:t>
            </a:r>
          </a:p>
          <a:p>
            <a:r>
              <a:rPr lang="en-GB" sz="1400" dirty="0"/>
              <a:t>Results Presentation</a:t>
            </a:r>
          </a:p>
          <a:p>
            <a:r>
              <a:rPr lang="en-GB" sz="1400" dirty="0"/>
              <a:t>Results Analysis</a:t>
            </a:r>
          </a:p>
          <a:p>
            <a:r>
              <a:rPr lang="en-GB" sz="1400" dirty="0"/>
              <a:t>Challenges &amp; Limitations</a:t>
            </a:r>
          </a:p>
          <a:p>
            <a:r>
              <a:rPr lang="en-GB" sz="1400" dirty="0"/>
              <a:t>Discussion</a:t>
            </a:r>
          </a:p>
          <a:p>
            <a:r>
              <a:rPr lang="en-GB" sz="1400" dirty="0"/>
              <a:t>Future Work</a:t>
            </a:r>
          </a:p>
          <a:p>
            <a:r>
              <a:rPr lang="en-GB" sz="1400" dirty="0"/>
              <a:t>Conclusion</a:t>
            </a:r>
          </a:p>
          <a:p>
            <a:r>
              <a:rPr lang="en-GB" sz="1400" dirty="0"/>
              <a:t>Ethics Consideration</a:t>
            </a:r>
          </a:p>
          <a:p>
            <a:r>
              <a:rPr lang="en-GB" sz="1400" dirty="0"/>
              <a:t>References</a:t>
            </a:r>
          </a:p>
          <a:p>
            <a:r>
              <a:rPr lang="en-GB" sz="1400" dirty="0"/>
              <a:t>Executive Summary</a:t>
            </a:r>
          </a:p>
          <a:p>
            <a:r>
              <a:rPr lang="en-GB" sz="1400" dirty="0"/>
              <a:t>Q&amp;A</a:t>
            </a:r>
            <a:endParaRPr lang="en-US" sz="1400" dirty="0">
              <a:solidFill>
                <a:sysClr val="windowText" lastClr="000000"/>
              </a:solidFill>
            </a:endParaRPr>
          </a:p>
          <a:p>
            <a:pPr marL="0" indent="0">
              <a:buNone/>
            </a:pPr>
            <a:r>
              <a:rPr lang="en-US" sz="1400" i="1" dirty="0">
                <a:solidFill>
                  <a:srgbClr val="FF0000"/>
                </a:solidFill>
              </a:rPr>
              <a:t>Please note that content can amend based on your project</a:t>
            </a:r>
            <a:endParaRPr lang="en-US" sz="1400" dirty="0">
              <a:solidFill>
                <a:sysClr val="windowText" lastClr="000000"/>
              </a:solidFill>
            </a:endParaRPr>
          </a:p>
          <a:p>
            <a:endParaRPr lang="en-US" sz="1400" dirty="0">
              <a:solidFill>
                <a:sysClr val="windowText" lastClr="000000"/>
              </a:solidFill>
            </a:endParaRPr>
          </a:p>
        </p:txBody>
      </p:sp>
      <p:cxnSp>
        <p:nvCxnSpPr>
          <p:cNvPr id="4" name="Straight Connector 3">
            <a:extLst>
              <a:ext uri="{FF2B5EF4-FFF2-40B4-BE49-F238E27FC236}">
                <a16:creationId xmlns:a16="http://schemas.microsoft.com/office/drawing/2014/main" id="{E74E5B73-2FEC-37E5-1E32-146D810B5C88}"/>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92339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4B5E49-C905-7502-13EB-955FDFD5A358}"/>
              </a:ext>
            </a:extLst>
          </p:cNvPr>
          <p:cNvSpPr>
            <a:spLocks noGrp="1"/>
          </p:cNvSpPr>
          <p:nvPr>
            <p:ph type="title"/>
          </p:nvPr>
        </p:nvSpPr>
        <p:spPr>
          <a:xfrm>
            <a:off x="430427" y="365125"/>
            <a:ext cx="10515600" cy="1325563"/>
          </a:xfrm>
        </p:spPr>
        <p:txBody>
          <a:bodyPr/>
          <a:lstStyle/>
          <a:p>
            <a:r>
              <a:rPr lang="en-US" dirty="0">
                <a:solidFill>
                  <a:sysClr val="windowText" lastClr="000000"/>
                </a:solidFill>
              </a:rPr>
              <a:t>Introduction to your project</a:t>
            </a:r>
          </a:p>
        </p:txBody>
      </p:sp>
      <p:sp>
        <p:nvSpPr>
          <p:cNvPr id="3" name="Content Placeholder 2">
            <a:extLst>
              <a:ext uri="{FF2B5EF4-FFF2-40B4-BE49-F238E27FC236}">
                <a16:creationId xmlns:a16="http://schemas.microsoft.com/office/drawing/2014/main" id="{DE5046F0-EB5C-D552-4FFE-941607904E16}"/>
              </a:ext>
            </a:extLst>
          </p:cNvPr>
          <p:cNvSpPr>
            <a:spLocks noGrp="1"/>
          </p:cNvSpPr>
          <p:nvPr>
            <p:ph idx="1"/>
          </p:nvPr>
        </p:nvSpPr>
        <p:spPr>
          <a:xfrm>
            <a:off x="430427" y="1825625"/>
            <a:ext cx="10515600" cy="4351338"/>
          </a:xfrm>
        </p:spPr>
        <p:txBody>
          <a:bodyPr>
            <a:normAutofit lnSpcReduction="10000"/>
          </a:bodyPr>
          <a:lstStyle/>
          <a:p>
            <a:r>
              <a:rPr lang="en-US" dirty="0"/>
              <a:t>Add your content here</a:t>
            </a:r>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GB" dirty="0"/>
              <a:t>Research context and background</a:t>
            </a:r>
          </a:p>
          <a:p>
            <a:r>
              <a:rPr lang="en-GB" dirty="0"/>
              <a:t>Relevance to industry or academic field</a:t>
            </a:r>
          </a:p>
          <a:p>
            <a:r>
              <a:rPr lang="en-GB" dirty="0"/>
              <a:t>Research motivation (why this topic?)</a:t>
            </a:r>
            <a:endParaRPr lang="en-US" dirty="0"/>
          </a:p>
          <a:p>
            <a:r>
              <a:rPr lang="en-US" i="1" dirty="0">
                <a:solidFill>
                  <a:srgbClr val="FF0000"/>
                </a:solidFill>
              </a:rPr>
              <a:t>Attach relevant images/ snapshots where applicable with figure formatting.</a:t>
            </a:r>
          </a:p>
          <a:p>
            <a:endParaRPr lang="en-US" dirty="0"/>
          </a:p>
        </p:txBody>
      </p:sp>
      <p:cxnSp>
        <p:nvCxnSpPr>
          <p:cNvPr id="4" name="Straight Connector 3">
            <a:extLst>
              <a:ext uri="{FF2B5EF4-FFF2-40B4-BE49-F238E27FC236}">
                <a16:creationId xmlns:a16="http://schemas.microsoft.com/office/drawing/2014/main" id="{E74E5B73-2FEC-37E5-1E32-146D810B5C88}"/>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4604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9F32CC9-2F23-BFA7-DF8F-4877124104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8F73F-4A21-28C4-764F-BF89E730D07E}"/>
              </a:ext>
            </a:extLst>
          </p:cNvPr>
          <p:cNvSpPr>
            <a:spLocks noGrp="1"/>
          </p:cNvSpPr>
          <p:nvPr>
            <p:ph type="title"/>
          </p:nvPr>
        </p:nvSpPr>
        <p:spPr>
          <a:xfrm>
            <a:off x="430427" y="365125"/>
            <a:ext cx="10515600" cy="1325563"/>
          </a:xfrm>
        </p:spPr>
        <p:txBody>
          <a:bodyPr/>
          <a:lstStyle/>
          <a:p>
            <a:r>
              <a:rPr lang="en-US" dirty="0">
                <a:solidFill>
                  <a:sysClr val="windowText" lastClr="000000"/>
                </a:solidFill>
              </a:rPr>
              <a:t>Problem Statement</a:t>
            </a:r>
          </a:p>
        </p:txBody>
      </p:sp>
      <p:sp>
        <p:nvSpPr>
          <p:cNvPr id="3" name="Content Placeholder 2">
            <a:extLst>
              <a:ext uri="{FF2B5EF4-FFF2-40B4-BE49-F238E27FC236}">
                <a16:creationId xmlns:a16="http://schemas.microsoft.com/office/drawing/2014/main" id="{70080103-D4F5-FF11-A722-09324655BC03}"/>
              </a:ext>
            </a:extLst>
          </p:cNvPr>
          <p:cNvSpPr>
            <a:spLocks noGrp="1"/>
          </p:cNvSpPr>
          <p:nvPr>
            <p:ph idx="1"/>
          </p:nvPr>
        </p:nvSpPr>
        <p:spPr>
          <a:xfrm>
            <a:off x="430427" y="1825625"/>
            <a:ext cx="10515600" cy="4351338"/>
          </a:xfrm>
        </p:spPr>
        <p:txBody>
          <a:bodyPr>
            <a:normAutofit/>
          </a:bodyPr>
          <a:lstStyle/>
          <a:p>
            <a:r>
              <a:rPr lang="en-US" dirty="0"/>
              <a:t>Add your content here</a:t>
            </a:r>
          </a:p>
          <a:p>
            <a:pPr lvl="1"/>
            <a:r>
              <a:rPr lang="en-GB" dirty="0"/>
              <a:t>The specific problem being addressed</a:t>
            </a:r>
          </a:p>
          <a:p>
            <a:pPr lvl="1"/>
            <a:r>
              <a:rPr lang="en-GB" dirty="0"/>
              <a:t>Existing gap in literature/industry</a:t>
            </a:r>
          </a:p>
          <a:p>
            <a:pPr lvl="1"/>
            <a:r>
              <a:rPr lang="en-GB" dirty="0"/>
              <a:t>Why solving this is important</a:t>
            </a: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DA859EE0-46E0-1E9F-8E51-B19B33D06CCD}"/>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9714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DE9DEF2-6BF1-73BB-357A-1B65F24E7C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01462-637C-20E8-F48A-8F959960E1EA}"/>
              </a:ext>
            </a:extLst>
          </p:cNvPr>
          <p:cNvSpPr>
            <a:spLocks noGrp="1"/>
          </p:cNvSpPr>
          <p:nvPr>
            <p:ph type="title"/>
          </p:nvPr>
        </p:nvSpPr>
        <p:spPr>
          <a:xfrm>
            <a:off x="430427" y="365125"/>
            <a:ext cx="10515600" cy="1325563"/>
          </a:xfrm>
        </p:spPr>
        <p:txBody>
          <a:bodyPr/>
          <a:lstStyle/>
          <a:p>
            <a:r>
              <a:rPr lang="en-GB" dirty="0"/>
              <a:t>Research Aims and Objectives</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374B4C8F-8DE0-B204-1545-429BF0FBA080}"/>
              </a:ext>
            </a:extLst>
          </p:cNvPr>
          <p:cNvSpPr>
            <a:spLocks noGrp="1"/>
          </p:cNvSpPr>
          <p:nvPr>
            <p:ph idx="1"/>
          </p:nvPr>
        </p:nvSpPr>
        <p:spPr>
          <a:xfrm>
            <a:off x="430427" y="1825625"/>
            <a:ext cx="10515600" cy="4351338"/>
          </a:xfrm>
        </p:spPr>
        <p:txBody>
          <a:bodyPr/>
          <a:lstStyle/>
          <a:p>
            <a:r>
              <a:rPr lang="en-US" dirty="0"/>
              <a:t>Add your content here</a:t>
            </a:r>
          </a:p>
          <a:p>
            <a:pPr lvl="1"/>
            <a:r>
              <a:rPr lang="en-GB" dirty="0"/>
              <a:t>Main aim (1–2 sentences)</a:t>
            </a:r>
          </a:p>
          <a:p>
            <a:pPr lvl="1"/>
            <a:r>
              <a:rPr lang="en-GB" dirty="0"/>
              <a:t>3–5 specific, measurable objectives</a:t>
            </a:r>
          </a:p>
          <a:p>
            <a:pPr lvl="1"/>
            <a:r>
              <a:rPr lang="en-GB" dirty="0"/>
              <a:t>Research Questions &amp; Hypotheses</a:t>
            </a: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04D4D53C-1E30-DFF7-BF6F-03B6A02DFD05}"/>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2164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0DA20F72-C90E-A834-065C-01A3AA02D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E268EF-9454-2291-92F2-EAE09FA4CF6E}"/>
              </a:ext>
            </a:extLst>
          </p:cNvPr>
          <p:cNvSpPr>
            <a:spLocks noGrp="1"/>
          </p:cNvSpPr>
          <p:nvPr>
            <p:ph type="title"/>
          </p:nvPr>
        </p:nvSpPr>
        <p:spPr>
          <a:xfrm>
            <a:off x="430427" y="365125"/>
            <a:ext cx="10515600" cy="1325563"/>
          </a:xfrm>
        </p:spPr>
        <p:txBody>
          <a:bodyPr/>
          <a:lstStyle/>
          <a:p>
            <a:r>
              <a:rPr lang="en-GB" dirty="0"/>
              <a:t>Literature Review Summary</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1A2C6C6F-012C-A3C6-67E7-7C110DC3B223}"/>
              </a:ext>
            </a:extLst>
          </p:cNvPr>
          <p:cNvSpPr>
            <a:spLocks noGrp="1"/>
          </p:cNvSpPr>
          <p:nvPr>
            <p:ph idx="1"/>
          </p:nvPr>
        </p:nvSpPr>
        <p:spPr>
          <a:xfrm>
            <a:off x="430427" y="1825625"/>
            <a:ext cx="10515600" cy="4351338"/>
          </a:xfrm>
        </p:spPr>
        <p:txBody>
          <a:bodyPr>
            <a:normAutofit lnSpcReduction="10000"/>
          </a:bodyPr>
          <a:lstStyle/>
          <a:p>
            <a:r>
              <a:rPr lang="en-US" dirty="0"/>
              <a:t>Add your content here</a:t>
            </a:r>
          </a:p>
          <a:p>
            <a:pPr lvl="1"/>
            <a:r>
              <a:rPr lang="en-GB" dirty="0"/>
              <a:t>Key theories, models, or technologies reviewed</a:t>
            </a:r>
          </a:p>
          <a:p>
            <a:pPr lvl="1"/>
            <a:r>
              <a:rPr lang="en-GB" dirty="0"/>
              <a:t>Summary of past work in the area</a:t>
            </a:r>
          </a:p>
          <a:p>
            <a:pPr lvl="1"/>
            <a:r>
              <a:rPr lang="en-GB" dirty="0"/>
              <a:t>Gap identification</a:t>
            </a:r>
          </a:p>
          <a:p>
            <a:pPr lvl="1"/>
            <a:r>
              <a:rPr lang="en-GB" dirty="0"/>
              <a:t>How your work builds upon or differs from others</a:t>
            </a:r>
            <a:endParaRPr lang="en-US" dirty="0"/>
          </a:p>
          <a:p>
            <a:r>
              <a:rPr lang="en-US" dirty="0"/>
              <a:t>Provide in- text citations where its applicable (including the images you take from open sources platforms as well </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6892AD6E-01A5-CDB0-CFF1-2F767DCB5F2C}"/>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37197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1E78C956-B357-3404-8FF8-832D0B29C8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12B35E-E0C9-DA42-9298-79FF39925064}"/>
              </a:ext>
            </a:extLst>
          </p:cNvPr>
          <p:cNvSpPr>
            <a:spLocks noGrp="1"/>
          </p:cNvSpPr>
          <p:nvPr>
            <p:ph type="title"/>
          </p:nvPr>
        </p:nvSpPr>
        <p:spPr>
          <a:xfrm>
            <a:off x="430427" y="365125"/>
            <a:ext cx="10515600" cy="1325563"/>
          </a:xfrm>
        </p:spPr>
        <p:txBody>
          <a:bodyPr/>
          <a:lstStyle/>
          <a:p>
            <a:r>
              <a:rPr lang="en-GB" dirty="0"/>
              <a:t>Methodology</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CE72A5EF-14F5-FE16-BBDC-6F260901B496}"/>
              </a:ext>
            </a:extLst>
          </p:cNvPr>
          <p:cNvSpPr>
            <a:spLocks noGrp="1"/>
          </p:cNvSpPr>
          <p:nvPr>
            <p:ph idx="1"/>
          </p:nvPr>
        </p:nvSpPr>
        <p:spPr>
          <a:xfrm>
            <a:off x="430426" y="1825624"/>
            <a:ext cx="10943589" cy="4575175"/>
          </a:xfrm>
        </p:spPr>
        <p:txBody>
          <a:bodyPr>
            <a:normAutofit fontScale="92500"/>
          </a:bodyPr>
          <a:lstStyle/>
          <a:p>
            <a:r>
              <a:rPr lang="en-US" dirty="0"/>
              <a:t>Add your content here</a:t>
            </a:r>
          </a:p>
          <a:p>
            <a:pPr lvl="1"/>
            <a:r>
              <a:rPr lang="it-IT" dirty="0"/>
              <a:t>Research design (qualitative/quantitative/mixed)</a:t>
            </a:r>
          </a:p>
          <a:p>
            <a:pPr lvl="1"/>
            <a:r>
              <a:rPr lang="en-GB" dirty="0"/>
              <a:t>Data collection methods </a:t>
            </a:r>
          </a:p>
          <a:p>
            <a:pPr lvl="1"/>
            <a:r>
              <a:rPr lang="en-GB" dirty="0"/>
              <a:t>Sampling technique</a:t>
            </a:r>
          </a:p>
          <a:p>
            <a:pPr lvl="1"/>
            <a:r>
              <a:rPr lang="en-GB" dirty="0"/>
              <a:t>Tools/technologies used</a:t>
            </a:r>
          </a:p>
          <a:p>
            <a:pPr lvl="1"/>
            <a:r>
              <a:rPr lang="en-GB" dirty="0"/>
              <a:t>Justification for chosen methods</a:t>
            </a: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52D74407-24A9-EC3F-1DC3-D27B2A7C3D28}"/>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01861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5CD7089-539B-F1E4-1113-EA5BC9CA50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8B92C5-107F-6235-7105-D007948E4D4F}"/>
              </a:ext>
            </a:extLst>
          </p:cNvPr>
          <p:cNvSpPr>
            <a:spLocks noGrp="1"/>
          </p:cNvSpPr>
          <p:nvPr>
            <p:ph type="title"/>
          </p:nvPr>
        </p:nvSpPr>
        <p:spPr>
          <a:xfrm>
            <a:off x="430427" y="365125"/>
            <a:ext cx="10515600" cy="1325563"/>
          </a:xfrm>
        </p:spPr>
        <p:txBody>
          <a:bodyPr/>
          <a:lstStyle/>
          <a:p>
            <a:r>
              <a:rPr lang="en-GB" dirty="0"/>
              <a:t>Data Collection Process</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6E6B8CB8-E5B6-DD68-AD97-8FBFE2345C4D}"/>
              </a:ext>
            </a:extLst>
          </p:cNvPr>
          <p:cNvSpPr>
            <a:spLocks noGrp="1"/>
          </p:cNvSpPr>
          <p:nvPr>
            <p:ph idx="1"/>
          </p:nvPr>
        </p:nvSpPr>
        <p:spPr>
          <a:xfrm>
            <a:off x="430427" y="1825625"/>
            <a:ext cx="10515600" cy="4351338"/>
          </a:xfrm>
        </p:spPr>
        <p:txBody>
          <a:bodyPr>
            <a:normAutofit fontScale="92500" lnSpcReduction="10000"/>
          </a:bodyPr>
          <a:lstStyle/>
          <a:p>
            <a:r>
              <a:rPr lang="en-US" dirty="0"/>
              <a:t>Add your content here</a:t>
            </a:r>
          </a:p>
          <a:p>
            <a:pPr lvl="1"/>
            <a:r>
              <a:rPr lang="en-GB" dirty="0"/>
              <a:t>Where, how, and when was data collected?</a:t>
            </a:r>
          </a:p>
          <a:p>
            <a:pPr lvl="1"/>
            <a:r>
              <a:rPr lang="en-GB" dirty="0"/>
              <a:t>Sample size, demographics</a:t>
            </a:r>
          </a:p>
          <a:p>
            <a:pPr lvl="1"/>
            <a:r>
              <a:rPr lang="en-GB" dirty="0"/>
              <a:t>Tools/platforms</a:t>
            </a:r>
          </a:p>
          <a:p>
            <a:pPr lvl="1"/>
            <a:r>
              <a:rPr lang="en-GB" dirty="0"/>
              <a:t>Ethical considerations in data handling</a:t>
            </a:r>
          </a:p>
          <a:p>
            <a:pPr lvl="1"/>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7FDD2137-4FFF-A1DE-B4C6-7E0B2CB064B9}"/>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32133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9CF1D47C-3CC6-20F5-3094-E96D00C1D4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F690C99-3CF7-FBBF-0948-517B19BDB02C}"/>
              </a:ext>
            </a:extLst>
          </p:cNvPr>
          <p:cNvSpPr>
            <a:spLocks noGrp="1"/>
          </p:cNvSpPr>
          <p:nvPr>
            <p:ph type="title"/>
          </p:nvPr>
        </p:nvSpPr>
        <p:spPr>
          <a:xfrm>
            <a:off x="430427" y="365125"/>
            <a:ext cx="10515600" cy="1325563"/>
          </a:xfrm>
        </p:spPr>
        <p:txBody>
          <a:bodyPr/>
          <a:lstStyle/>
          <a:p>
            <a:r>
              <a:rPr lang="en-GB" dirty="0"/>
              <a:t>Results Presentation</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A9C2F0B4-3898-2545-B419-6B19D8147121}"/>
              </a:ext>
            </a:extLst>
          </p:cNvPr>
          <p:cNvSpPr>
            <a:spLocks noGrp="1"/>
          </p:cNvSpPr>
          <p:nvPr>
            <p:ph idx="1"/>
          </p:nvPr>
        </p:nvSpPr>
        <p:spPr>
          <a:xfrm>
            <a:off x="430427" y="1825625"/>
            <a:ext cx="10515600" cy="4667250"/>
          </a:xfrm>
        </p:spPr>
        <p:txBody>
          <a:bodyPr>
            <a:normAutofit lnSpcReduction="10000"/>
          </a:bodyPr>
          <a:lstStyle/>
          <a:p>
            <a:r>
              <a:rPr lang="en-US" dirty="0"/>
              <a:t>Add your content here</a:t>
            </a:r>
          </a:p>
          <a:p>
            <a:pPr lvl="1"/>
            <a:r>
              <a:rPr lang="en-GB" dirty="0"/>
              <a:t>Key findings with </a:t>
            </a:r>
            <a:r>
              <a:rPr lang="en-GB" b="1" dirty="0"/>
              <a:t>visuals</a:t>
            </a:r>
            <a:r>
              <a:rPr lang="en-GB" dirty="0"/>
              <a:t> (charts, tables, screenshots)</a:t>
            </a:r>
          </a:p>
          <a:p>
            <a:pPr lvl="1"/>
            <a:r>
              <a:rPr lang="en-GB" dirty="0"/>
              <a:t>Use clear labels and figure captions</a:t>
            </a:r>
          </a:p>
          <a:p>
            <a:pPr lvl="1"/>
            <a:r>
              <a:rPr lang="en-GB" dirty="0"/>
              <a:t>Use graphs to show trends, performance, etc.</a:t>
            </a:r>
          </a:p>
          <a:p>
            <a:pPr marL="457200" lvl="1" indent="0">
              <a:buNone/>
            </a:pP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p:txBody>
      </p:sp>
      <p:cxnSp>
        <p:nvCxnSpPr>
          <p:cNvPr id="4" name="Straight Connector 3">
            <a:extLst>
              <a:ext uri="{FF2B5EF4-FFF2-40B4-BE49-F238E27FC236}">
                <a16:creationId xmlns:a16="http://schemas.microsoft.com/office/drawing/2014/main" id="{BD6CCB68-991B-2F54-F71F-4C6E1A395E64}"/>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96651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F9F0A96-AC3D-FF74-CD71-4C702447F2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D9AB9-9BD3-E70E-C717-07432932BCB9}"/>
              </a:ext>
            </a:extLst>
          </p:cNvPr>
          <p:cNvSpPr>
            <a:spLocks noGrp="1"/>
          </p:cNvSpPr>
          <p:nvPr>
            <p:ph type="title"/>
          </p:nvPr>
        </p:nvSpPr>
        <p:spPr>
          <a:xfrm>
            <a:off x="430427" y="365125"/>
            <a:ext cx="10515600" cy="1325563"/>
          </a:xfrm>
        </p:spPr>
        <p:txBody>
          <a:bodyPr/>
          <a:lstStyle/>
          <a:p>
            <a:r>
              <a:rPr lang="en-GB" dirty="0"/>
              <a:t>Results Analysis &amp; Interpretation</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D001DF77-17E7-3402-FCBD-ACEDF15778B3}"/>
              </a:ext>
            </a:extLst>
          </p:cNvPr>
          <p:cNvSpPr>
            <a:spLocks noGrp="1"/>
          </p:cNvSpPr>
          <p:nvPr>
            <p:ph idx="1"/>
          </p:nvPr>
        </p:nvSpPr>
        <p:spPr>
          <a:xfrm>
            <a:off x="430427" y="1825625"/>
            <a:ext cx="10515600" cy="4667250"/>
          </a:xfrm>
        </p:spPr>
        <p:txBody>
          <a:bodyPr>
            <a:normAutofit lnSpcReduction="10000"/>
          </a:bodyPr>
          <a:lstStyle/>
          <a:p>
            <a:r>
              <a:rPr lang="en-US" dirty="0"/>
              <a:t>Add your content here</a:t>
            </a:r>
          </a:p>
          <a:p>
            <a:pPr lvl="1"/>
            <a:r>
              <a:rPr lang="en-GB" dirty="0"/>
              <a:t>What do the results imply?</a:t>
            </a:r>
          </a:p>
          <a:p>
            <a:pPr lvl="1"/>
            <a:r>
              <a:rPr lang="en-GB" dirty="0"/>
              <a:t>How do they relate to your objectives or hypotheses?</a:t>
            </a:r>
          </a:p>
          <a:p>
            <a:pPr lvl="1"/>
            <a:r>
              <a:rPr lang="en-GB" dirty="0"/>
              <a:t>Comparison with literature/theories</a:t>
            </a:r>
          </a:p>
          <a:p>
            <a:pPr lvl="1"/>
            <a:r>
              <a:rPr lang="en-GB" dirty="0"/>
              <a:t>Any patterns, anomalies, or surprising insights</a:t>
            </a:r>
          </a:p>
          <a:p>
            <a:pPr marL="457200" lvl="1" indent="0">
              <a:buNone/>
            </a:pP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p:txBody>
      </p:sp>
      <p:cxnSp>
        <p:nvCxnSpPr>
          <p:cNvPr id="4" name="Straight Connector 3">
            <a:extLst>
              <a:ext uri="{FF2B5EF4-FFF2-40B4-BE49-F238E27FC236}">
                <a16:creationId xmlns:a16="http://schemas.microsoft.com/office/drawing/2014/main" id="{45B06A13-0E0D-80BA-4B12-47B7354E43D4}"/>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8941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1E3E112-0E04-72DC-C771-4044112EAA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4CA7C8-B114-B738-4FAB-9CD2852620F1}"/>
              </a:ext>
            </a:extLst>
          </p:cNvPr>
          <p:cNvSpPr>
            <a:spLocks noGrp="1"/>
          </p:cNvSpPr>
          <p:nvPr>
            <p:ph type="title"/>
          </p:nvPr>
        </p:nvSpPr>
        <p:spPr>
          <a:xfrm>
            <a:off x="430427" y="365125"/>
            <a:ext cx="10515600" cy="1325563"/>
          </a:xfrm>
        </p:spPr>
        <p:txBody>
          <a:bodyPr/>
          <a:lstStyle/>
          <a:p>
            <a:r>
              <a:rPr lang="en-GB" dirty="0"/>
              <a:t>Challenges &amp; Limitations</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C172C8C9-8B72-45B4-04AD-97ECEF15ED1D}"/>
              </a:ext>
            </a:extLst>
          </p:cNvPr>
          <p:cNvSpPr>
            <a:spLocks noGrp="1"/>
          </p:cNvSpPr>
          <p:nvPr>
            <p:ph idx="1"/>
          </p:nvPr>
        </p:nvSpPr>
        <p:spPr>
          <a:xfrm>
            <a:off x="430427" y="1825625"/>
            <a:ext cx="10515600" cy="4667250"/>
          </a:xfrm>
        </p:spPr>
        <p:txBody>
          <a:bodyPr>
            <a:normAutofit lnSpcReduction="10000"/>
          </a:bodyPr>
          <a:lstStyle/>
          <a:p>
            <a:r>
              <a:rPr lang="en-US" dirty="0"/>
              <a:t>Add your content here</a:t>
            </a:r>
          </a:p>
          <a:p>
            <a:pPr lvl="1"/>
            <a:r>
              <a:rPr lang="en-GB" dirty="0"/>
              <a:t>Practical challenges faced (data access, time, resources)</a:t>
            </a:r>
          </a:p>
          <a:p>
            <a:pPr lvl="1"/>
            <a:r>
              <a:rPr lang="en-GB" dirty="0"/>
              <a:t>Limitations of the study (methodology, sample size, tools)</a:t>
            </a:r>
          </a:p>
          <a:p>
            <a:pPr lvl="1"/>
            <a:r>
              <a:rPr lang="en-GB" dirty="0"/>
              <a:t>How were these mitigated?</a:t>
            </a:r>
          </a:p>
          <a:p>
            <a:pPr marL="457200" lvl="1" indent="0">
              <a:buNone/>
            </a:pP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p:txBody>
      </p:sp>
      <p:cxnSp>
        <p:nvCxnSpPr>
          <p:cNvPr id="4" name="Straight Connector 3">
            <a:extLst>
              <a:ext uri="{FF2B5EF4-FFF2-40B4-BE49-F238E27FC236}">
                <a16:creationId xmlns:a16="http://schemas.microsoft.com/office/drawing/2014/main" id="{355473B2-C492-4092-1CEF-06BAC1617F2A}"/>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711785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E1F4A539-F1B3-27B0-598C-23A399ECF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35FD90-9648-4A1A-E9BE-839F2D758DFC}"/>
              </a:ext>
            </a:extLst>
          </p:cNvPr>
          <p:cNvSpPr>
            <a:spLocks noGrp="1"/>
          </p:cNvSpPr>
          <p:nvPr>
            <p:ph type="title"/>
          </p:nvPr>
        </p:nvSpPr>
        <p:spPr>
          <a:xfrm>
            <a:off x="430427" y="365125"/>
            <a:ext cx="10515600" cy="1325563"/>
          </a:xfrm>
        </p:spPr>
        <p:txBody>
          <a:bodyPr/>
          <a:lstStyle/>
          <a:p>
            <a:r>
              <a:rPr lang="en-GB" dirty="0"/>
              <a:t>Discussion</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AF5CC660-5DE0-0F1E-F39F-0B9B254AC5DC}"/>
              </a:ext>
            </a:extLst>
          </p:cNvPr>
          <p:cNvSpPr>
            <a:spLocks noGrp="1"/>
          </p:cNvSpPr>
          <p:nvPr>
            <p:ph idx="1"/>
          </p:nvPr>
        </p:nvSpPr>
        <p:spPr>
          <a:xfrm>
            <a:off x="430427" y="1825625"/>
            <a:ext cx="10515600" cy="4667250"/>
          </a:xfrm>
        </p:spPr>
        <p:txBody>
          <a:bodyPr>
            <a:normAutofit lnSpcReduction="10000"/>
          </a:bodyPr>
          <a:lstStyle/>
          <a:p>
            <a:r>
              <a:rPr lang="en-US" dirty="0"/>
              <a:t>Add your content here</a:t>
            </a:r>
          </a:p>
          <a:p>
            <a:pPr lvl="1"/>
            <a:r>
              <a:rPr lang="en-GB" dirty="0"/>
              <a:t>Critical evaluation of your project outcomes</a:t>
            </a:r>
          </a:p>
          <a:p>
            <a:pPr lvl="1"/>
            <a:r>
              <a:rPr lang="en-GB" dirty="0"/>
              <a:t>Contributions to the field (practical/theoretical)</a:t>
            </a:r>
          </a:p>
          <a:p>
            <a:pPr lvl="1"/>
            <a:r>
              <a:rPr lang="en-GB" dirty="0"/>
              <a:t>Reflection on what worked well vs. not</a:t>
            </a:r>
          </a:p>
          <a:p>
            <a:pPr marL="457200" lvl="1" indent="0">
              <a:buNone/>
            </a:pPr>
            <a:endParaRPr lang="en-US" dirty="0"/>
          </a:p>
          <a:p>
            <a:r>
              <a:rPr lang="en-US" dirty="0"/>
              <a:t>Provide in- text citations where its applicable (including the images you take from open sources platforms as well</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p:txBody>
      </p:sp>
      <p:cxnSp>
        <p:nvCxnSpPr>
          <p:cNvPr id="4" name="Straight Connector 3">
            <a:extLst>
              <a:ext uri="{FF2B5EF4-FFF2-40B4-BE49-F238E27FC236}">
                <a16:creationId xmlns:a16="http://schemas.microsoft.com/office/drawing/2014/main" id="{0B38C946-0652-E7D6-78FC-813678F6263F}"/>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034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30D69759-052A-5CA2-9409-447B80B59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F6B723-FE64-2C2B-112C-4C9DEA08B995}"/>
              </a:ext>
            </a:extLst>
          </p:cNvPr>
          <p:cNvSpPr>
            <a:spLocks noGrp="1"/>
          </p:cNvSpPr>
          <p:nvPr>
            <p:ph type="title"/>
          </p:nvPr>
        </p:nvSpPr>
        <p:spPr>
          <a:xfrm>
            <a:off x="430427" y="365125"/>
            <a:ext cx="10515600" cy="1325563"/>
          </a:xfrm>
        </p:spPr>
        <p:txBody>
          <a:bodyPr/>
          <a:lstStyle/>
          <a:p>
            <a:r>
              <a:rPr lang="en-US" dirty="0">
                <a:solidFill>
                  <a:sysClr val="windowText" lastClr="000000"/>
                </a:solidFill>
              </a:rPr>
              <a:t>Future Work</a:t>
            </a:r>
          </a:p>
        </p:txBody>
      </p:sp>
      <p:sp>
        <p:nvSpPr>
          <p:cNvPr id="3" name="Content Placeholder 2">
            <a:extLst>
              <a:ext uri="{FF2B5EF4-FFF2-40B4-BE49-F238E27FC236}">
                <a16:creationId xmlns:a16="http://schemas.microsoft.com/office/drawing/2014/main" id="{4DEE4E72-0403-C90E-B0E2-D74643C706D0}"/>
              </a:ext>
            </a:extLst>
          </p:cNvPr>
          <p:cNvSpPr>
            <a:spLocks noGrp="1"/>
          </p:cNvSpPr>
          <p:nvPr>
            <p:ph idx="1"/>
          </p:nvPr>
        </p:nvSpPr>
        <p:spPr>
          <a:xfrm>
            <a:off x="430427" y="1825625"/>
            <a:ext cx="10515600" cy="4351338"/>
          </a:xfrm>
        </p:spPr>
        <p:txBody>
          <a:bodyPr>
            <a:normAutofit lnSpcReduction="10000"/>
          </a:bodyPr>
          <a:lstStyle/>
          <a:p>
            <a:r>
              <a:rPr lang="en-US" dirty="0"/>
              <a:t>Add your content here</a:t>
            </a:r>
          </a:p>
          <a:p>
            <a:pPr lvl="1"/>
            <a:r>
              <a:rPr lang="en-GB" dirty="0"/>
              <a:t>How can your research be extended?</a:t>
            </a:r>
          </a:p>
          <a:p>
            <a:pPr lvl="1"/>
            <a:r>
              <a:rPr lang="en-GB" dirty="0"/>
              <a:t>What areas should future researchers focus on?</a:t>
            </a:r>
          </a:p>
          <a:p>
            <a:pPr lvl="1"/>
            <a:r>
              <a:rPr lang="en-GB" dirty="0"/>
              <a:t>Practical applications for ongoing development</a:t>
            </a:r>
          </a:p>
          <a:p>
            <a:pPr lvl="1"/>
            <a:endParaRPr lang="en-US" dirty="0"/>
          </a:p>
          <a:p>
            <a:r>
              <a:rPr lang="en-US" dirty="0"/>
              <a:t>Provide in- text citations where its applicable (including the images you take from open sources platforms as well_</a:t>
            </a:r>
          </a:p>
          <a:p>
            <a:r>
              <a:rPr lang="en-US" dirty="0"/>
              <a:t>Make sure the content is more readable format (bullet point wise is much better</a:t>
            </a:r>
          </a:p>
          <a:p>
            <a:r>
              <a:rPr lang="en-US" i="1" dirty="0">
                <a:solidFill>
                  <a:srgbClr val="FF0000"/>
                </a:solidFill>
              </a:rPr>
              <a:t>Attach relevant images/ snapshots where applicable with figure formatting.</a:t>
            </a:r>
          </a:p>
          <a:p>
            <a:endParaRPr lang="en-US" dirty="0"/>
          </a:p>
          <a:p>
            <a:endParaRPr lang="en-US" dirty="0"/>
          </a:p>
        </p:txBody>
      </p:sp>
      <p:cxnSp>
        <p:nvCxnSpPr>
          <p:cNvPr id="4" name="Straight Connector 3">
            <a:extLst>
              <a:ext uri="{FF2B5EF4-FFF2-40B4-BE49-F238E27FC236}">
                <a16:creationId xmlns:a16="http://schemas.microsoft.com/office/drawing/2014/main" id="{60A7B504-6BCD-0BA3-6AB4-24D8A7BD18C0}"/>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1343278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B87ED9B-71A4-7ACA-591F-B630F6FE59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8A440-1587-1CE2-FFE8-B83355B08920}"/>
              </a:ext>
            </a:extLst>
          </p:cNvPr>
          <p:cNvSpPr>
            <a:spLocks noGrp="1"/>
          </p:cNvSpPr>
          <p:nvPr>
            <p:ph type="title"/>
          </p:nvPr>
        </p:nvSpPr>
        <p:spPr>
          <a:xfrm>
            <a:off x="430427" y="365125"/>
            <a:ext cx="10515600" cy="1325563"/>
          </a:xfrm>
        </p:spPr>
        <p:txBody>
          <a:bodyPr/>
          <a:lstStyle/>
          <a:p>
            <a:r>
              <a:rPr lang="en-US" dirty="0">
                <a:solidFill>
                  <a:sysClr val="windowText" lastClr="000000"/>
                </a:solidFill>
              </a:rPr>
              <a:t>Conclusion</a:t>
            </a:r>
          </a:p>
        </p:txBody>
      </p:sp>
      <p:sp>
        <p:nvSpPr>
          <p:cNvPr id="3" name="Content Placeholder 2">
            <a:extLst>
              <a:ext uri="{FF2B5EF4-FFF2-40B4-BE49-F238E27FC236}">
                <a16:creationId xmlns:a16="http://schemas.microsoft.com/office/drawing/2014/main" id="{20F74254-298C-D055-C711-BF102C5ADC7E}"/>
              </a:ext>
            </a:extLst>
          </p:cNvPr>
          <p:cNvSpPr>
            <a:spLocks noGrp="1"/>
          </p:cNvSpPr>
          <p:nvPr>
            <p:ph idx="1"/>
          </p:nvPr>
        </p:nvSpPr>
        <p:spPr>
          <a:xfrm>
            <a:off x="430427" y="1825625"/>
            <a:ext cx="10515600" cy="4351338"/>
          </a:xfrm>
        </p:spPr>
        <p:txBody>
          <a:bodyPr/>
          <a:lstStyle/>
          <a:p>
            <a:r>
              <a:rPr lang="en-US" dirty="0"/>
              <a:t>Add your content here</a:t>
            </a:r>
          </a:p>
          <a:p>
            <a:pPr lvl="1"/>
            <a:r>
              <a:rPr lang="en-GB" dirty="0"/>
              <a:t>Recap of key findings</a:t>
            </a:r>
          </a:p>
          <a:p>
            <a:pPr lvl="1"/>
            <a:r>
              <a:rPr lang="en-GB" dirty="0"/>
              <a:t>Whether research aims were met</a:t>
            </a:r>
          </a:p>
          <a:p>
            <a:pPr lvl="1"/>
            <a:r>
              <a:rPr lang="en-GB" dirty="0"/>
              <a:t>Final takeaway or message</a:t>
            </a:r>
          </a:p>
          <a:p>
            <a:pPr marL="457200" lvl="1" indent="0">
              <a:buNone/>
            </a:pPr>
            <a:endParaRPr lang="en-US" dirty="0"/>
          </a:p>
          <a:p>
            <a:r>
              <a:rPr lang="en-US" dirty="0"/>
              <a:t>Provide in- text citations where its applicable (including the images you take from open sources platforms as well_</a:t>
            </a:r>
          </a:p>
          <a:p>
            <a:r>
              <a:rPr lang="en-US" dirty="0"/>
              <a:t>Make sure the content is more readable format (bullet point wise is much better</a:t>
            </a:r>
          </a:p>
          <a:p>
            <a:endParaRPr lang="en-US" dirty="0"/>
          </a:p>
        </p:txBody>
      </p:sp>
      <p:cxnSp>
        <p:nvCxnSpPr>
          <p:cNvPr id="4" name="Straight Connector 3">
            <a:extLst>
              <a:ext uri="{FF2B5EF4-FFF2-40B4-BE49-F238E27FC236}">
                <a16:creationId xmlns:a16="http://schemas.microsoft.com/office/drawing/2014/main" id="{8C994DFC-825D-8C12-1738-D6C3DB276E2D}"/>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728557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2AD3BA22-5B2F-E652-D77F-10FB3AAE7D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AA8890-8CF1-83D6-F540-5C861CFB398A}"/>
              </a:ext>
            </a:extLst>
          </p:cNvPr>
          <p:cNvSpPr>
            <a:spLocks noGrp="1"/>
          </p:cNvSpPr>
          <p:nvPr>
            <p:ph type="title"/>
          </p:nvPr>
        </p:nvSpPr>
        <p:spPr>
          <a:xfrm>
            <a:off x="430427" y="365125"/>
            <a:ext cx="10515600" cy="1325563"/>
          </a:xfrm>
        </p:spPr>
        <p:txBody>
          <a:bodyPr/>
          <a:lstStyle/>
          <a:p>
            <a:r>
              <a:rPr lang="en-US" dirty="0">
                <a:solidFill>
                  <a:sysClr val="windowText" lastClr="000000"/>
                </a:solidFill>
              </a:rPr>
              <a:t>Ethics Consideration</a:t>
            </a:r>
          </a:p>
        </p:txBody>
      </p:sp>
      <p:sp>
        <p:nvSpPr>
          <p:cNvPr id="3" name="Content Placeholder 2">
            <a:extLst>
              <a:ext uri="{FF2B5EF4-FFF2-40B4-BE49-F238E27FC236}">
                <a16:creationId xmlns:a16="http://schemas.microsoft.com/office/drawing/2014/main" id="{BDC0BAF5-B010-9F7A-2151-2A52634F4684}"/>
              </a:ext>
            </a:extLst>
          </p:cNvPr>
          <p:cNvSpPr>
            <a:spLocks noGrp="1"/>
          </p:cNvSpPr>
          <p:nvPr>
            <p:ph idx="1"/>
          </p:nvPr>
        </p:nvSpPr>
        <p:spPr>
          <a:xfrm>
            <a:off x="430427" y="1825625"/>
            <a:ext cx="10515600" cy="4351338"/>
          </a:xfrm>
        </p:spPr>
        <p:txBody>
          <a:bodyPr>
            <a:normAutofit fontScale="92500" lnSpcReduction="20000"/>
          </a:bodyPr>
          <a:lstStyle/>
          <a:p>
            <a:pPr marL="0" indent="0">
              <a:buNone/>
            </a:pPr>
            <a:endParaRPr lang="en-US" dirty="0"/>
          </a:p>
          <a:p>
            <a:pPr lvl="1"/>
            <a:r>
              <a:rPr lang="en-US" dirty="0"/>
              <a:t>Approval from your supervisor is required upon discussion of the ethical considerations of your project. </a:t>
            </a:r>
          </a:p>
          <a:p>
            <a:pPr lvl="1"/>
            <a:r>
              <a:rPr lang="en-GB" dirty="0"/>
              <a:t>Was YSJ ethical approval needed/granted?</a:t>
            </a:r>
          </a:p>
          <a:p>
            <a:pPr lvl="1"/>
            <a:r>
              <a:rPr lang="en-GB" dirty="0"/>
              <a:t>What were the ethical risks?</a:t>
            </a:r>
            <a:endParaRPr lang="en-US" dirty="0"/>
          </a:p>
          <a:p>
            <a:pPr lvl="1"/>
            <a:r>
              <a:rPr lang="en-GB" dirty="0"/>
              <a:t>How were risks mitigated (consent, anonymity, data storage)?</a:t>
            </a:r>
          </a:p>
          <a:p>
            <a:pPr marL="457200" lvl="1" indent="0">
              <a:buNone/>
            </a:pPr>
            <a:endParaRPr lang="en-US" dirty="0"/>
          </a:p>
          <a:p>
            <a:pPr lvl="1"/>
            <a:endParaRPr lang="en-US" dirty="0"/>
          </a:p>
          <a:p>
            <a:pPr lvl="1"/>
            <a:endParaRPr lang="en-US" dirty="0"/>
          </a:p>
          <a:p>
            <a:pPr lvl="1"/>
            <a:endParaRPr lang="en-US" dirty="0"/>
          </a:p>
          <a:p>
            <a:r>
              <a:rPr lang="en-GB" b="1" i="1" dirty="0">
                <a:solidFill>
                  <a:srgbClr val="FF0000"/>
                </a:solidFill>
              </a:rPr>
              <a:t>Please describe the main ethical challenges of your research project and how you action to mitigate them. Your discussion may include material not covered in the above questions. Please be as through as possible</a:t>
            </a:r>
            <a:endParaRPr lang="en-US" b="1" i="1" dirty="0">
              <a:solidFill>
                <a:srgbClr val="FF0000"/>
              </a:solidFill>
            </a:endParaRPr>
          </a:p>
          <a:p>
            <a:pPr lvl="1"/>
            <a:endParaRPr lang="en-US" dirty="0"/>
          </a:p>
        </p:txBody>
      </p:sp>
      <p:cxnSp>
        <p:nvCxnSpPr>
          <p:cNvPr id="4" name="Straight Connector 3">
            <a:extLst>
              <a:ext uri="{FF2B5EF4-FFF2-40B4-BE49-F238E27FC236}">
                <a16:creationId xmlns:a16="http://schemas.microsoft.com/office/drawing/2014/main" id="{97BCB69D-F127-ABF0-C9AF-8A9DAA2469E7}"/>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62700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AD39BF30-E6D8-5B5B-82B2-F51B7AD523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34F6D2-FDA6-BC46-0D08-5F74D03010B9}"/>
              </a:ext>
            </a:extLst>
          </p:cNvPr>
          <p:cNvSpPr>
            <a:spLocks noGrp="1"/>
          </p:cNvSpPr>
          <p:nvPr>
            <p:ph type="title"/>
          </p:nvPr>
        </p:nvSpPr>
        <p:spPr>
          <a:xfrm>
            <a:off x="430427" y="365125"/>
            <a:ext cx="10515600" cy="1325563"/>
          </a:xfrm>
        </p:spPr>
        <p:txBody>
          <a:bodyPr/>
          <a:lstStyle/>
          <a:p>
            <a:r>
              <a:rPr lang="en-US" dirty="0">
                <a:solidFill>
                  <a:sysClr val="windowText" lastClr="000000"/>
                </a:solidFill>
              </a:rPr>
              <a:t>References</a:t>
            </a:r>
          </a:p>
        </p:txBody>
      </p:sp>
      <p:sp>
        <p:nvSpPr>
          <p:cNvPr id="3" name="Content Placeholder 2">
            <a:extLst>
              <a:ext uri="{FF2B5EF4-FFF2-40B4-BE49-F238E27FC236}">
                <a16:creationId xmlns:a16="http://schemas.microsoft.com/office/drawing/2014/main" id="{1FA6AF95-893B-A364-7D9A-C27CF44F7D96}"/>
              </a:ext>
            </a:extLst>
          </p:cNvPr>
          <p:cNvSpPr>
            <a:spLocks noGrp="1"/>
          </p:cNvSpPr>
          <p:nvPr>
            <p:ph idx="1"/>
          </p:nvPr>
        </p:nvSpPr>
        <p:spPr>
          <a:xfrm>
            <a:off x="430427" y="1825625"/>
            <a:ext cx="10515600" cy="4351338"/>
          </a:xfrm>
        </p:spPr>
        <p:txBody>
          <a:bodyPr/>
          <a:lstStyle/>
          <a:p>
            <a:r>
              <a:rPr lang="en-US" dirty="0"/>
              <a:t>Populate the Harvard–based references in here</a:t>
            </a:r>
          </a:p>
          <a:p>
            <a:r>
              <a:rPr lang="en-GB" dirty="0"/>
              <a:t>Include only cited works</a:t>
            </a:r>
          </a:p>
          <a:p>
            <a:r>
              <a:rPr lang="en-GB" dirty="0"/>
              <a:t>Must be consistent and complete</a:t>
            </a:r>
          </a:p>
          <a:p>
            <a:r>
              <a:rPr lang="en-GB" dirty="0"/>
              <a:t>Include all the references that are relevant to the discussion in the slides.</a:t>
            </a:r>
            <a:endParaRPr lang="en-US" dirty="0"/>
          </a:p>
          <a:p>
            <a:endParaRPr lang="en-US" dirty="0"/>
          </a:p>
        </p:txBody>
      </p:sp>
      <p:cxnSp>
        <p:nvCxnSpPr>
          <p:cNvPr id="4" name="Straight Connector 3">
            <a:extLst>
              <a:ext uri="{FF2B5EF4-FFF2-40B4-BE49-F238E27FC236}">
                <a16:creationId xmlns:a16="http://schemas.microsoft.com/office/drawing/2014/main" id="{7629C2A5-3D4A-AB8B-35CC-A0C7327DDA61}"/>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048030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BFFD62C4-CDDF-997C-59F6-D88DE03148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23E1D5-0049-110B-29B2-6F6BC0A11750}"/>
              </a:ext>
            </a:extLst>
          </p:cNvPr>
          <p:cNvSpPr>
            <a:spLocks noGrp="1"/>
          </p:cNvSpPr>
          <p:nvPr>
            <p:ph type="title"/>
          </p:nvPr>
        </p:nvSpPr>
        <p:spPr>
          <a:xfrm>
            <a:off x="430427" y="365125"/>
            <a:ext cx="10515600" cy="1325563"/>
          </a:xfrm>
        </p:spPr>
        <p:txBody>
          <a:bodyPr/>
          <a:lstStyle/>
          <a:p>
            <a:r>
              <a:rPr lang="en-GB" dirty="0"/>
              <a:t>Executive Summary </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D287C826-D375-BAB3-43C7-EE9D336D83BD}"/>
              </a:ext>
            </a:extLst>
          </p:cNvPr>
          <p:cNvSpPr>
            <a:spLocks noGrp="1"/>
          </p:cNvSpPr>
          <p:nvPr>
            <p:ph idx="1"/>
          </p:nvPr>
        </p:nvSpPr>
        <p:spPr>
          <a:xfrm>
            <a:off x="430427" y="1825625"/>
            <a:ext cx="10515600" cy="4351338"/>
          </a:xfrm>
        </p:spPr>
        <p:txBody>
          <a:bodyPr/>
          <a:lstStyle/>
          <a:p>
            <a:r>
              <a:rPr lang="en-GB" dirty="0"/>
              <a:t>A concise wrap-up (bullet points or short paragraph):</a:t>
            </a:r>
          </a:p>
          <a:p>
            <a:pPr lvl="1"/>
            <a:r>
              <a:rPr lang="en-GB" dirty="0"/>
              <a:t>Purpose of the project</a:t>
            </a:r>
          </a:p>
          <a:p>
            <a:pPr lvl="1"/>
            <a:r>
              <a:rPr lang="en-GB" dirty="0"/>
              <a:t>Research method</a:t>
            </a:r>
          </a:p>
          <a:p>
            <a:pPr lvl="1"/>
            <a:r>
              <a:rPr lang="en-GB" dirty="0"/>
              <a:t>Key findings</a:t>
            </a:r>
          </a:p>
          <a:p>
            <a:pPr lvl="1"/>
            <a:r>
              <a:rPr lang="en-GB" dirty="0"/>
              <a:t>Conclusion and contribution</a:t>
            </a:r>
          </a:p>
          <a:p>
            <a:pPr lvl="1"/>
            <a:r>
              <a:rPr lang="en-GB" dirty="0"/>
              <a:t>Impact and recommendations</a:t>
            </a:r>
            <a:endParaRPr lang="en-US" dirty="0"/>
          </a:p>
        </p:txBody>
      </p:sp>
      <p:cxnSp>
        <p:nvCxnSpPr>
          <p:cNvPr id="4" name="Straight Connector 3">
            <a:extLst>
              <a:ext uri="{FF2B5EF4-FFF2-40B4-BE49-F238E27FC236}">
                <a16:creationId xmlns:a16="http://schemas.microsoft.com/office/drawing/2014/main" id="{777457C6-61D3-94B1-6A39-F0156E787171}"/>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2960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F2F29891-9BC7-5DEB-8759-D5E0ED6056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AFA4EA-193B-E6CE-01EC-5743B8C3FECF}"/>
              </a:ext>
            </a:extLst>
          </p:cNvPr>
          <p:cNvSpPr>
            <a:spLocks noGrp="1"/>
          </p:cNvSpPr>
          <p:nvPr>
            <p:ph type="title"/>
          </p:nvPr>
        </p:nvSpPr>
        <p:spPr>
          <a:xfrm>
            <a:off x="430427" y="365125"/>
            <a:ext cx="10515600" cy="1325563"/>
          </a:xfrm>
        </p:spPr>
        <p:txBody>
          <a:bodyPr/>
          <a:lstStyle/>
          <a:p>
            <a:r>
              <a:rPr lang="en-GB" dirty="0"/>
              <a:t>Q&amp;A</a:t>
            </a:r>
            <a:endParaRPr lang="en-US" dirty="0">
              <a:solidFill>
                <a:sysClr val="windowText" lastClr="000000"/>
              </a:solidFill>
            </a:endParaRPr>
          </a:p>
        </p:txBody>
      </p:sp>
      <p:sp>
        <p:nvSpPr>
          <p:cNvPr id="3" name="Content Placeholder 2">
            <a:extLst>
              <a:ext uri="{FF2B5EF4-FFF2-40B4-BE49-F238E27FC236}">
                <a16:creationId xmlns:a16="http://schemas.microsoft.com/office/drawing/2014/main" id="{CC87AE56-9C2C-711D-E0F2-F6D9421BED60}"/>
              </a:ext>
            </a:extLst>
          </p:cNvPr>
          <p:cNvSpPr>
            <a:spLocks noGrp="1"/>
          </p:cNvSpPr>
          <p:nvPr>
            <p:ph idx="1"/>
          </p:nvPr>
        </p:nvSpPr>
        <p:spPr>
          <a:xfrm>
            <a:off x="430427" y="1825625"/>
            <a:ext cx="10515600" cy="4351338"/>
          </a:xfrm>
        </p:spPr>
        <p:txBody>
          <a:bodyPr/>
          <a:lstStyle/>
          <a:p>
            <a:r>
              <a:rPr lang="en-GB" dirty="0"/>
              <a:t>Invite questions from the panel</a:t>
            </a:r>
          </a:p>
        </p:txBody>
      </p:sp>
      <p:cxnSp>
        <p:nvCxnSpPr>
          <p:cNvPr id="4" name="Straight Connector 3">
            <a:extLst>
              <a:ext uri="{FF2B5EF4-FFF2-40B4-BE49-F238E27FC236}">
                <a16:creationId xmlns:a16="http://schemas.microsoft.com/office/drawing/2014/main" id="{5DB56490-0ADA-F749-CEBF-E335FBB36316}"/>
              </a:ext>
            </a:extLst>
          </p:cNvPr>
          <p:cNvCxnSpPr>
            <a:cxnSpLocks/>
          </p:cNvCxnSpPr>
          <p:nvPr/>
        </p:nvCxnSpPr>
        <p:spPr>
          <a:xfrm flipH="1">
            <a:off x="525162" y="1563130"/>
            <a:ext cx="840877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00229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E2F4A1C5737404AA29ACCAF4ACF7929" ma:contentTypeVersion="14" ma:contentTypeDescription="Create a new document." ma:contentTypeScope="" ma:versionID="b1138fc30112e532684a3844b00088b2">
  <xsd:schema xmlns:xsd="http://www.w3.org/2001/XMLSchema" xmlns:xs="http://www.w3.org/2001/XMLSchema" xmlns:p="http://schemas.microsoft.com/office/2006/metadata/properties" xmlns:ns2="5f174165-9e85-4698-9101-9df70a8b8bcc" xmlns:ns3="59cd5ed3-f717-4fd0-ac6b-966345ff2509" targetNamespace="http://schemas.microsoft.com/office/2006/metadata/properties" ma:root="true" ma:fieldsID="c9ac159f03f3a3cc81b964132c323051" ns2:_="" ns3:_="">
    <xsd:import namespace="5f174165-9e85-4698-9101-9df70a8b8bcc"/>
    <xsd:import namespace="59cd5ed3-f717-4fd0-ac6b-966345ff2509"/>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element ref="ns2:MediaServiceGenerationTime" minOccurs="0"/>
                <xsd:element ref="ns2:MediaServiceEventHashCode" minOccurs="0"/>
                <xsd:element ref="ns2:MediaLengthInSeconds" minOccurs="0"/>
                <xsd:element ref="ns2:MediaServiceDateTaken" minOccurs="0"/>
                <xsd:element ref="ns2:MediaServiceLocation" minOccurs="0"/>
                <xsd:element ref="ns2:lcf76f155ced4ddcb4097134ff3c332f"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f174165-9e85-4698-9101-9df70a8b8bc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abb1a67c-477c-4f54-866d-e73c7b3fe043"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59cd5ed3-f717-4fd0-ac6b-966345ff2509"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5f174165-9e85-4698-9101-9df70a8b8bcc">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D9BBD72-5396-4575-8A0B-FA6CC524C81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5f174165-9e85-4698-9101-9df70a8b8bcc"/>
    <ds:schemaRef ds:uri="59cd5ed3-f717-4fd0-ac6b-966345ff250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A93ECB7-811A-478B-B876-D16AAA496A70}">
  <ds:schemaRefs>
    <ds:schemaRef ds:uri="http://schemas.microsoft.com/office/2006/metadata/properties"/>
    <ds:schemaRef ds:uri="http://schemas.microsoft.com/office/infopath/2007/PartnerControls"/>
    <ds:schemaRef ds:uri="dafeb0ad-13d5-4e0d-8144-31148812dcc0"/>
    <ds:schemaRef ds:uri="a8fa98bc-f420-44dd-88e1-8912e31aef73"/>
    <ds:schemaRef ds:uri="5f174165-9e85-4698-9101-9df70a8b8bcc"/>
  </ds:schemaRefs>
</ds:datastoreItem>
</file>

<file path=customXml/itemProps3.xml><?xml version="1.0" encoding="utf-8"?>
<ds:datastoreItem xmlns:ds="http://schemas.openxmlformats.org/officeDocument/2006/customXml" ds:itemID="{D4032408-9DD7-44B2-8F33-9CF0367CBF0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129</TotalTime>
  <Words>1265</Words>
  <Application>Microsoft Office PowerPoint</Application>
  <PresentationFormat>Widescreen</PresentationFormat>
  <Paragraphs>184</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MS Gothic</vt:lpstr>
      <vt:lpstr>Arial</vt:lpstr>
      <vt:lpstr>Calibri</vt:lpstr>
      <vt:lpstr>Calibri Light</vt:lpstr>
      <vt:lpstr>Helvetica</vt:lpstr>
      <vt:lpstr>Times New Roman</vt:lpstr>
      <vt:lpstr>Office Theme</vt:lpstr>
      <vt:lpstr> Your Applied Research Project  Title</vt:lpstr>
      <vt:lpstr>PowerPoint Presentation</vt:lpstr>
      <vt:lpstr>PowerPoint Presentation</vt:lpstr>
      <vt:lpstr>Table of Content  Provide the content of your PPT</vt:lpstr>
      <vt:lpstr>Introduction to your project</vt:lpstr>
      <vt:lpstr>Problem Statement</vt:lpstr>
      <vt:lpstr>Research Aims and Objectives</vt:lpstr>
      <vt:lpstr>Literature Review Summary</vt:lpstr>
      <vt:lpstr>Methodology</vt:lpstr>
      <vt:lpstr>Data Collection Process</vt:lpstr>
      <vt:lpstr>Results Presentation</vt:lpstr>
      <vt:lpstr>Results Analysis &amp; Interpretation</vt:lpstr>
      <vt:lpstr>Challenges &amp; Limitations</vt:lpstr>
      <vt:lpstr>Discussion</vt:lpstr>
      <vt:lpstr>Future Work</vt:lpstr>
      <vt:lpstr>Conclusion</vt:lpstr>
      <vt:lpstr>Ethics Consideration</vt:lpstr>
      <vt:lpstr>References</vt:lpstr>
      <vt:lpstr>Executive Summary </vt:lpstr>
      <vt:lpstr>Q&amp;A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dc:title>
  <dc:creator>Lucy Pittard</dc:creator>
  <cp:lastModifiedBy>Swathi Ganesan</cp:lastModifiedBy>
  <cp:revision>12</cp:revision>
  <dcterms:created xsi:type="dcterms:W3CDTF">2023-06-15T10:03:21Z</dcterms:created>
  <dcterms:modified xsi:type="dcterms:W3CDTF">2025-10-22T11:12:59Z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0x0101001E2F4A1C5737404AA29ACCAF4ACF7929</vt:lpwstr>
  </property>
</Properties>
</file>