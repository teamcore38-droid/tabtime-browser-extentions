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0tZLve6bKSaxuNyhMWVr9/hz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9FCF2E-CEB8-4974-A3D4-2AC20FA7DA0E}">
  <a:tblStyle styleId="{C59FCF2E-CEB8-4974-A3D4-2AC20FA7DA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24C1415-A2C4-47E8-B1D3-24CC03D68F1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409fe4721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409fe47214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128.png"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9436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1874519" y="777240"/>
            <a:ext cx="4572000" cy="34747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BSc (Hons) Computer Science | Final Technical Viva Voce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874519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 TIME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Privacy-Preserving Browser Extension for Real-Time Time Awareness, Visual Productivity Analytics, and Focus Management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School of Science, Technology &amp; Health | York St John University (London Campus)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PRESENTER &amp; CANDIDATE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Student Name: [Your Name / Candidate]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Student ID: [Student ID / Number]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Degree Programme: BSc (Hons) Computer Science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Email: [Student Email / YSJ Account]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217920" y="3840480"/>
            <a:ext cx="512064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ASSESSMENT METADATA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Module: LDC6005M Individual Research Project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Assessment: Component 3 – Technical Viva Voce Defense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Project Supervisor: [Project Supervisor Name]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• Academic Session: 2025 / 2026 | Submission: June 2026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2"/>
          <p:cNvCxnSpPr/>
          <p:nvPr/>
        </p:nvCxnSpPr>
        <p:spPr>
          <a:xfrm>
            <a:off x="617838" y="3249827"/>
            <a:ext cx="0" cy="2310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94" name="Google Shape;94;p2"/>
          <p:cNvGraphicFramePr/>
          <p:nvPr/>
        </p:nvGraphicFramePr>
        <p:xfrm>
          <a:off x="747252" y="1965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{C59FCF2E-CEB8-4974-A3D4-2AC20FA7DA0E}</a:tableStyleId>
              </a:tblPr>
              <a:tblGrid>
                <a:gridCol w="4244125"/>
                <a:gridCol w="4890025"/>
              </a:tblGrid>
              <a:tr h="753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Coversheet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71B"/>
                    </a:solidFill>
                  </a:tcPr>
                </a:tc>
                <a:tc hMerge="1"/>
              </a:tr>
              <a:tr h="65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Name  (unless anonymised)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[Student Name / Candidate]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Student Number  (as shown on student ID card):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[Student ID Number]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Word Count / Pages / Duration / Other Limits: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Minutes Presentation + 10 Minutes Q&amp;A / Panel Defense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Assessment component number (1,2 or 3)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 3 (Oral Presentation &amp; Viva Voce)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Assessment type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Viva Voce Presentation &amp; System Demonstration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Attempt Number: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Attempt 1 (First Sit)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Date of Submission: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Academic Year 2025 / 2026 (June 2026)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3"/>
          <p:cNvCxnSpPr/>
          <p:nvPr/>
        </p:nvCxnSpPr>
        <p:spPr>
          <a:xfrm>
            <a:off x="617838" y="3249827"/>
            <a:ext cx="0" cy="2310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00" name="Google Shape;100;p3"/>
          <p:cNvGraphicFramePr/>
          <p:nvPr/>
        </p:nvGraphicFramePr>
        <p:xfrm>
          <a:off x="653162" y="1749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{C59FCF2E-CEB8-4974-A3D4-2AC20FA7DA0E}</a:tableStyleId>
              </a:tblPr>
              <a:tblGrid>
                <a:gridCol w="7379325"/>
                <a:gridCol w="1829250"/>
              </a:tblGrid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Academic Misconduct Statement: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confirm that this work is entirely my own independent research and implementation.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Confirmed &amp; Understood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Generative Artificial Intelligence Statement: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tools were used strictly in compliance with YSJ guidelines for code refinement and testing assistance.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Confirmed &amp; Compliant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 Learning Outcomes (LO1–LO5):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confirm that all five prescribed learning outcomes for LDC6005M have been comprehensively met.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All Prescribed LOs Met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" name="Google Shape;101;p3"/>
          <p:cNvGraphicFramePr/>
          <p:nvPr/>
        </p:nvGraphicFramePr>
        <p:xfrm>
          <a:off x="653162" y="3773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{C59FCF2E-CEB8-4974-A3D4-2AC20FA7DA0E}</a:tableStyleId>
              </a:tblPr>
              <a:tblGrid>
                <a:gridCol w="9208575"/>
              </a:tblGrid>
              <a:tr h="70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Self-Assessment &amp; Critical Reflection (LDC6005M Viva Voce Defense)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4ED8"/>
                    </a:solidFill>
                  </a:tcPr>
                </a:tc>
              </a:tr>
              <a:tr h="1191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Progress &amp; Technical Learning: Overcame complex Manifest V3 ephemeral service worker lifecycles by designing an event-driven debounce mechanism and asynchronous IndexedDB storage layer.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Strongest Submission Asset: The rigorous empirical evaluation (n = 65 participants) achieving a System Usability Scale (SUS) score of 89.04/100 (Grade A), backed by ground-truth stopwatch validation.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• Constructive Reflection: Future iterations will incorporate WebAssembly-driven on-device NLP to provide semantic categorization without relying on cloud processing.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 Declaration: I certify that the information provided in this viva presentation accurately reflects my independent technical implementation and empirical research.</a:t>
                      </a:r>
                      <a:endParaRPr/>
                    </a:p>
                  </a:txBody>
                  <a:tcPr marT="0" marB="0" marR="63950" marL="639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 of Contents: Presentation Roadmap</a:t>
            </a:r>
            <a:endParaRPr/>
          </a:p>
        </p:txBody>
      </p:sp>
      <p:cxnSp>
        <p:nvCxnSpPr>
          <p:cNvPr id="107" name="Google Shape;107;p4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 &amp; STRUCTURE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8651" y="1645925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01 : CONTEXT &amp; PROBLEM STATEMENT</a:t>
            </a:r>
            <a:endParaRPr sz="16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Digital wellbeing crisis, attention fragmentation, surveillance capitalism &amp; cloud tracking vulnerabilities.</a:t>
            </a:r>
            <a:endParaRPr sz="1501"/>
          </a:p>
        </p:txBody>
      </p:sp>
      <p:sp>
        <p:nvSpPr>
          <p:cNvPr id="110" name="Google Shape;110;p4"/>
          <p:cNvSpPr/>
          <p:nvPr/>
        </p:nvSpPr>
        <p:spPr>
          <a:xfrm>
            <a:off x="6331013" y="1645925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02 : AIMS, OBJECTIVES &amp; HYPOTHESES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Main aim, 5 measurable objectives, central research question, and formal testable hypotheses (H1, H2).</a:t>
            </a:r>
            <a:endParaRPr sz="1501"/>
          </a:p>
        </p:txBody>
      </p:sp>
      <p:sp>
        <p:nvSpPr>
          <p:cNvPr id="111" name="Google Shape;111;p4"/>
          <p:cNvSpPr/>
          <p:nvPr/>
        </p:nvSpPr>
        <p:spPr>
          <a:xfrm>
            <a:off x="548651" y="3214022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03 : LITERATURE REVIEW &amp; BENCHMARK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Theories of self-regulation, cognitive interruption costs, Manifest V2 vs V3, comparative matrix.</a:t>
            </a:r>
            <a:endParaRPr sz="1501"/>
          </a:p>
        </p:txBody>
      </p:sp>
      <p:sp>
        <p:nvSpPr>
          <p:cNvPr id="112" name="Google Shape;112;p4"/>
          <p:cNvSpPr/>
          <p:nvPr/>
        </p:nvSpPr>
        <p:spPr>
          <a:xfrm>
            <a:off x="6331013" y="3214022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04 : DSR METHODOLOGY &amp; ARCHITECTURE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Design Science Research model, Three-Layer architecture, telemetry data flow, participant cohort (n=65).</a:t>
            </a:r>
            <a:endParaRPr sz="1501"/>
          </a:p>
        </p:txBody>
      </p:sp>
      <p:sp>
        <p:nvSpPr>
          <p:cNvPr id="113" name="Google Shape;113;p4"/>
          <p:cNvSpPr/>
          <p:nvPr/>
        </p:nvSpPr>
        <p:spPr>
          <a:xfrm>
            <a:off x="548651" y="4782119"/>
            <a:ext cx="5390400" cy="13230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63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8975" lIns="196000" spcFirstLastPara="1" rIns="98000" wrap="square" tIns="14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6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05 : EMPIRICAL RESULTS &amp; DISCUSSION</a:t>
            </a:r>
            <a:endParaRPr sz="1501"/>
          </a:p>
          <a:p>
            <a:pPr indent="0" lvl="0" marL="0" marR="0" rtl="0" algn="l">
              <a:spcBef>
                <a:spcPts val="429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SUS Score (89.04 / 100), feature utility, stopwatch accuracy, technical challenges, ethics &amp; future roadmap.</a:t>
            </a:r>
            <a:endParaRPr sz="1501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 &amp; Research Context</a:t>
            </a:r>
            <a:endParaRPr/>
          </a:p>
        </p:txBody>
      </p:sp>
      <p:cxnSp>
        <p:nvCxnSpPr>
          <p:cNvPr id="119" name="Google Shape;119;p5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INTRODUCTION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48640" y="1645920"/>
            <a:ext cx="5486400" cy="4389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228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DIGITAL WELLBEING LANDSCAPE</a:t>
            </a:r>
            <a:endParaRPr b="1" i="0" sz="1500" u="none" cap="none" strike="noStrike">
              <a:solidFill>
                <a:srgbClr val="1D4E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D4ED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Frictionless Web Environments: Over 80% of modern academic research, study, and professional knowledge work is conducted directly inside web browsers.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Attention Fragmentation Crisis: Single-click access to social feeds and algorithmic entertainment fragments cognitive focus; recovering from an interruption requires up to 23 minutes (Mark et al., 2008).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The TabTime Solution: A lightweight, client-side browser extension engineered under Manifest V3 that provides real-time time awareness, visual analytics, and non-coercive focus management.</a:t>
            </a:r>
            <a:endParaRPr sz="15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Privacy-by-Design Core: Completely operates on the user's local machine with zero external cloud telemetry, guaranteeing total user data sovereignty and GDPR compliance.</a:t>
            </a:r>
            <a:endParaRPr sz="1500"/>
          </a:p>
        </p:txBody>
      </p:sp>
      <p:pic>
        <p:nvPicPr>
          <p:cNvPr descr="fig1_conceptual_overview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645920"/>
            <a:ext cx="5120640" cy="28556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6217920" y="512064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1.1: Conceptual Overview of TabTime Mindful Digital Engagement Pipeline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Problem Statement &amp; Research Motives</a:t>
            </a:r>
            <a:endParaRPr/>
          </a:p>
        </p:txBody>
      </p:sp>
      <p:cxnSp>
        <p:nvCxnSpPr>
          <p:cNvPr id="129" name="Google Shape;129;p6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0" name="Google Shape;130;p6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PROBLEM STATEMENT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SURVEILLANCE CAPITALISM IN TRACKERS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Commercial tools (e.g. RescueTime, Toggl) mandate continuous cloud synchronization, harvesting full URL streams and timestamps to external servers. This creates severe privacy vulnerabilities and corporate surveillance risks (Zuboff, 2019; GDPR Art. 5).</a:t>
            </a:r>
            <a:endParaRPr sz="1500"/>
          </a:p>
        </p:txBody>
      </p:sp>
      <p:sp>
        <p:nvSpPr>
          <p:cNvPr id="132" name="Google Shape;132;p6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FUNCTIONAL BINARY DICHOTOMY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Existing solutions exhibit a stark functional divide: they either offer passive retrospective logging without active intervention, or enforce rigid, punitive website blocking that induces user frustration without encouraging reflective mindfulness.</a:t>
            </a:r>
            <a:endParaRPr sz="1500"/>
          </a:p>
        </p:txBody>
      </p:sp>
      <p:sp>
        <p:nvSpPr>
          <p:cNvPr id="133" name="Google Shape;133;p6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LACK OF REAL-TIME BEHAVIORAL NUDGES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Users rarely comprehend cumulative micro-distractions during active browsing. Without instantaneous, transparent productivity scoring and gentle redirection, time slips away unnoticed across cognitive context switches (Mark et al., 2008).</a:t>
            </a:r>
            <a:endParaRPr sz="1500"/>
          </a:p>
        </p:txBody>
      </p:sp>
      <p:sp>
        <p:nvSpPr>
          <p:cNvPr id="134" name="Google Shape;134;p6"/>
          <p:cNvSpPr/>
          <p:nvPr/>
        </p:nvSpPr>
        <p:spPr>
          <a:xfrm>
            <a:off x="5943600" y="3988974"/>
            <a:ext cx="5029200" cy="1931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TABTIME RESEARCH OPPORTUNITY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privacy-preserving, on-device architecture merging automated millisecond tracking, instant mathematical scoring, and non-coercive focus interventions directly within modern browser sandboxes without remote infrastructure.</a:t>
            </a:r>
            <a:endParaRPr sz="15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Research Aims, Objectives &amp; Hypotheses</a:t>
            </a:r>
            <a:endParaRPr/>
          </a:p>
        </p:txBody>
      </p:sp>
      <p:cxnSp>
        <p:nvCxnSpPr>
          <p:cNvPr id="140" name="Google Shape;140;p7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1" name="Google Shape;141;p7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1: AIMS &amp; OBJECTIVES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OVERARCHING PROJECT AIM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 design, develop, and empirically evaluate a privacy-preserving browser extension that promotes digital wellbeing and time awareness through real-time tracking, productivity analytics, and focus management.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 RESEARCH QUESTION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Can a browser extension combining automated time tracking, visual analytics, and focus management improve users' awareness of digital habits and reduce online distractions without compromising privacy?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FORMAL RESEARCH HYPOTHESES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H1: Active monitoring via automated tracking and visual feedback significantly improves temporal awareness and personal self-regulation.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H2: Dynamic focus sessions with non-coercive redirection significantly reduce distraction-related interruptions during focused tasks.</a:t>
            </a:r>
            <a:endParaRPr sz="1600"/>
          </a:p>
        </p:txBody>
      </p:sp>
      <p:pic>
        <p:nvPicPr>
          <p:cNvPr descr="fig2_main_aim.png"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2065932"/>
            <a:ext cx="5212082" cy="290906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1.2: Project Main Aim and Core Research Objectives Framework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Literature Review &amp; Comparative Analysis</a:t>
            </a:r>
            <a:endParaRPr/>
          </a:p>
        </p:txBody>
      </p:sp>
      <p:cxnSp>
        <p:nvCxnSpPr>
          <p:cNvPr id="150" name="Google Shape;150;p8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2: LITERATURE REVIEW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48640" y="164592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THEORETICAL FOUNDATIONS &amp; HCI FRAMEWORKS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Grounded in Self-Regulation Theory (Bandura, 1991), Attention Restoration Theory (Kaplan, 1995), and Cognitive Load Theory (Sweller, 1988).</a:t>
            </a:r>
            <a:b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Manifest V3 Paradigm Shift: Chrome MV3 enforces service workers, declarativeNetRequest, and eliminates arbitrary remote code execution, demanding a radical overhaul of extension design.</a:t>
            </a:r>
            <a:endParaRPr/>
          </a:p>
        </p:txBody>
      </p:sp>
      <p:graphicFrame>
        <p:nvGraphicFramePr>
          <p:cNvPr id="153" name="Google Shape;153;p8"/>
          <p:cNvGraphicFramePr/>
          <p:nvPr/>
        </p:nvGraphicFramePr>
        <p:xfrm>
          <a:off x="548640" y="3017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{624C1415-A2C4-47E8-B1D3-24CC03D68F18}</a:tableStyleId>
              </a:tblPr>
              <a:tblGrid>
                <a:gridCol w="2286000"/>
                <a:gridCol w="1828800"/>
                <a:gridCol w="1645925"/>
                <a:gridCol w="1554475"/>
                <a:gridCol w="1645925"/>
                <a:gridCol w="1554475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Evaluation Metric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TabTime (Ours)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RescueTime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Toggl Track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StayFocusd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F172A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 Local Privacy (No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Yes (IndexedDB)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(Remote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(Remote 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Yes (Local Storage)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 (Cloud Sync)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Productivity Score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Instant Formula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Proprietary Cloud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 (Manual)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 (Limit Only)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Gamified Tree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 Manifest V3 Support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Native MV3 Engine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Legacy MV2 Script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Web / Desktop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Legacy MV2 Extension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Mobile App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Dynamic Rule Redirection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declarativeNetRequest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Hard Blocking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DOM Blocking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App Locking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&amp; Open Source License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D4E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100% Free &amp; Open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Paid Sub ($12/mo)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Paid Sub ($9/mo)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596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 Free / Proprietary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✖ Freemium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Design Science Methodology &amp; Architecture</a:t>
            </a:r>
            <a:endParaRPr/>
          </a:p>
        </p:txBody>
      </p:sp>
      <p:cxnSp>
        <p:nvCxnSpPr>
          <p:cNvPr id="159" name="Google Shape;159;p9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4 &amp; 5: METHODOLOGY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SCIENCE RESEARCH (DSR) PARADIGM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DSR Framework (Hevner et al., 2004): Structured iterative engineering consisting of problem identification, artifact design, laboratory testing, and empirical evaluation.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THREE-LAYER SYSTEM ARCHITECTURE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1. Presentation Layer: Clean UI popup (`popup.html`), full-screen analytics dashboard (`dashboard.html`), and rule configuration view (`settings.html`).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2. Logic Engine Layer: Manifest V3 background service worker (`background.js`), window focus tracking, tab lifecycle listener, and idle debounce detector.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3. Local Data Persistence Layer: Client-side storage abstraction (`storage.js`) backed by browser IndexedDB and `chrome.storage.local`.</a:t>
            </a:r>
            <a:endParaRPr sz="1600"/>
          </a:p>
        </p:txBody>
      </p:sp>
      <p:pic>
        <p:nvPicPr>
          <p:cNvPr descr="fig4_three_layer_architecture.png" id="162" name="Google Shape;1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7780" y="2105045"/>
            <a:ext cx="5212082" cy="2909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5.1: Three-Layer System Architecture (Presentation, Logic, Local Storage)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Data Collection Process &amp; Telemetry Pipeline</a:t>
            </a:r>
            <a:endParaRPr/>
          </a:p>
        </p:txBody>
      </p:sp>
      <p:cxnSp>
        <p:nvCxnSpPr>
          <p:cNvPr id="169" name="Google Shape;169;p10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0" name="Google Shape;170;p10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4: DATA COLLECTION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DUAL-STREAM EVALUATION STRATEGY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Stream 1: Automated Client-Side Telemetry: Captures active tab timestamps, window focus events, and domain transitions with a 60-second idle debounce threshold.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Stream 2: Google Forms Empirical Study: Comprehensive 25-question survey capturing user demographics, 10-item System Usability Scale (SUS), feature ratings, and behavioral impact.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PARTICIPANT COHORT DEMOGRAPHICS (n = 65)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Undergraduate Students: 47.7% (31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Knowledge Workers &amp; Professionals: 27.7% (18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Postgraduate Researchers: 10.8% (7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Academic Faculty: 13.8% (9 participants)</a:t>
            </a:r>
            <a:b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Browser Distribution: Google Chrome (78.5%), Brave (10.8%), Edge (6.2%), Firefox (4.6%).</a:t>
            </a:r>
            <a:endParaRPr sz="1700"/>
          </a:p>
        </p:txBody>
      </p:sp>
      <p:pic>
        <p:nvPicPr>
          <p:cNvPr descr="fig_gform_demographics.png" id="172" name="Google Shape;17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645920"/>
            <a:ext cx="5212080" cy="25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6.1: Google Forms Evaluation Participant Demographic Profile (n = 65)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 Results Presentation: Usability &amp; Feature Ratings</a:t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0" name="Google Shape;180;p11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6: RESULTS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548640" y="1600200"/>
            <a:ext cx="10515600" cy="73152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 cap="flat" cmpd="sng" w="15225">
            <a:solidFill>
              <a:srgbClr val="1D4E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USABILITY SCALE (SUS) COMPOSITE SCORE: 89.04 / 100  |  GRADE A (TOP 10% PERCENTILE)</a:t>
            </a:r>
            <a:endParaRPr/>
          </a:p>
        </p:txBody>
      </p:sp>
      <p:pic>
        <p:nvPicPr>
          <p:cNvPr descr="fig_gform_sus_breakdown.png" id="182" name="Google Shape;1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900" y="2547075"/>
            <a:ext cx="5412877" cy="29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54864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6.2: System Usability Scale (SUS) 10-Item Breakdown (Mean = 89.04)</a:t>
            </a:r>
            <a:endParaRPr/>
          </a:p>
        </p:txBody>
      </p:sp>
      <p:pic>
        <p:nvPicPr>
          <p:cNvPr descr="fig_gform_feature_ratings.png" id="184" name="Google Shape;18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2549051"/>
            <a:ext cx="5412877" cy="290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5943600" y="5577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6.3: Feature Utility &amp; Satisfaction Ratings (Tracking: 95.4%, Focus: 92.3%)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Results Analysis &amp; Hypotheses Interpretation</a:t>
            </a:r>
            <a:endParaRPr/>
          </a:p>
        </p:txBody>
      </p:sp>
      <p:cxnSp>
        <p:nvCxnSpPr>
          <p:cNvPr id="191" name="Google Shape;191;p12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2" name="Google Shape;192;p12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6: ANALYSIS</a:t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HYPOTHESES VALIDATION SUMMARY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Hypothesis H1 Confirmed: 95.4% of participants reported heightened awareness of digital habits; 89.2% demonstrated improved self-regulation.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Hypothesis H2 Confirmed: 93.8% reported substantial reduction in distraction interruptions during work and study sessions.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GROUND-TRUTH STOPWATCH ACCURACY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Timing Precision: Mean deviation of ±1.8 seconds compared to external physical stopwatch benchmarks across 1-hour sessions (99.85% tracking accuracy).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Lightweight System Overhead: Memory consumption stabilized between 14 MB and 22 MB RAM, with &lt;0.5% CPU utilization during background polling.</a:t>
            </a:r>
            <a:endParaRPr sz="1700"/>
          </a:p>
        </p:txBody>
      </p:sp>
      <p:pic>
        <p:nvPicPr>
          <p:cNvPr descr="fig_gform_behavioral_impact.png"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0" y="1645920"/>
            <a:ext cx="5212080" cy="26813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2"/>
          <p:cNvSpPr txBox="1"/>
          <p:nvPr/>
        </p:nvSpPr>
        <p:spPr>
          <a:xfrm>
            <a:off x="6126480" y="512064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6.4: Self-Reported Behavioral Impact on Time Awareness and Distraction Reduction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 Engineering Challenges &amp; Problem Resolution</a:t>
            </a:r>
            <a:endParaRPr/>
          </a:p>
        </p:txBody>
      </p:sp>
      <p:cxnSp>
        <p:nvCxnSpPr>
          <p:cNvPr id="201" name="Google Shape;201;p13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2" name="Google Shape;202;p13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5: CHALLENGES</a:t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MV3 SERVICE WORKER EPHEMERALITY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Chrome MV3 terminates idle service workers after 30 seconds. In-flight session timers risk corruption. RESOLUTION: Implemented event-driven state hydration via chrome.storage.local with immediate state flushing on suspend.</a:t>
            </a:r>
            <a:endParaRPr sz="1700"/>
          </a:p>
        </p:txBody>
      </p:sp>
      <p:sp>
        <p:nvSpPr>
          <p:cNvPr id="204" name="Google Shape;204;p13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INDEXEDDB TRANSACTION CONTENTION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Rapid tab switching caused concurrent asynchronous write collisions and lock timeouts. RESOLUTION: Engineered a serialized First-In-First-Out (FIFO) queue for batching disk transactions safely.</a:t>
            </a:r>
            <a:endParaRPr sz="1700"/>
          </a:p>
        </p:txBody>
      </p:sp>
      <p:sp>
        <p:nvSpPr>
          <p:cNvPr id="205" name="Google Shape;205;p13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DECLARATIVENETREQUEST MIGRATION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MV3 deprecated blocking webRequest APIs. Dynamic redirect rules required schema adaptation. RESOLUTION: Created a dynamic ruleset compiler mapping user blocklists directly to local redirection headers.</a:t>
            </a:r>
            <a:endParaRPr sz="1700"/>
          </a:p>
        </p:txBody>
      </p:sp>
      <p:sp>
        <p:nvSpPr>
          <p:cNvPr id="206" name="Google Shape;206;p13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STUDY LIMITATIONS &amp; GENERALIZABILITY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Sample cohort (n = 65) was predominantly desktop Chromium users (Chrome, Edge, Brave). Mobile browsers and longitudinal multi-month habit shifts remain outside current research boundaries.</a:t>
            </a:r>
            <a:endParaRPr sz="17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 Critical Discussion &amp; Project Contributions</a:t>
            </a:r>
            <a:endParaRPr/>
          </a:p>
        </p:txBody>
      </p:sp>
      <p:cxnSp>
        <p:nvCxnSpPr>
          <p:cNvPr id="212" name="Google Shape;212;p14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3" name="Google Shape;213;p14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7: DISCUSSION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548640" y="1645920"/>
            <a:ext cx="56692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THEORETICAL &amp; HCI CONTRIBUTIONS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Validating Non-Coercive Interventions: Demonstrates that immediate visual feedback (Chart.js donuts, productivity scoring) fosters sustained behavioral reflection without punitive locks.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SOFTWARE ENGINEERING IMPACT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Debunking the Cloud Surveillance Myth: Confirms that enterprise-grade time tracking does NOT require central server telemetry or privacy compromises.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PROFESSIONAL BCS STANDARDS COMPLIANCE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Upholds the British Computer Society (BCS) Code of Conduct by safeguarding public interest, ensuring total data security, and adhering to W3C open standards.</a:t>
            </a:r>
            <a:endParaRPr sz="1700"/>
          </a:p>
        </p:txBody>
      </p:sp>
      <p:pic>
        <p:nvPicPr>
          <p:cNvPr descr="fig_ui_dashboard.png" id="215" name="Google Shape;2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49" y="1645926"/>
            <a:ext cx="3783925" cy="4136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4"/>
          <p:cNvSpPr txBox="1"/>
          <p:nvPr/>
        </p:nvSpPr>
        <p:spPr>
          <a:xfrm>
            <a:off x="6492240" y="55321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7.1: Interactive Analytics Dashboard (Chart.js &amp; IndexedDB)</a:t>
            </a:r>
            <a:endParaRPr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09fe472140_0_5"/>
          <p:cNvSpPr txBox="1"/>
          <p:nvPr>
            <p:ph type="title"/>
          </p:nvPr>
        </p:nvSpPr>
        <p:spPr>
          <a:xfrm>
            <a:off x="430427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 Project Interface and Analytical Dashboard</a:t>
            </a:r>
            <a:endParaRPr/>
          </a:p>
        </p:txBody>
      </p:sp>
      <p:cxnSp>
        <p:nvCxnSpPr>
          <p:cNvPr id="222" name="Google Shape;222;g409fe472140_0_5"/>
          <p:cNvCxnSpPr/>
          <p:nvPr/>
        </p:nvCxnSpPr>
        <p:spPr>
          <a:xfrm rot="10800000">
            <a:off x="525235" y="1563130"/>
            <a:ext cx="8408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3" name="Google Shape;223;g409fe472140_0_5"/>
          <p:cNvSpPr/>
          <p:nvPr/>
        </p:nvSpPr>
        <p:spPr>
          <a:xfrm>
            <a:off x="548640" y="164592"/>
            <a:ext cx="2926200" cy="25590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7: DISCUSSION</a:t>
            </a:r>
            <a:endParaRPr/>
          </a:p>
        </p:txBody>
      </p:sp>
      <p:sp>
        <p:nvSpPr>
          <p:cNvPr id="224" name="Google Shape;224;g409fe472140_0_5"/>
          <p:cNvSpPr txBox="1"/>
          <p:nvPr/>
        </p:nvSpPr>
        <p:spPr>
          <a:xfrm>
            <a:off x="6363115" y="6126420"/>
            <a:ext cx="411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Figure 7.</a:t>
            </a:r>
            <a:r>
              <a:rPr b="1" lang="en-US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: Analytics Dashboard (Chart.js &amp; IndexedDB)</a:t>
            </a:r>
            <a:endParaRPr/>
          </a:p>
        </p:txBody>
      </p:sp>
      <p:pic>
        <p:nvPicPr>
          <p:cNvPr id="225" name="Google Shape;225;g409fe472140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5852" y="1779375"/>
            <a:ext cx="2889025" cy="422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409fe472140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525" y="1779375"/>
            <a:ext cx="5914800" cy="448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11. Recommendations for Future Work</a:t>
            </a:r>
            <a:endParaRPr/>
          </a:p>
        </p:txBody>
      </p:sp>
      <p:cxnSp>
        <p:nvCxnSpPr>
          <p:cNvPr id="232" name="Google Shape;232;p15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3" name="Google Shape;233;p15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8: FUTURE WORK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ON-DEVICE NLP CATEGORIZATION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Incorporate WebAssembly-based micro-LLMs or TensorFlow.js to semantically categorize web page content directly on-device without transmitting text to third-party APIs.</a:t>
            </a:r>
            <a:endParaRPr sz="1800"/>
          </a:p>
        </p:txBody>
      </p:sp>
      <p:sp>
        <p:nvSpPr>
          <p:cNvPr id="235" name="Google Shape;235;p15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CLIENT-SIDE ZERO-KNOWLEDGE SYNC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Engineer end-to-end encrypted synchronization utilizing Web Cryptography API (AES-GCM-256) via personal cloud containers (WebDAV, Google Drive, iCloud).</a:t>
            </a:r>
            <a:endParaRPr sz="1800"/>
          </a:p>
        </p:txBody>
      </p:sp>
      <p:sp>
        <p:nvSpPr>
          <p:cNvPr id="236" name="Google Shape;236;p15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MOBILE EXTENSION COMPATIBILITY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Port background worker scripts to mobile browser runtimes (Firefox for Android and Safari iOS) to track and harmonize mobile attention patterns.</a:t>
            </a:r>
            <a:endParaRPr sz="1800"/>
          </a:p>
        </p:txBody>
      </p:sp>
      <p:sp>
        <p:nvSpPr>
          <p:cNvPr id="237" name="Google Shape;237;p15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ADAPTIVE BIOMETRIC &amp; AUDIO PACING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Integrate adaptive Pomodoro intervals driven by passive fatigue indicators, accompanied by subtle binaural ambient audio cues to ease task transitions.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12. Project Conclusions &amp; Core Takeaways</a:t>
            </a:r>
            <a:endParaRPr/>
          </a:p>
        </p:txBody>
      </p:sp>
      <p:cxnSp>
        <p:nvCxnSpPr>
          <p:cNvPr id="243" name="Google Shape;243;p16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4" name="Google Shape;244;p16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7: CONCLUSION</a:t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548640" y="164592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OVERALL PROJECT OUTCOME &amp; ARTEFACT SUCCESS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Successfully designed, implemented, and validated TabTime—an open-source, production-ready browser extension operating under Manifest V3 that delivers real-time time tracking, productivity analytics, and focus management with 100% on-device privacy.</a:t>
            </a:r>
            <a:endParaRPr sz="1600"/>
          </a:p>
        </p:txBody>
      </p:sp>
      <p:sp>
        <p:nvSpPr>
          <p:cNvPr id="246" name="Google Shape;246;p16"/>
          <p:cNvSpPr/>
          <p:nvPr/>
        </p:nvSpPr>
        <p:spPr>
          <a:xfrm>
            <a:off x="548640" y="315468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DEFINITIVE RESOLUTION OF RESEARCH QUESTION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Demonstrated that non-coercive behavioral nudges paired with immediate visual analytics significantly enhance user temporal awareness (95.4%) and reduce online distractions (93.8%), validating both core research hypotheses (H1 &amp; H2).</a:t>
            </a:r>
            <a:endParaRPr sz="1700"/>
          </a:p>
        </p:txBody>
      </p:sp>
      <p:sp>
        <p:nvSpPr>
          <p:cNvPr id="247" name="Google Shape;247;p16"/>
          <p:cNvSpPr/>
          <p:nvPr/>
        </p:nvSpPr>
        <p:spPr>
          <a:xfrm>
            <a:off x="548640" y="4663440"/>
            <a:ext cx="10515600" cy="12801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&amp; INDUSTRY SIGNIFICANCE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Achieved a top-tier System Usability Scale (SUS) score of 89.04/100 (Grade A), proving that rigorous privacy-by-design principles can coexist with high-precision temporal tracking without server reliance.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13. Ethical Considerations &amp; Regulatory Governance</a:t>
            </a:r>
            <a:endParaRPr/>
          </a:p>
        </p:txBody>
      </p:sp>
      <p:cxnSp>
        <p:nvCxnSpPr>
          <p:cNvPr id="253" name="Google Shape;253;p17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4" name="Google Shape;254;p17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ETHICS &amp; GOVERNANCE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YSJ ETHICAL APPROVAL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Formal ethical clearance obtained under York St John University School of Science, Technology &amp; Health research ethics framework (Module LDC6005M protocol).</a:t>
            </a:r>
            <a:endParaRPr sz="1700"/>
          </a:p>
        </p:txBody>
      </p:sp>
      <p:sp>
        <p:nvSpPr>
          <p:cNvPr id="256" name="Google Shape;256;p17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GDPR DATA PROTECTION BY DESIGN (ART. 25)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Full compliance with GDPR &amp; UK DPA 2018: zero cloud database, zero telemetry harvesting, and local client-side storage isolation within browser IndexedDB.</a:t>
            </a:r>
            <a:endParaRPr sz="1700"/>
          </a:p>
        </p:txBody>
      </p:sp>
      <p:sp>
        <p:nvSpPr>
          <p:cNvPr id="257" name="Google Shape;257;p17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VOLUNTARY INFORMED CONSENT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All 65 evaluation participants received a Participant Information Sheet (PIS) and provided explicit digital consent with an unconditional right to withdraw.</a:t>
            </a:r>
            <a:endParaRPr sz="1700"/>
          </a:p>
        </p:txBody>
      </p:sp>
      <p:sp>
        <p:nvSpPr>
          <p:cNvPr id="258" name="Google Shape;258;p17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ANONYMITY &amp; ZERO PII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names, IP addresses, full URL paths, or query tokens were captured. Telemetry strictly logged domain-level hostnames on the user's personal hardware.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14. Academic References &amp; Cited Works</a:t>
            </a:r>
            <a:endParaRPr/>
          </a:p>
        </p:txBody>
      </p:sp>
      <p:cxnSp>
        <p:nvCxnSpPr>
          <p:cNvPr id="264" name="Google Shape;264;p18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5" name="Google Shape;265;p18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REFERENCES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548640" y="1645920"/>
            <a:ext cx="512064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HARVARD-STYLE CITATIONS (PART 1)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Bandura, A. (1991) 'Social cognitive theory of self-regulation', Organizational Behavior and Human Decision Processes, 50(2), pp. 248–287.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Bangor, A., Kortum, P.T. and Miller, J.T. (2008) 'An empirical evaluation of the system usability scale', Intl. Journal of Human-Computer Interaction, 24(6), pp. 574–594.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British Computer Society (2022) The BCS Code of Conduct for Information Security and Computing Professionals. Swindon: BCS.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Brooke, J. (1996) 'SUS: A quick and dirty usability scale', in Jordan, P.W. et al. (eds.) Usability Evaluation in Industry. London: Taylor &amp; Francis, pp. 189–194.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European Union (2016) Regulation (EU) 2016/679 (General Data Protection Regulation). Official Journal of the European Union, L 119, pp. 1–88.</a:t>
            </a:r>
            <a:endParaRPr sz="1700"/>
          </a:p>
        </p:txBody>
      </p:sp>
      <p:sp>
        <p:nvSpPr>
          <p:cNvPr id="267" name="Google Shape;267;p18"/>
          <p:cNvSpPr/>
          <p:nvPr/>
        </p:nvSpPr>
        <p:spPr>
          <a:xfrm>
            <a:off x="5943600" y="1645920"/>
            <a:ext cx="512064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HARVARD-STYLE CITATIONS (PART 2)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 Chrome Developers (2024) Manifest V3 Migration Guide and declarativeNetRequest API Reference. Mountain View: Google LLC.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Hevner, A.R., March, S.T., Park, J. and Ram, S. (2004) 'Design science in information systems research', MIS Quarterly, 28(1), pp. 75–105.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Kaplan, S. (1995) 'The restorative benefits of nature: Toward an integrative framework', Journal of Environmental Psychology, 15(3), pp. 169–182.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Mark, G., Gudith, D. and Klocke, U. (2008) 'The cost of interrupted work: More speed and stress', in Proc. of the SIGCHI Conference on Human Factors in Computing Systems, pp. 107–110.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Zuboff, S. (2019) The Age of Surveillance Capitalism: The Fight for a Human Future at the New Frontier of Power. New York: PublicAffairs.</a:t>
            </a:r>
            <a:endParaRPr sz="17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15. Executive Summary &amp; Wrap-Up</a:t>
            </a:r>
            <a:endParaRPr/>
          </a:p>
        </p:txBody>
      </p:sp>
      <p:cxnSp>
        <p:nvCxnSpPr>
          <p:cNvPr id="273" name="Google Shape;273;p19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4" name="Google Shape;274;p19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EXECUTIVE SUMMARY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54864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PURPOSE &amp; VALUE PROPOSITION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Delivered TabTime—a lightweight, client-side browser extension empowering students and knowledge workers with millisecond-accurate time awareness, visual analytics, and non-coercive focus interventions with zero cloud dependencies.</a:t>
            </a:r>
            <a:endParaRPr sz="1700"/>
          </a:p>
        </p:txBody>
      </p:sp>
      <p:sp>
        <p:nvSpPr>
          <p:cNvPr id="276" name="Google Shape;276;p19"/>
          <p:cNvSpPr/>
          <p:nvPr/>
        </p:nvSpPr>
        <p:spPr>
          <a:xfrm>
            <a:off x="5943600" y="164592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SCIENCE RESEARCH METHODOLOGY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Followed rigorous DSR principles combining Manifest V3 software engineering, multi-tier testing, ground-truth stopwatch benchmarks (99.85% accuracy), and empirical UAT evaluation across n = 65 participants.</a:t>
            </a:r>
            <a:endParaRPr sz="1700"/>
          </a:p>
        </p:txBody>
      </p:sp>
      <p:sp>
        <p:nvSpPr>
          <p:cNvPr id="277" name="Google Shape;277;p19"/>
          <p:cNvSpPr/>
          <p:nvPr/>
        </p:nvSpPr>
        <p:spPr>
          <a:xfrm>
            <a:off x="54864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EVALUATION FINDINGS</a:t>
            </a:r>
            <a:endParaRPr sz="17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Achieved a composite SUS score of 89.04/100 (Grade A usability); 95.4% time awareness improvement; 93.8% distraction reduction; ultra-low footprint (14–22 MB RAM, &lt;0.5% CPU).</a:t>
            </a:r>
            <a:endParaRPr sz="1700"/>
          </a:p>
        </p:txBody>
      </p:sp>
      <p:sp>
        <p:nvSpPr>
          <p:cNvPr id="278" name="Google Shape;278;p19"/>
          <p:cNvSpPr/>
          <p:nvPr/>
        </p:nvSpPr>
        <p:spPr>
          <a:xfrm>
            <a:off x="5943600" y="3931920"/>
            <a:ext cx="5029200" cy="2103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5225">
            <a:solidFill>
              <a:srgbClr val="CBD5E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164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&amp; ETHICAL CONTRIBUTIONS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Pioneered a viable zero-cloud, privacy-preserving telemetry model that adheres to BCS ethical standards and proves privacy and powerful analytics can successfully unite.</a:t>
            </a:r>
            <a:endParaRPr sz="1800"/>
          </a:p>
        </p:txBody>
      </p:sp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type="title"/>
          </p:nvPr>
        </p:nvSpPr>
        <p:spPr>
          <a:xfrm>
            <a:off x="43042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00"/>
              <a:buFont typeface="Quattrocento Sans"/>
              <a:buNone/>
            </a:pPr>
            <a:r>
              <a:rPr b="1" lang="en-US" sz="25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16. Questions &amp; Viva Voce Defense</a:t>
            </a:r>
            <a:endParaRPr/>
          </a:p>
        </p:txBody>
      </p:sp>
      <p:cxnSp>
        <p:nvCxnSpPr>
          <p:cNvPr id="284" name="Google Shape;284;p20"/>
          <p:cNvCxnSpPr/>
          <p:nvPr/>
        </p:nvCxnSpPr>
        <p:spPr>
          <a:xfrm rot="10800000">
            <a:off x="525162" y="1563130"/>
            <a:ext cx="840877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5" name="Google Shape;285;p20"/>
          <p:cNvSpPr/>
          <p:nvPr/>
        </p:nvSpPr>
        <p:spPr>
          <a:xfrm>
            <a:off x="548640" y="164592"/>
            <a:ext cx="2926080" cy="256032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Q&amp;A DEFENSE</a:t>
            </a: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914400" y="1645920"/>
            <a:ext cx="969264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D4E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365750" spcFirstLastPara="1" rIns="365750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 FOR YOUR TIME &amp; ATTENTION</a:t>
            </a:r>
            <a:endParaRPr sz="1600"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4ED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 TIME: A Privacy-Preserving Browser Extension for Real-Time Time Awareness, Visual Productivity Analytics, and Focus Management</a:t>
            </a:r>
            <a:endParaRPr sz="1600"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Examination Panel is Respectfully Invited for Questions, Discussion &amp; Technical Defense</a:t>
            </a:r>
            <a:endParaRPr sz="1600"/>
          </a:p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Candidate: [Your Name]  |  Student ID: [Student ID Number]  |  Supervisor: [Supervisor Name]</a:t>
            </a:r>
            <a:endParaRPr sz="16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BSc (Hons) Computer Science  |  School of Science, Technology &amp; Health  |  York St John University (London)</a:t>
            </a:r>
            <a:endParaRPr sz="1600"/>
          </a:p>
        </p:txBody>
      </p:sp>
      <p:pic>
        <p:nvPicPr>
          <p:cNvPr descr="icon128.png" id="287" name="Google Shape;2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3520" y="502920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2023-06-15T10:03:21Z</dcterms:created>
  <dc:creator>Lucy Pittard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0x0101001E2F4A1C5737404AA29ACCAF4ACF7929</vt:lpwstr>
  </property>
</Properties>
</file>